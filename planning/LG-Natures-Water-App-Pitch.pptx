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303F"/>
                </a:solidFill>
                <a:latin typeface="Calibri"/>
              </a:defRPr>
            </a:pPr>
            <a:r>
              <a:rPr sz="1300" b="0" i="0" u="none" strike="noStrike">
                <a:solidFill>
                  <a:srgbClr val="17303F"/>
                </a:solidFill>
                <a:latin typeface="Calibri"/>
              </a:rPr>
              <a:t>Daily revenue vs. profit, tracked automatically (PHP)</a:t>
            </a:r>
          </a:p>
        </c:rich>
      </c:tx>
      <c:layout/>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065A82"/>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Mon</c:v>
                  </c:pt>
                  <c:pt idx="1">
                    <c:v>Tue</c:v>
                  </c:pt>
                  <c:pt idx="2">
                    <c:v>Wed</c:v>
                  </c:pt>
                  <c:pt idx="3">
                    <c:v>Thu</c:v>
                  </c:pt>
                  <c:pt idx="4">
                    <c:v>Fri</c:v>
                  </c:pt>
                  <c:pt idx="5">
                    <c:v>Sat</c:v>
                  </c:pt>
                </c:lvl>
              </c:multiLvlStrCache>
            </c:multiLvlStrRef>
          </c:cat>
          <c:val>
            <c:numRef>
              <c:f>Sheet1!$B$2:$B$7</c:f>
              <c:numCache>
                <c:formatCode>General</c:formatCode>
                <c:ptCount val="6"/>
                <c:pt idx="0">
                  <c:v>4200</c:v>
                </c:pt>
                <c:pt idx="1">
                  <c:v>3800</c:v>
                </c:pt>
                <c:pt idx="2">
                  <c:v>4600</c:v>
                </c:pt>
                <c:pt idx="3">
                  <c:v>5100</c:v>
                </c:pt>
                <c:pt idx="4">
                  <c:v>5400</c:v>
                </c:pt>
                <c:pt idx="5">
                  <c:v>6200</c:v>
                </c:pt>
              </c:numCache>
            </c:numRef>
          </c:val>
        </c:ser>
        <c:ser>
          <c:idx val="1"/>
          <c:order val="1"/>
          <c:tx>
            <c:strRef>
              <c:f>Sheet1!$C$1</c:f>
              <c:strCache>
                <c:ptCount val="1"/>
                <c:pt idx="0">
                  <c:v>Profit</c:v>
                </c:pt>
              </c:strCache>
            </c:strRef>
          </c:tx>
          <c:spPr>
            <a:solidFill>
              <a:srgbClr val="02C39A"/>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Mon</c:v>
                  </c:pt>
                  <c:pt idx="1">
                    <c:v>Tue</c:v>
                  </c:pt>
                  <c:pt idx="2">
                    <c:v>Wed</c:v>
                  </c:pt>
                  <c:pt idx="3">
                    <c:v>Thu</c:v>
                  </c:pt>
                  <c:pt idx="4">
                    <c:v>Fri</c:v>
                  </c:pt>
                  <c:pt idx="5">
                    <c:v>Sat</c:v>
                  </c:pt>
                </c:lvl>
              </c:multiLvlStrCache>
            </c:multiLvlStrRef>
          </c:cat>
          <c:val>
            <c:numRef>
              <c:f>Sheet1!$C$2:$C$7</c:f>
              <c:numCache>
                <c:formatCode>General</c:formatCode>
                <c:ptCount val="6"/>
                <c:pt idx="0">
                  <c:v>1500</c:v>
                </c:pt>
                <c:pt idx="1">
                  <c:v>1320</c:v>
                </c:pt>
                <c:pt idx="2">
                  <c:v>1690</c:v>
                </c:pt>
                <c:pt idx="3">
                  <c:v>1880</c:v>
                </c:pt>
                <c:pt idx="4">
                  <c:v>2010</c:v>
                </c:pt>
                <c:pt idx="5">
                  <c:v>2340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70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E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0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C708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7303F"/>
                </a:solidFill>
                <a:latin typeface="Calibri"/>
              </a:defRPr>
            </a:pPr>
            <a:r>
              <a:rPr sz="1250" b="0" i="0" u="none" strike="noStrike">
                <a:solidFill>
                  <a:srgbClr val="17303F"/>
                </a:solidFill>
                <a:latin typeface="Calibri"/>
              </a:rPr>
              <a:t>Transactions handled per day (indexed, 100 = today)</a:t>
            </a:r>
          </a:p>
        </c:rich>
      </c:tx>
      <c:layout/>
      <c:overlay val="0"/>
    </c:title>
    <c:autoTitleDeleted val="0"/>
    <c:plotArea>
      <c:layout/>
      <c:barChart>
        <c:barDir val="col"/>
        <c:grouping val="clustered"/>
        <c:varyColors val="0"/>
        <c:ser>
          <c:idx val="0"/>
          <c:order val="0"/>
          <c:tx>
            <c:strRef>
              <c:f>Sheet1!$B$1</c:f>
              <c:strCache>
                <c:ptCount val="1"/>
                <c:pt idx="0">
                  <c:v>Transactions handled per day</c:v>
                </c:pt>
              </c:strCache>
            </c:strRef>
          </c:tx>
          <c:spPr>
            <a:solidFill>
              <a:srgbClr val="B9C9D4"/>
            </a:solidFill>
            <a:effectLst/>
          </c:spPr>
          <c:invertIfNegative val="0"/>
          <c:dLbls>
            <c:numFmt formatCode="0" sourceLinked="0"/>
            <c:txPr>
              <a:bodyPr/>
              <a:lstStyle/>
              <a:p>
                <a:pPr>
                  <a:defRPr b="0" i="0" strike="noStrike" sz="1300" u="none">
                    <a:solidFill>
                      <a:srgbClr val="17303F"/>
                    </a:solidFill>
                    <a:latin typeface="Calibri"/>
                  </a:defRPr>
                </a:pPr>
              </a:p>
            </c:txPr>
            <c:showLegendKey val="0"/>
            <c:showVal val="1"/>
            <c:showCatName val="0"/>
            <c:showSerName val="0"/>
            <c:showPercent val="0"/>
            <c:showBubbleSize val="0"/>
            <c:showLeaderLines val="0"/>
          </c:dLbls>
          <c:dPt>
            <c:idx val="0"/>
            <c:invertIfNegative val="0"/>
            <c:bubble3D val="0"/>
            <c:spPr>
              <a:solidFill>
                <a:srgbClr val="B9C9D4"/>
              </a:solidFill>
              <a:effectLst/>
            </c:spPr>
          </c:dPt>
          <c:dPt>
            <c:idx val="1"/>
            <c:invertIfNegative val="0"/>
            <c:bubble3D val="0"/>
            <c:spPr>
              <a:solidFill>
                <a:srgbClr val="02C39A"/>
              </a:solidFill>
              <a:effectLst/>
            </c:spPr>
          </c:dPt>
          <c:cat>
            <c:multiLvlStrRef>
              <c:f>Sheet1!$A$2:$A$3</c:f>
              <c:multiLvlStrCache>
                <c:ptCount val="2"/>
                <c:lvl>
                  <c:pt idx="0">
                    <c:v>Manual process (now)</c:v>
                  </c:pt>
                  <c:pt idx="1">
                    <c:v>With the mobile app (target)</c:v>
                  </c:pt>
                </c:lvl>
              </c:multiLvlStrCache>
            </c:multiLvlStrRef>
          </c:cat>
          <c:val>
            <c:numRef>
              <c:f>Sheet1!$B$2:$B$3</c:f>
              <c:numCache>
                <c:formatCode>General</c:formatCode>
                <c:ptCount val="2"/>
                <c:pt idx="0">
                  <c:v>100</c:v>
                </c:pt>
                <c:pt idx="1">
                  <c:v>140</c:v>
                </c:pt>
              </c:numCache>
            </c:numRef>
          </c:val>
        </c:ser>
        <c:dLbls>
          <c:numFmt formatCode="0" sourceLinked="0"/>
          <c:txPr>
            <a:bodyPr/>
            <a:lstStyle/>
            <a:p>
              <a:pPr>
                <a:defRPr b="0" i="0" strike="noStrike" sz="1300" u="none">
                  <a:solidFill>
                    <a:srgbClr val="17303F"/>
                  </a:solidFill>
                  <a:latin typeface="Calibri"/>
                </a:defRPr>
              </a:pPr>
            </a:p>
          </c:txPr>
          <c:showLegendKey val="0"/>
          <c:showVal val="1"/>
          <c:showCatName val="0"/>
          <c:showSerName val="0"/>
          <c:showPercent val="0"/>
          <c:showBubbleSize val="0"/>
          <c:showLeaderLines val="0"/>
        </c:dLbls>
        <c:gapWidth val="1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7080"/>
                </a:solidFill>
                <a:latin typeface="Calibri"/>
              </a:defRPr>
            </a:pPr>
            <a:endParaRPr lang="en-US"/>
          </a:p>
        </c:txPr>
        <c:crossAx val="2094734552"/>
        <c:crosses val="autoZero"/>
        <c:auto val="1"/>
        <c:lblAlgn val="ctr"/>
        <c:noMultiLvlLbl val="1"/>
      </c:catAx>
      <c:valAx>
        <c:axId val="2094734552"/>
        <c:scaling>
          <c:orientation val="minMax"/>
          <c:max val="160"/>
        </c:scaling>
        <c:delete val="0"/>
        <c:axPos val="l"/>
        <c:majorGridlines>
          <c:spPr>
            <a:ln w="12700" cap="flat">
              <a:solidFill>
                <a:srgbClr val="E4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70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LG Nature's Water runs on paper. Our pitch is a single mobile app that ties together ordering, delivery routing, container pickup and point-of-sale, targeting a 40% lift in operational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operational touchpoints are all still manual. The challenge is to connect them in 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pain: time lost to writing, and money lost to arithmetic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the app removes the two slowest steps entirely: writing and computing.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app, three roles: operator, rider, customer. The operator is the primary user; the customer app is the growth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features, each aimed directly at one of the manual steps we just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the feature that converts saved time into extra deliveries.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mock: pick a day, pick a slot, declare the number of empty containers,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feature that directly answers the calculation-error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04: the operator no longer counts containers by hand or prices them by hand. One photo, the vision model counts the containers, and the POS turns that count into the customer's total. Sample prices shown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05: the rider photographs the delivered load, the count is verified against the order, and a receipt is generated. The wording and the follow-up change with the payment state — paid, e-payment, partially paid or unpaid — so unpaid balances are never lost in a notebook. Amounts shown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06: the photo count is the single source of truth. It generates the invoice at the station before dispatch, and on delivery the same record becomes the official receipt with the payment state attached. Amounts shown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40% is not magic: it is the writing and computing time given back to the operator, plus better-sequenced delivery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promise: one click away from the whole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7863840" y="-1371600"/>
            <a:ext cx="6035040" cy="6035040"/>
          </a:xfrm>
          <a:prstGeom prst="ellipse">
            <a:avLst/>
          </a:prstGeom>
          <a:solidFill>
            <a:srgbClr val="065A82">
              <a:alpha val="45000"/>
            </a:srgbClr>
          </a:solidFill>
          <a:ln w="12700">
            <a:solidFill>
              <a:srgbClr val="065A82">
                <a:alpha val="45000"/>
              </a:srgbClr>
            </a:solidFill>
            <a:prstDash val="solid"/>
          </a:ln>
        </p:spPr>
      </p:sp>
      <p:sp>
        <p:nvSpPr>
          <p:cNvPr id="3" name="Shape 1"/>
          <p:cNvSpPr/>
          <p:nvPr/>
        </p:nvSpPr>
        <p:spPr>
          <a:xfrm>
            <a:off x="9235440" y="3291840"/>
            <a:ext cx="4023360" cy="4023360"/>
          </a:xfrm>
          <a:prstGeom prst="ellipse">
            <a:avLst/>
          </a:prstGeom>
          <a:solidFill>
            <a:srgbClr val="1C7293">
              <a:alpha val="40000"/>
            </a:srgbClr>
          </a:solidFill>
          <a:ln w="12700">
            <a:solidFill>
              <a:srgbClr val="1C7293">
                <a:alpha val="40000"/>
              </a:srgbClr>
            </a:solidFill>
            <a:prstDash val="solid"/>
          </a:ln>
        </p:spPr>
      </p:sp>
      <p:sp>
        <p:nvSpPr>
          <p:cNvPr id="4" name="Shape 2"/>
          <p:cNvSpPr/>
          <p:nvPr/>
        </p:nvSpPr>
        <p:spPr>
          <a:xfrm>
            <a:off x="7452360" y="5440680"/>
            <a:ext cx="1371600" cy="1371600"/>
          </a:xfrm>
          <a:prstGeom prst="ellipse">
            <a:avLst/>
          </a:prstGeom>
          <a:solidFill>
            <a:srgbClr val="02C39A">
              <a:alpha val="28000"/>
            </a:srgbClr>
          </a:solidFill>
          <a:ln w="12700">
            <a:solidFill>
              <a:srgbClr val="02C39A">
                <a:alpha val="28000"/>
              </a:srgbClr>
            </a:solidFill>
            <a:prstDash val="solid"/>
          </a:ln>
        </p:spPr>
      </p:sp>
      <p:sp>
        <p:nvSpPr>
          <p:cNvPr id="5" name="Shape 3"/>
          <p:cNvSpPr/>
          <p:nvPr/>
        </p:nvSpPr>
        <p:spPr>
          <a:xfrm>
            <a:off x="658368" y="685800"/>
            <a:ext cx="658368" cy="658368"/>
          </a:xfrm>
          <a:prstGeom prst="ellipse">
            <a:avLst/>
          </a:prstGeom>
          <a:solidFill>
            <a:srgbClr val="02C39A"/>
          </a:solidFill>
          <a:ln w="12700">
            <a:solidFill>
              <a:srgbClr val="02C39A"/>
            </a:solidFill>
            <a:prstDash val="solid"/>
          </a:ln>
        </p:spPr>
      </p:sp>
      <p:pic>
        <p:nvPicPr>
          <p:cNvPr id="6" name="Image 0" descr="preencoded.png">    </p:cNvPr>
          <p:cNvPicPr>
            <a:picLocks noChangeAspect="1"/>
          </p:cNvPicPr>
          <p:nvPr/>
        </p:nvPicPr>
        <p:blipFill>
          <a:blip r:embed="rId1"/>
          <a:stretch>
            <a:fillRect/>
          </a:stretch>
        </p:blipFill>
        <p:spPr>
          <a:xfrm>
            <a:off x="829544" y="856976"/>
            <a:ext cx="316017" cy="316017"/>
          </a:xfrm>
          <a:prstGeom prst="rect">
            <a:avLst/>
          </a:prstGeom>
        </p:spPr>
      </p:pic>
      <p:sp>
        <p:nvSpPr>
          <p:cNvPr id="7" name="Text 4"/>
          <p:cNvSpPr/>
          <p:nvPr/>
        </p:nvSpPr>
        <p:spPr>
          <a:xfrm>
            <a:off x="1481328" y="777240"/>
            <a:ext cx="4572000" cy="457200"/>
          </a:xfrm>
          <a:prstGeom prst="rect">
            <a:avLst/>
          </a:prstGeom>
          <a:noFill/>
          <a:ln/>
        </p:spPr>
        <p:txBody>
          <a:bodyPr wrap="square" lIns="0" tIns="0" rIns="0" bIns="0" rtlCol="0" anchor="ctr"/>
          <a:lstStyle/>
          <a:p>
            <a:pPr indent="0" marL="0">
              <a:buNone/>
            </a:pPr>
            <a:r>
              <a:rPr lang="en-US" sz="1500" b="1" spc="300" kern="0" dirty="0">
                <a:solidFill>
                  <a:srgbClr val="FFFFFF"/>
                </a:solidFill>
                <a:latin typeface="Calibri" pitchFamily="34" charset="0"/>
                <a:ea typeface="Calibri" pitchFamily="34" charset="-122"/>
                <a:cs typeface="Calibri" pitchFamily="34" charset="-120"/>
              </a:rPr>
              <a:t>LG NATURE'S WATER</a:t>
            </a:r>
            <a:endParaRPr lang="en-US" sz="1500" dirty="0"/>
          </a:p>
        </p:txBody>
      </p:sp>
      <p:sp>
        <p:nvSpPr>
          <p:cNvPr id="8" name="Text 5"/>
          <p:cNvSpPr/>
          <p:nvPr/>
        </p:nvSpPr>
        <p:spPr>
          <a:xfrm>
            <a:off x="658368" y="1874520"/>
            <a:ext cx="6949440" cy="173736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Reimagining Water</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Delivery Operations</a:t>
            </a:r>
            <a:endParaRPr lang="en-US" sz="4400" dirty="0"/>
          </a:p>
        </p:txBody>
      </p:sp>
      <p:sp>
        <p:nvSpPr>
          <p:cNvPr id="9" name="Text 6"/>
          <p:cNvSpPr/>
          <p:nvPr/>
        </p:nvSpPr>
        <p:spPr>
          <a:xfrm>
            <a:off x="658368" y="3703320"/>
            <a:ext cx="6766560" cy="411480"/>
          </a:xfrm>
          <a:prstGeom prst="rect">
            <a:avLst/>
          </a:prstGeom>
          <a:noFill/>
          <a:ln/>
        </p:spPr>
        <p:txBody>
          <a:bodyPr wrap="square" lIns="0" tIns="0" rIns="0" bIns="0" rtlCol="0" anchor="ctr"/>
          <a:lstStyle/>
          <a:p>
            <a:pPr indent="0" marL="0">
              <a:buNone/>
            </a:pPr>
            <a:r>
              <a:rPr lang="en-US" sz="1800" dirty="0">
                <a:solidFill>
                  <a:srgbClr val="8ECAE6"/>
                </a:solidFill>
                <a:latin typeface="Calibri" pitchFamily="34" charset="0"/>
                <a:ea typeface="Calibri" pitchFamily="34" charset="-122"/>
                <a:cs typeface="Calibri" pitchFamily="34" charset="-120"/>
              </a:rPr>
              <a:t>A mobile app challenge for 40% performance growth</a:t>
            </a:r>
            <a:endParaRPr lang="en-US" sz="1800" dirty="0"/>
          </a:p>
        </p:txBody>
      </p:sp>
      <p:sp>
        <p:nvSpPr>
          <p:cNvPr id="10" name="Shape 7"/>
          <p:cNvSpPr/>
          <p:nvPr/>
        </p:nvSpPr>
        <p:spPr>
          <a:xfrm>
            <a:off x="658368" y="4526280"/>
            <a:ext cx="6492240" cy="1051560"/>
          </a:xfrm>
          <a:prstGeom prst="roundRect">
            <a:avLst>
              <a:gd name="adj" fmla="val 6957"/>
            </a:avLst>
          </a:prstGeom>
          <a:solidFill>
            <a:srgbClr val="FFFFFF">
              <a:alpha val="10000"/>
            </a:srgbClr>
          </a:solidFill>
          <a:ln w="12700">
            <a:solidFill>
              <a:srgbClr val="02C39A"/>
            </a:solidFill>
            <a:prstDash val="solid"/>
          </a:ln>
        </p:spPr>
      </p:sp>
      <p:sp>
        <p:nvSpPr>
          <p:cNvPr id="11" name="Text 8"/>
          <p:cNvSpPr/>
          <p:nvPr/>
        </p:nvSpPr>
        <p:spPr>
          <a:xfrm>
            <a:off x="868680" y="4626864"/>
            <a:ext cx="6126480" cy="86868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How might we integrate a mobile app to streamline orders, deliveries, and container pickups?</a:t>
            </a:r>
            <a:endParaRPr lang="en-US" sz="1400" dirty="0"/>
          </a:p>
        </p:txBody>
      </p:sp>
      <p:sp>
        <p:nvSpPr>
          <p:cNvPr id="12" name="Text 9"/>
          <p:cNvSpPr/>
          <p:nvPr/>
        </p:nvSpPr>
        <p:spPr>
          <a:xfrm>
            <a:off x="658368" y="5897880"/>
            <a:ext cx="7315200" cy="320040"/>
          </a:xfrm>
          <a:prstGeom prst="rect">
            <a:avLst/>
          </a:prstGeom>
          <a:noFill/>
          <a:ln/>
        </p:spPr>
        <p:txBody>
          <a:bodyPr wrap="square" lIns="0" tIns="0" rIns="0" bIns="0" rtlCol="0" anchor="ctr"/>
          <a:lstStyle/>
          <a:p>
            <a:pPr indent="0" marL="0">
              <a:buNone/>
            </a:pPr>
            <a:r>
              <a:rPr lang="en-US" sz="1200" spc="100" kern="0" dirty="0">
                <a:solidFill>
                  <a:srgbClr val="AFC2CE"/>
                </a:solidFill>
                <a:latin typeface="Calibri" pitchFamily="34" charset="0"/>
                <a:ea typeface="Calibri" pitchFamily="34" charset="-122"/>
                <a:cs typeface="Calibri" pitchFamily="34" charset="-120"/>
              </a:rPr>
              <a:t>Orders  ·  Deliveries  ·  Container Pickups  ·  Point of Sale  ·  Receipts</a:t>
            </a:r>
            <a:endParaRPr lang="en-US" sz="1200" dirty="0"/>
          </a:p>
        </p:txBody>
      </p:sp>
      <p:sp>
        <p:nvSpPr>
          <p:cNvPr id="13" name="Text 10"/>
          <p:cNvSpPr/>
          <p:nvPr/>
        </p:nvSpPr>
        <p:spPr>
          <a:xfrm>
            <a:off x="9464040" y="4160520"/>
            <a:ext cx="2011680" cy="1097280"/>
          </a:xfrm>
          <a:prstGeom prst="rect">
            <a:avLst/>
          </a:prstGeom>
          <a:noFill/>
          <a:ln/>
        </p:spPr>
        <p:txBody>
          <a:bodyPr wrap="square" lIns="0" tIns="0" rIns="0" bIns="0" rtlCol="0" anchor="ctr"/>
          <a:lstStyle/>
          <a:p>
            <a:pPr algn="ctr" indent="0" marL="0">
              <a:buNone/>
            </a:pPr>
            <a:r>
              <a:rPr lang="en-US" sz="7200" b="1" dirty="0">
                <a:solidFill>
                  <a:srgbClr val="FFFFFF"/>
                </a:solidFill>
                <a:latin typeface="Cambria" pitchFamily="34" charset="0"/>
                <a:ea typeface="Cambria" pitchFamily="34" charset="-122"/>
                <a:cs typeface="Cambria" pitchFamily="34" charset="-120"/>
              </a:rPr>
              <a:t>40</a:t>
            </a:r>
            <a:pPr algn="ctr" indent="0" marL="0">
              <a:buNone/>
            </a:pPr>
            <a:r>
              <a:rPr lang="en-US" sz="3400" b="1" dirty="0">
                <a:solidFill>
                  <a:srgbClr val="02C39A"/>
                </a:solidFill>
                <a:latin typeface="Cambria" pitchFamily="34" charset="0"/>
                <a:ea typeface="Cambria" pitchFamily="34" charset="-122"/>
                <a:cs typeface="Cambria" pitchFamily="34" charset="-120"/>
              </a:rPr>
              <a:t>%</a:t>
            </a:r>
            <a:endParaRPr lang="en-US" sz="7200" dirty="0"/>
          </a:p>
        </p:txBody>
      </p:sp>
      <p:sp>
        <p:nvSpPr>
          <p:cNvPr id="14" name="Text 11"/>
          <p:cNvSpPr/>
          <p:nvPr/>
        </p:nvSpPr>
        <p:spPr>
          <a:xfrm>
            <a:off x="9464040" y="5230368"/>
            <a:ext cx="2011680" cy="548640"/>
          </a:xfrm>
          <a:prstGeom prst="rect">
            <a:avLst/>
          </a:prstGeom>
          <a:noFill/>
          <a:ln/>
        </p:spPr>
        <p:txBody>
          <a:bodyPr wrap="square" lIns="0" tIns="0" rIns="0" bIns="0" rtlCol="0" anchor="ctr"/>
          <a:lstStyle/>
          <a:p>
            <a:pPr algn="ctr" indent="0" marL="0">
              <a:lnSpc>
                <a:spcPts val="1400"/>
              </a:lnSpc>
              <a:buNone/>
            </a:pPr>
            <a:r>
              <a:rPr lang="en-US" sz="1050" b="1" spc="150" kern="0" dirty="0">
                <a:solidFill>
                  <a:srgbClr val="8ECAE6"/>
                </a:solidFill>
                <a:latin typeface="Calibri" pitchFamily="34" charset="0"/>
                <a:ea typeface="Calibri" pitchFamily="34" charset="-122"/>
                <a:cs typeface="Calibri" pitchFamily="34" charset="-120"/>
              </a:rPr>
              <a:t>PERFORMANCE</a:t>
            </a:r>
            <a:endParaRPr lang="en-US" sz="1050" dirty="0"/>
          </a:p>
          <a:p>
            <a:pPr algn="ctr" indent="0" marL="0">
              <a:lnSpc>
                <a:spcPts val="1400"/>
              </a:lnSpc>
              <a:buNone/>
            </a:pPr>
            <a:r>
              <a:rPr lang="en-US" sz="1050" b="1" spc="150" kern="0" dirty="0">
                <a:solidFill>
                  <a:srgbClr val="8ECAE6"/>
                </a:solidFill>
                <a:latin typeface="Calibri" pitchFamily="34" charset="0"/>
                <a:ea typeface="Calibri" pitchFamily="34" charset="-122"/>
                <a:cs typeface="Calibri" pitchFamily="34" charset="-120"/>
              </a:rPr>
              <a:t>TARGET</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7FA"/>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PROBLEM FRAMING</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The Challenge</a:t>
            </a:r>
            <a:endParaRPr lang="en-US" sz="3400" dirty="0"/>
          </a:p>
        </p:txBody>
      </p:sp>
      <p:sp>
        <p:nvSpPr>
          <p:cNvPr id="4" name="Shape 2"/>
          <p:cNvSpPr/>
          <p:nvPr/>
        </p:nvSpPr>
        <p:spPr>
          <a:xfrm>
            <a:off x="640080" y="1600200"/>
            <a:ext cx="10972800" cy="1600200"/>
          </a:xfrm>
          <a:prstGeom prst="roundRect">
            <a:avLst>
              <a:gd name="adj" fmla="val 4571"/>
            </a:avLst>
          </a:prstGeom>
          <a:solidFill>
            <a:srgbClr val="065A82"/>
          </a:solidFill>
          <a:ln w="12700">
            <a:solidFill>
              <a:srgbClr val="065A82"/>
            </a:solidFill>
            <a:prstDash val="solid"/>
          </a:ln>
          <a:effectLst>
            <a:outerShdw sx="100000" sy="100000" kx="0" ky="0" algn="bl" rotWithShape="0" blurRad="127000" dist="25400" dir="5400000">
              <a:srgbClr val="9FB4C2">
                <a:alpha val="35000"/>
              </a:srgbClr>
            </a:outerShdw>
          </a:effectLst>
        </p:spPr>
      </p:sp>
      <p:sp>
        <p:nvSpPr>
          <p:cNvPr id="5" name="Text 3"/>
          <p:cNvSpPr/>
          <p:nvPr/>
        </p:nvSpPr>
        <p:spPr>
          <a:xfrm>
            <a:off x="1005840" y="1783080"/>
            <a:ext cx="3657600" cy="274320"/>
          </a:xfrm>
          <a:prstGeom prst="rect">
            <a:avLst/>
          </a:prstGeom>
          <a:noFill/>
          <a:ln/>
        </p:spPr>
        <p:txBody>
          <a:bodyPr wrap="square" lIns="0" tIns="0" rIns="0" bIns="0" rtlCol="0" anchor="ctr"/>
          <a:lstStyle/>
          <a:p>
            <a:pPr indent="0" marL="0">
              <a:buNone/>
            </a:pPr>
            <a:r>
              <a:rPr lang="en-US" sz="1100" b="1" spc="250" kern="0" dirty="0">
                <a:solidFill>
                  <a:srgbClr val="8ECAE6"/>
                </a:solidFill>
                <a:latin typeface="Calibri" pitchFamily="34" charset="0"/>
                <a:ea typeface="Calibri" pitchFamily="34" charset="-122"/>
                <a:cs typeface="Calibri" pitchFamily="34" charset="-120"/>
              </a:rPr>
              <a:t>HOW MIGHT WE...</a:t>
            </a:r>
            <a:endParaRPr lang="en-US" sz="1100" dirty="0"/>
          </a:p>
        </p:txBody>
      </p:sp>
      <p:sp>
        <p:nvSpPr>
          <p:cNvPr id="6" name="Text 4"/>
          <p:cNvSpPr/>
          <p:nvPr/>
        </p:nvSpPr>
        <p:spPr>
          <a:xfrm>
            <a:off x="1005840" y="2103120"/>
            <a:ext cx="10241280" cy="914400"/>
          </a:xfrm>
          <a:prstGeom prst="rect">
            <a:avLst/>
          </a:prstGeom>
          <a:noFill/>
          <a:ln/>
        </p:spPr>
        <p:txBody>
          <a:bodyPr wrap="square" lIns="0" tIns="0" rIns="0" bIns="0" rtlCol="0" anchor="ctr"/>
          <a:lstStyle/>
          <a:p>
            <a:pPr indent="0" marL="0">
              <a:lnSpc>
                <a:spcPts val="2800"/>
              </a:lnSpc>
              <a:buNone/>
            </a:pPr>
            <a:r>
              <a:rPr lang="en-US" sz="2100" b="1" dirty="0">
                <a:solidFill>
                  <a:srgbClr val="FFFFFF"/>
                </a:solidFill>
                <a:latin typeface="Cambria" pitchFamily="34" charset="0"/>
                <a:ea typeface="Cambria" pitchFamily="34" charset="-122"/>
                <a:cs typeface="Cambria" pitchFamily="34" charset="-120"/>
              </a:rPr>
              <a:t>...integrate a mobile app to streamline orders, deliveries, and container pickups to boost performance by 40%?</a:t>
            </a:r>
            <a:endParaRPr lang="en-US" sz="2100" dirty="0"/>
          </a:p>
        </p:txBody>
      </p:sp>
      <p:sp>
        <p:nvSpPr>
          <p:cNvPr id="7" name="Shape 5"/>
          <p:cNvSpPr/>
          <p:nvPr/>
        </p:nvSpPr>
        <p:spPr>
          <a:xfrm>
            <a:off x="640080" y="3611880"/>
            <a:ext cx="3474720" cy="2331720"/>
          </a:xfrm>
          <a:prstGeom prst="roundRect">
            <a:avLst>
              <a:gd name="adj" fmla="val 3529"/>
            </a:avLst>
          </a:prstGeom>
          <a:solidFill>
            <a:srgbClr val="FFFFFF"/>
          </a:solidFill>
          <a:ln w="9525">
            <a:solidFill>
              <a:srgbClr val="E1EAF0"/>
            </a:solidFill>
            <a:prstDash val="solid"/>
          </a:ln>
          <a:effectLst>
            <a:outerShdw sx="100000" sy="100000" kx="0" ky="0" algn="bl" rotWithShape="0" blurRad="127000" dist="25400" dir="5400000">
              <a:srgbClr val="9FB4C2">
                <a:alpha val="35000"/>
              </a:srgbClr>
            </a:outerShdw>
          </a:effectLst>
        </p:spPr>
      </p:sp>
      <p:sp>
        <p:nvSpPr>
          <p:cNvPr id="8" name="Shape 6"/>
          <p:cNvSpPr/>
          <p:nvPr/>
        </p:nvSpPr>
        <p:spPr>
          <a:xfrm>
            <a:off x="960120" y="3913632"/>
            <a:ext cx="658368" cy="658368"/>
          </a:xfrm>
          <a:prstGeom prst="ellipse">
            <a:avLst/>
          </a:prstGeom>
          <a:solidFill>
            <a:srgbClr val="DDEBF3"/>
          </a:solidFill>
          <a:ln w="12700">
            <a:solidFill>
              <a:srgbClr val="DDEBF3"/>
            </a:solidFill>
            <a:prstDash val="solid"/>
          </a:ln>
        </p:spPr>
      </p:sp>
      <p:pic>
        <p:nvPicPr>
          <p:cNvPr id="9" name="Image 0" descr="preencoded.png">    </p:cNvPr>
          <p:cNvPicPr>
            <a:picLocks noChangeAspect="1"/>
          </p:cNvPicPr>
          <p:nvPr/>
        </p:nvPicPr>
        <p:blipFill>
          <a:blip r:embed="rId1"/>
          <a:stretch>
            <a:fillRect/>
          </a:stretch>
        </p:blipFill>
        <p:spPr>
          <a:xfrm>
            <a:off x="1131296" y="4084808"/>
            <a:ext cx="316017" cy="316017"/>
          </a:xfrm>
          <a:prstGeom prst="rect">
            <a:avLst/>
          </a:prstGeom>
        </p:spPr>
      </p:pic>
      <p:sp>
        <p:nvSpPr>
          <p:cNvPr id="10" name="Text 7"/>
          <p:cNvSpPr/>
          <p:nvPr/>
        </p:nvSpPr>
        <p:spPr>
          <a:xfrm>
            <a:off x="960120" y="4709160"/>
            <a:ext cx="2834640" cy="320040"/>
          </a:xfrm>
          <a:prstGeom prst="rect">
            <a:avLst/>
          </a:prstGeom>
          <a:noFill/>
          <a:ln/>
        </p:spPr>
        <p:txBody>
          <a:bodyPr wrap="square" lIns="0" tIns="0" rIns="0" bIns="0" rtlCol="0" anchor="ctr"/>
          <a:lstStyle/>
          <a:p>
            <a:pPr indent="0" marL="0">
              <a:buNone/>
            </a:pPr>
            <a:r>
              <a:rPr lang="en-US" sz="1800" b="1" dirty="0">
                <a:solidFill>
                  <a:srgbClr val="17303F"/>
                </a:solidFill>
                <a:latin typeface="Cambria" pitchFamily="34" charset="0"/>
                <a:ea typeface="Cambria" pitchFamily="34" charset="-122"/>
                <a:cs typeface="Cambria" pitchFamily="34" charset="-120"/>
              </a:rPr>
              <a:t>Orders</a:t>
            </a:r>
            <a:endParaRPr lang="en-US" sz="1800" dirty="0"/>
          </a:p>
        </p:txBody>
      </p:sp>
      <p:sp>
        <p:nvSpPr>
          <p:cNvPr id="11" name="Text 8"/>
          <p:cNvSpPr/>
          <p:nvPr/>
        </p:nvSpPr>
        <p:spPr>
          <a:xfrm>
            <a:off x="960120" y="5074920"/>
            <a:ext cx="2880360" cy="731520"/>
          </a:xfrm>
          <a:prstGeom prst="rect">
            <a:avLst/>
          </a:prstGeom>
          <a:noFill/>
          <a:ln/>
        </p:spPr>
        <p:txBody>
          <a:bodyPr wrap="square" lIns="0" tIns="0" rIns="0" bIns="0" rtlCol="0" anchor="ctr"/>
          <a:lstStyle/>
          <a:p>
            <a:pPr indent="0" marL="0">
              <a:lnSpc>
                <a:spcPts val="1700"/>
              </a:lnSpc>
              <a:buNone/>
            </a:pPr>
            <a:r>
              <a:rPr lang="en-US" sz="1250" dirty="0">
                <a:solidFill>
                  <a:srgbClr val="5C7080"/>
                </a:solidFill>
                <a:latin typeface="Calibri" pitchFamily="34" charset="0"/>
                <a:ea typeface="Calibri" pitchFamily="34" charset="-122"/>
                <a:cs typeface="Calibri" pitchFamily="34" charset="-120"/>
              </a:rPr>
              <a:t>Requests are written down by hand, one transaction at a time.</a:t>
            </a:r>
            <a:endParaRPr lang="en-US" sz="1250" dirty="0"/>
          </a:p>
        </p:txBody>
      </p:sp>
      <p:sp>
        <p:nvSpPr>
          <p:cNvPr id="12" name="Shape 9"/>
          <p:cNvSpPr/>
          <p:nvPr/>
        </p:nvSpPr>
        <p:spPr>
          <a:xfrm>
            <a:off x="4416552" y="3611880"/>
            <a:ext cx="3474720" cy="2331720"/>
          </a:xfrm>
          <a:prstGeom prst="roundRect">
            <a:avLst>
              <a:gd name="adj" fmla="val 3529"/>
            </a:avLst>
          </a:prstGeom>
          <a:solidFill>
            <a:srgbClr val="FFFFFF"/>
          </a:solidFill>
          <a:ln w="9525">
            <a:solidFill>
              <a:srgbClr val="E1EAF0"/>
            </a:solidFill>
            <a:prstDash val="solid"/>
          </a:ln>
          <a:effectLst>
            <a:outerShdw sx="100000" sy="100000" kx="0" ky="0" algn="bl" rotWithShape="0" blurRad="127000" dist="25400" dir="5400000">
              <a:srgbClr val="9FB4C2">
                <a:alpha val="35000"/>
              </a:srgbClr>
            </a:outerShdw>
          </a:effectLst>
        </p:spPr>
      </p:sp>
      <p:sp>
        <p:nvSpPr>
          <p:cNvPr id="13" name="Shape 10"/>
          <p:cNvSpPr/>
          <p:nvPr/>
        </p:nvSpPr>
        <p:spPr>
          <a:xfrm>
            <a:off x="4736592" y="3913632"/>
            <a:ext cx="658368" cy="658368"/>
          </a:xfrm>
          <a:prstGeom prst="ellipse">
            <a:avLst/>
          </a:prstGeom>
          <a:solidFill>
            <a:srgbClr val="DDEBF3"/>
          </a:solidFill>
          <a:ln w="12700">
            <a:solidFill>
              <a:srgbClr val="DDEBF3"/>
            </a:solidFill>
            <a:prstDash val="solid"/>
          </a:ln>
        </p:spPr>
      </p:sp>
      <p:pic>
        <p:nvPicPr>
          <p:cNvPr id="14" name="Image 1" descr="preencoded.png">    </p:cNvPr>
          <p:cNvPicPr>
            <a:picLocks noChangeAspect="1"/>
          </p:cNvPicPr>
          <p:nvPr/>
        </p:nvPicPr>
        <p:blipFill>
          <a:blip r:embed="rId2"/>
          <a:stretch>
            <a:fillRect/>
          </a:stretch>
        </p:blipFill>
        <p:spPr>
          <a:xfrm>
            <a:off x="4907768" y="4084808"/>
            <a:ext cx="316017" cy="316017"/>
          </a:xfrm>
          <a:prstGeom prst="rect">
            <a:avLst/>
          </a:prstGeom>
        </p:spPr>
      </p:pic>
      <p:sp>
        <p:nvSpPr>
          <p:cNvPr id="15" name="Text 11"/>
          <p:cNvSpPr/>
          <p:nvPr/>
        </p:nvSpPr>
        <p:spPr>
          <a:xfrm>
            <a:off x="4736592" y="4709160"/>
            <a:ext cx="2834640" cy="320040"/>
          </a:xfrm>
          <a:prstGeom prst="rect">
            <a:avLst/>
          </a:prstGeom>
          <a:noFill/>
          <a:ln/>
        </p:spPr>
        <p:txBody>
          <a:bodyPr wrap="square" lIns="0" tIns="0" rIns="0" bIns="0" rtlCol="0" anchor="ctr"/>
          <a:lstStyle/>
          <a:p>
            <a:pPr indent="0" marL="0">
              <a:buNone/>
            </a:pPr>
            <a:r>
              <a:rPr lang="en-US" sz="1800" b="1" dirty="0">
                <a:solidFill>
                  <a:srgbClr val="17303F"/>
                </a:solidFill>
                <a:latin typeface="Cambria" pitchFamily="34" charset="0"/>
                <a:ea typeface="Cambria" pitchFamily="34" charset="-122"/>
                <a:cs typeface="Cambria" pitchFamily="34" charset="-120"/>
              </a:rPr>
              <a:t>Deliveries</a:t>
            </a:r>
            <a:endParaRPr lang="en-US" sz="1800" dirty="0"/>
          </a:p>
        </p:txBody>
      </p:sp>
      <p:sp>
        <p:nvSpPr>
          <p:cNvPr id="16" name="Text 12"/>
          <p:cNvSpPr/>
          <p:nvPr/>
        </p:nvSpPr>
        <p:spPr>
          <a:xfrm>
            <a:off x="4736592" y="5074920"/>
            <a:ext cx="2880360" cy="731520"/>
          </a:xfrm>
          <a:prstGeom prst="rect">
            <a:avLst/>
          </a:prstGeom>
          <a:noFill/>
          <a:ln/>
        </p:spPr>
        <p:txBody>
          <a:bodyPr wrap="square" lIns="0" tIns="0" rIns="0" bIns="0" rtlCol="0" anchor="ctr"/>
          <a:lstStyle/>
          <a:p>
            <a:pPr indent="0" marL="0">
              <a:lnSpc>
                <a:spcPts val="1700"/>
              </a:lnSpc>
              <a:buNone/>
            </a:pPr>
            <a:r>
              <a:rPr lang="en-US" sz="1250" dirty="0">
                <a:solidFill>
                  <a:srgbClr val="5C7080"/>
                </a:solidFill>
                <a:latin typeface="Calibri" pitchFamily="34" charset="0"/>
                <a:ea typeface="Calibri" pitchFamily="34" charset="-122"/>
                <a:cs typeface="Calibri" pitchFamily="34" charset="-120"/>
              </a:rPr>
              <a:t>Riders leave without a planned route or a live customer list.</a:t>
            </a:r>
            <a:endParaRPr lang="en-US" sz="1250" dirty="0"/>
          </a:p>
        </p:txBody>
      </p:sp>
      <p:sp>
        <p:nvSpPr>
          <p:cNvPr id="17" name="Shape 13"/>
          <p:cNvSpPr/>
          <p:nvPr/>
        </p:nvSpPr>
        <p:spPr>
          <a:xfrm>
            <a:off x="8193024" y="3611880"/>
            <a:ext cx="3474720" cy="2331720"/>
          </a:xfrm>
          <a:prstGeom prst="roundRect">
            <a:avLst>
              <a:gd name="adj" fmla="val 3529"/>
            </a:avLst>
          </a:prstGeom>
          <a:solidFill>
            <a:srgbClr val="FFFFFF"/>
          </a:solidFill>
          <a:ln w="9525">
            <a:solidFill>
              <a:srgbClr val="E1EAF0"/>
            </a:solidFill>
            <a:prstDash val="solid"/>
          </a:ln>
          <a:effectLst>
            <a:outerShdw sx="100000" sy="100000" kx="0" ky="0" algn="bl" rotWithShape="0" blurRad="127000" dist="25400" dir="5400000">
              <a:srgbClr val="9FB4C2">
                <a:alpha val="35000"/>
              </a:srgbClr>
            </a:outerShdw>
          </a:effectLst>
        </p:spPr>
      </p:sp>
      <p:sp>
        <p:nvSpPr>
          <p:cNvPr id="18" name="Shape 14"/>
          <p:cNvSpPr/>
          <p:nvPr/>
        </p:nvSpPr>
        <p:spPr>
          <a:xfrm>
            <a:off x="8513064" y="3913632"/>
            <a:ext cx="658368" cy="658368"/>
          </a:xfrm>
          <a:prstGeom prst="ellipse">
            <a:avLst/>
          </a:prstGeom>
          <a:solidFill>
            <a:srgbClr val="DDEBF3"/>
          </a:solidFill>
          <a:ln w="12700">
            <a:solidFill>
              <a:srgbClr val="DDEBF3"/>
            </a:solidFill>
            <a:prstDash val="solid"/>
          </a:ln>
        </p:spPr>
      </p:sp>
      <p:pic>
        <p:nvPicPr>
          <p:cNvPr id="19" name="Image 2" descr="preencoded.png">    </p:cNvPr>
          <p:cNvPicPr>
            <a:picLocks noChangeAspect="1"/>
          </p:cNvPicPr>
          <p:nvPr/>
        </p:nvPicPr>
        <p:blipFill>
          <a:blip r:embed="rId3"/>
          <a:stretch>
            <a:fillRect/>
          </a:stretch>
        </p:blipFill>
        <p:spPr>
          <a:xfrm>
            <a:off x="8684240" y="4084808"/>
            <a:ext cx="316017" cy="316017"/>
          </a:xfrm>
          <a:prstGeom prst="rect">
            <a:avLst/>
          </a:prstGeom>
        </p:spPr>
      </p:pic>
      <p:sp>
        <p:nvSpPr>
          <p:cNvPr id="20" name="Text 15"/>
          <p:cNvSpPr/>
          <p:nvPr/>
        </p:nvSpPr>
        <p:spPr>
          <a:xfrm>
            <a:off x="8513064" y="4709160"/>
            <a:ext cx="2834640" cy="320040"/>
          </a:xfrm>
          <a:prstGeom prst="rect">
            <a:avLst/>
          </a:prstGeom>
          <a:noFill/>
          <a:ln/>
        </p:spPr>
        <p:txBody>
          <a:bodyPr wrap="square" lIns="0" tIns="0" rIns="0" bIns="0" rtlCol="0" anchor="ctr"/>
          <a:lstStyle/>
          <a:p>
            <a:pPr indent="0" marL="0">
              <a:buNone/>
            </a:pPr>
            <a:r>
              <a:rPr lang="en-US" sz="1800" b="1" dirty="0">
                <a:solidFill>
                  <a:srgbClr val="17303F"/>
                </a:solidFill>
                <a:latin typeface="Cambria" pitchFamily="34" charset="0"/>
                <a:ea typeface="Cambria" pitchFamily="34" charset="-122"/>
                <a:cs typeface="Cambria" pitchFamily="34" charset="-120"/>
              </a:rPr>
              <a:t>Container Pickups</a:t>
            </a:r>
            <a:endParaRPr lang="en-US" sz="1800" dirty="0"/>
          </a:p>
        </p:txBody>
      </p:sp>
      <p:sp>
        <p:nvSpPr>
          <p:cNvPr id="21" name="Text 16"/>
          <p:cNvSpPr/>
          <p:nvPr/>
        </p:nvSpPr>
        <p:spPr>
          <a:xfrm>
            <a:off x="8513064" y="5074920"/>
            <a:ext cx="2880360" cy="731520"/>
          </a:xfrm>
          <a:prstGeom prst="rect">
            <a:avLst/>
          </a:prstGeom>
          <a:noFill/>
          <a:ln/>
        </p:spPr>
        <p:txBody>
          <a:bodyPr wrap="square" lIns="0" tIns="0" rIns="0" bIns="0" rtlCol="0" anchor="ctr"/>
          <a:lstStyle/>
          <a:p>
            <a:pPr indent="0" marL="0">
              <a:lnSpc>
                <a:spcPts val="1700"/>
              </a:lnSpc>
              <a:buNone/>
            </a:pPr>
            <a:r>
              <a:rPr lang="en-US" sz="1250" dirty="0">
                <a:solidFill>
                  <a:srgbClr val="5C7080"/>
                </a:solidFill>
                <a:latin typeface="Calibri" pitchFamily="34" charset="0"/>
                <a:ea typeface="Calibri" pitchFamily="34" charset="-122"/>
                <a:cs typeface="Calibri" pitchFamily="34" charset="-120"/>
              </a:rPr>
              <a:t>Empty containers are tracked from memory, not from records.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WHERE PERFORMANCE LEAKS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The Main Problem</a:t>
            </a:r>
            <a:endParaRPr lang="en-US" sz="3400" dirty="0"/>
          </a:p>
        </p:txBody>
      </p:sp>
      <p:sp>
        <p:nvSpPr>
          <p:cNvPr id="4" name="Shape 2"/>
          <p:cNvSpPr/>
          <p:nvPr/>
        </p:nvSpPr>
        <p:spPr>
          <a:xfrm>
            <a:off x="640080" y="1691640"/>
            <a:ext cx="5029200" cy="4206240"/>
          </a:xfrm>
          <a:prstGeom prst="roundRect">
            <a:avLst>
              <a:gd name="adj" fmla="val 1957"/>
            </a:avLst>
          </a:prstGeom>
          <a:solidFill>
            <a:srgbClr val="0A2540"/>
          </a:solidFill>
          <a:ln w="12700">
            <a:solidFill>
              <a:srgbClr val="0A2540"/>
            </a:solidFill>
            <a:prstDash val="solid"/>
          </a:ln>
        </p:spPr>
      </p:sp>
      <p:sp>
        <p:nvSpPr>
          <p:cNvPr id="5" name="Text 3"/>
          <p:cNvSpPr/>
          <p:nvPr/>
        </p:nvSpPr>
        <p:spPr>
          <a:xfrm>
            <a:off x="868680" y="1737360"/>
            <a:ext cx="914400" cy="914400"/>
          </a:xfrm>
          <a:prstGeom prst="rect">
            <a:avLst/>
          </a:prstGeom>
          <a:noFill/>
          <a:ln/>
        </p:spPr>
        <p:txBody>
          <a:bodyPr wrap="square" lIns="0" tIns="0" rIns="0" bIns="0" rtlCol="0" anchor="ctr"/>
          <a:lstStyle/>
          <a:p>
            <a:pPr indent="0" marL="0">
              <a:buNone/>
            </a:pPr>
            <a:r>
              <a:rPr lang="en-US" sz="8000" dirty="0">
                <a:solidFill>
                  <a:srgbClr val="02C39A"/>
                </a:solidFill>
                <a:latin typeface="Cambria" pitchFamily="34" charset="0"/>
                <a:ea typeface="Cambria" pitchFamily="34" charset="-122"/>
                <a:cs typeface="Cambria" pitchFamily="34" charset="-120"/>
              </a:rPr>
              <a:t>“</a:t>
            </a:r>
            <a:endParaRPr lang="en-US" sz="8000" dirty="0"/>
          </a:p>
        </p:txBody>
      </p:sp>
      <p:sp>
        <p:nvSpPr>
          <p:cNvPr id="6" name="Text 4"/>
          <p:cNvSpPr/>
          <p:nvPr/>
        </p:nvSpPr>
        <p:spPr>
          <a:xfrm>
            <a:off x="960120" y="2514600"/>
            <a:ext cx="4389120" cy="1737360"/>
          </a:xfrm>
          <a:prstGeom prst="rect">
            <a:avLst/>
          </a:prstGeom>
          <a:noFill/>
          <a:ln/>
        </p:spPr>
        <p:txBody>
          <a:bodyPr wrap="square" lIns="0" tIns="0" rIns="0" bIns="0" rtlCol="0" anchor="ctr"/>
          <a:lstStyle/>
          <a:p>
            <a:pPr indent="0" marL="0">
              <a:lnSpc>
                <a:spcPts val="3000"/>
              </a:lnSpc>
              <a:buNone/>
            </a:pPr>
            <a:r>
              <a:rPr lang="en-US" sz="2200" b="1" dirty="0">
                <a:solidFill>
                  <a:srgbClr val="FFFFFF"/>
                </a:solidFill>
                <a:latin typeface="Cambria" pitchFamily="34" charset="0"/>
                <a:ea typeface="Cambria" pitchFamily="34" charset="-122"/>
                <a:cs typeface="Cambria" pitchFamily="34" charset="-120"/>
              </a:rPr>
              <a:t>More time is spent writing for each transaction, and the process is prone to mistakes in calculation.</a:t>
            </a:r>
            <a:endParaRPr lang="en-US" sz="2200" dirty="0"/>
          </a:p>
        </p:txBody>
      </p:sp>
      <p:sp>
        <p:nvSpPr>
          <p:cNvPr id="7" name="Text 5"/>
          <p:cNvSpPr/>
          <p:nvPr/>
        </p:nvSpPr>
        <p:spPr>
          <a:xfrm>
            <a:off x="960120" y="4663440"/>
            <a:ext cx="4389120" cy="822960"/>
          </a:xfrm>
          <a:prstGeom prst="rect">
            <a:avLst/>
          </a:prstGeom>
          <a:noFill/>
          <a:ln/>
        </p:spPr>
        <p:txBody>
          <a:bodyPr wrap="square" lIns="0" tIns="0" rIns="0" bIns="0" rtlCol="0" anchor="ctr"/>
          <a:lstStyle/>
          <a:p>
            <a:pPr indent="0" marL="0">
              <a:lnSpc>
                <a:spcPts val="1900"/>
              </a:lnSpc>
              <a:buNone/>
            </a:pPr>
            <a:r>
              <a:rPr lang="en-US" sz="1350" dirty="0">
                <a:solidFill>
                  <a:srgbClr val="8ECAE6"/>
                </a:solidFill>
                <a:latin typeface="Calibri" pitchFamily="34" charset="0"/>
                <a:ea typeface="Calibri" pitchFamily="34" charset="-122"/>
                <a:cs typeface="Calibri" pitchFamily="34" charset="-120"/>
              </a:rPr>
              <a:t>Every sale, delivery and container return is recorded on paper and totalled by hand.</a:t>
            </a:r>
            <a:endParaRPr lang="en-US" sz="1350" dirty="0"/>
          </a:p>
        </p:txBody>
      </p:sp>
      <p:sp>
        <p:nvSpPr>
          <p:cNvPr id="8" name="Shape 6"/>
          <p:cNvSpPr/>
          <p:nvPr/>
        </p:nvSpPr>
        <p:spPr>
          <a:xfrm>
            <a:off x="6172200" y="1691640"/>
            <a:ext cx="5349240" cy="1280160"/>
          </a:xfrm>
          <a:prstGeom prst="roundRect">
            <a:avLst>
              <a:gd name="adj" fmla="val 6429"/>
            </a:avLst>
          </a:prstGeom>
          <a:solidFill>
            <a:srgbClr val="F1F7FA"/>
          </a:solidFill>
          <a:ln w="9525">
            <a:solidFill>
              <a:srgbClr val="E1EAF0"/>
            </a:solidFill>
            <a:prstDash val="solid"/>
          </a:ln>
          <a:effectLst>
            <a:outerShdw sx="100000" sy="100000" kx="0" ky="0" algn="bl" rotWithShape="0" blurRad="127000" dist="25400" dir="5400000">
              <a:srgbClr val="9FB4C2">
                <a:alpha val="35000"/>
              </a:srgbClr>
            </a:outerShdw>
          </a:effectLst>
        </p:spPr>
      </p:sp>
      <p:sp>
        <p:nvSpPr>
          <p:cNvPr id="9" name="Shape 7"/>
          <p:cNvSpPr/>
          <p:nvPr/>
        </p:nvSpPr>
        <p:spPr>
          <a:xfrm>
            <a:off x="6446520" y="2002536"/>
            <a:ext cx="658368" cy="658368"/>
          </a:xfrm>
          <a:prstGeom prst="ellipse">
            <a:avLst/>
          </a:prstGeom>
          <a:solidFill>
            <a:srgbClr val="C9453D"/>
          </a:solidFill>
          <a:ln w="12700">
            <a:solidFill>
              <a:srgbClr val="C9453D"/>
            </a:solidFill>
            <a:prstDash val="solid"/>
          </a:ln>
        </p:spPr>
      </p:sp>
      <p:pic>
        <p:nvPicPr>
          <p:cNvPr id="10" name="Image 0" descr="preencoded.png">    </p:cNvPr>
          <p:cNvPicPr>
            <a:picLocks noChangeAspect="1"/>
          </p:cNvPicPr>
          <p:nvPr/>
        </p:nvPicPr>
        <p:blipFill>
          <a:blip r:embed="rId1"/>
          <a:stretch>
            <a:fillRect/>
          </a:stretch>
        </p:blipFill>
        <p:spPr>
          <a:xfrm>
            <a:off x="6617696" y="2173712"/>
            <a:ext cx="316017" cy="316017"/>
          </a:xfrm>
          <a:prstGeom prst="rect">
            <a:avLst/>
          </a:prstGeom>
        </p:spPr>
      </p:pic>
      <p:sp>
        <p:nvSpPr>
          <p:cNvPr id="11" name="Text 8"/>
          <p:cNvSpPr/>
          <p:nvPr/>
        </p:nvSpPr>
        <p:spPr>
          <a:xfrm>
            <a:off x="7269480" y="1892808"/>
            <a:ext cx="4114800" cy="320040"/>
          </a:xfrm>
          <a:prstGeom prst="rect">
            <a:avLst/>
          </a:prstGeom>
          <a:noFill/>
          <a:ln/>
        </p:spPr>
        <p:txBody>
          <a:bodyPr wrap="square" lIns="0" tIns="0" rIns="0" bIns="0" rtlCol="0" anchor="ctr"/>
          <a:lstStyle/>
          <a:p>
            <a:pPr indent="0" marL="0">
              <a:buNone/>
            </a:pPr>
            <a:r>
              <a:rPr lang="en-US" sz="1500" b="1" dirty="0">
                <a:solidFill>
                  <a:srgbClr val="17303F"/>
                </a:solidFill>
                <a:latin typeface="Calibri" pitchFamily="34" charset="0"/>
                <a:ea typeface="Calibri" pitchFamily="34" charset="-122"/>
                <a:cs typeface="Calibri" pitchFamily="34" charset="-120"/>
              </a:rPr>
              <a:t>Slow, repetitive encoding</a:t>
            </a:r>
            <a:endParaRPr lang="en-US" sz="1500" dirty="0"/>
          </a:p>
        </p:txBody>
      </p:sp>
      <p:sp>
        <p:nvSpPr>
          <p:cNvPr id="12" name="Text 9"/>
          <p:cNvSpPr/>
          <p:nvPr/>
        </p:nvSpPr>
        <p:spPr>
          <a:xfrm>
            <a:off x="7269480" y="2240280"/>
            <a:ext cx="4069080" cy="594360"/>
          </a:xfrm>
          <a:prstGeom prst="rect">
            <a:avLst/>
          </a:prstGeom>
          <a:noFill/>
          <a:ln/>
        </p:spPr>
        <p:txBody>
          <a:bodyPr wrap="square" lIns="0" tIns="0" rIns="0" bIns="0" rtlCol="0" anchor="ctr"/>
          <a:lstStyle/>
          <a:p>
            <a:pPr indent="0" marL="0">
              <a:lnSpc>
                <a:spcPts val="1600"/>
              </a:lnSpc>
              <a:buNone/>
            </a:pPr>
            <a:r>
              <a:rPr lang="en-US" sz="1200" dirty="0">
                <a:solidFill>
                  <a:srgbClr val="5C7080"/>
                </a:solidFill>
                <a:latin typeface="Calibri" pitchFamily="34" charset="0"/>
                <a:ea typeface="Calibri" pitchFamily="34" charset="-122"/>
                <a:cs typeface="Calibri" pitchFamily="34" charset="-120"/>
              </a:rPr>
              <a:t>The same customer details are rewritten for every single transaction.</a:t>
            </a:r>
            <a:endParaRPr lang="en-US" sz="1200" dirty="0"/>
          </a:p>
        </p:txBody>
      </p:sp>
      <p:sp>
        <p:nvSpPr>
          <p:cNvPr id="13" name="Shape 10"/>
          <p:cNvSpPr/>
          <p:nvPr/>
        </p:nvSpPr>
        <p:spPr>
          <a:xfrm>
            <a:off x="6172200" y="3154680"/>
            <a:ext cx="5349240" cy="1280160"/>
          </a:xfrm>
          <a:prstGeom prst="roundRect">
            <a:avLst>
              <a:gd name="adj" fmla="val 6429"/>
            </a:avLst>
          </a:prstGeom>
          <a:solidFill>
            <a:srgbClr val="F1F7FA"/>
          </a:solidFill>
          <a:ln w="9525">
            <a:solidFill>
              <a:srgbClr val="E1EAF0"/>
            </a:solidFill>
            <a:prstDash val="solid"/>
          </a:ln>
          <a:effectLst>
            <a:outerShdw sx="100000" sy="100000" kx="0" ky="0" algn="bl" rotWithShape="0" blurRad="127000" dist="25400" dir="5400000">
              <a:srgbClr val="9FB4C2">
                <a:alpha val="35000"/>
              </a:srgbClr>
            </a:outerShdw>
          </a:effectLst>
        </p:spPr>
      </p:sp>
      <p:sp>
        <p:nvSpPr>
          <p:cNvPr id="14" name="Shape 11"/>
          <p:cNvSpPr/>
          <p:nvPr/>
        </p:nvSpPr>
        <p:spPr>
          <a:xfrm>
            <a:off x="6446520" y="3465576"/>
            <a:ext cx="658368" cy="658368"/>
          </a:xfrm>
          <a:prstGeom prst="ellipse">
            <a:avLst/>
          </a:prstGeom>
          <a:solidFill>
            <a:srgbClr val="C9453D"/>
          </a:solidFill>
          <a:ln w="12700">
            <a:solidFill>
              <a:srgbClr val="C9453D"/>
            </a:solidFill>
            <a:prstDash val="solid"/>
          </a:ln>
        </p:spPr>
      </p:sp>
      <p:pic>
        <p:nvPicPr>
          <p:cNvPr id="15" name="Image 1" descr="preencoded.png">    </p:cNvPr>
          <p:cNvPicPr>
            <a:picLocks noChangeAspect="1"/>
          </p:cNvPicPr>
          <p:nvPr/>
        </p:nvPicPr>
        <p:blipFill>
          <a:blip r:embed="rId2"/>
          <a:stretch>
            <a:fillRect/>
          </a:stretch>
        </p:blipFill>
        <p:spPr>
          <a:xfrm>
            <a:off x="6617696" y="3636752"/>
            <a:ext cx="316017" cy="316017"/>
          </a:xfrm>
          <a:prstGeom prst="rect">
            <a:avLst/>
          </a:prstGeom>
        </p:spPr>
      </p:pic>
      <p:sp>
        <p:nvSpPr>
          <p:cNvPr id="16" name="Text 12"/>
          <p:cNvSpPr/>
          <p:nvPr/>
        </p:nvSpPr>
        <p:spPr>
          <a:xfrm>
            <a:off x="7269480" y="3355848"/>
            <a:ext cx="4114800" cy="320040"/>
          </a:xfrm>
          <a:prstGeom prst="rect">
            <a:avLst/>
          </a:prstGeom>
          <a:noFill/>
          <a:ln/>
        </p:spPr>
        <p:txBody>
          <a:bodyPr wrap="square" lIns="0" tIns="0" rIns="0" bIns="0" rtlCol="0" anchor="ctr"/>
          <a:lstStyle/>
          <a:p>
            <a:pPr indent="0" marL="0">
              <a:buNone/>
            </a:pPr>
            <a:r>
              <a:rPr lang="en-US" sz="1500" b="1" dirty="0">
                <a:solidFill>
                  <a:srgbClr val="17303F"/>
                </a:solidFill>
                <a:latin typeface="Calibri" pitchFamily="34" charset="0"/>
                <a:ea typeface="Calibri" pitchFamily="34" charset="-122"/>
                <a:cs typeface="Calibri" pitchFamily="34" charset="-120"/>
              </a:rPr>
              <a:t>Manual calculation errors</a:t>
            </a:r>
            <a:endParaRPr lang="en-US" sz="1500" dirty="0"/>
          </a:p>
        </p:txBody>
      </p:sp>
      <p:sp>
        <p:nvSpPr>
          <p:cNvPr id="17" name="Text 13"/>
          <p:cNvSpPr/>
          <p:nvPr/>
        </p:nvSpPr>
        <p:spPr>
          <a:xfrm>
            <a:off x="7269480" y="3703320"/>
            <a:ext cx="4069080" cy="594360"/>
          </a:xfrm>
          <a:prstGeom prst="rect">
            <a:avLst/>
          </a:prstGeom>
          <a:noFill/>
          <a:ln/>
        </p:spPr>
        <p:txBody>
          <a:bodyPr wrap="square" lIns="0" tIns="0" rIns="0" bIns="0" rtlCol="0" anchor="ctr"/>
          <a:lstStyle/>
          <a:p>
            <a:pPr indent="0" marL="0">
              <a:lnSpc>
                <a:spcPts val="1600"/>
              </a:lnSpc>
              <a:buNone/>
            </a:pPr>
            <a:r>
              <a:rPr lang="en-US" sz="1200" dirty="0">
                <a:solidFill>
                  <a:srgbClr val="5C7080"/>
                </a:solidFill>
                <a:latin typeface="Calibri" pitchFamily="34" charset="0"/>
                <a:ea typeface="Calibri" pitchFamily="34" charset="-122"/>
                <a:cs typeface="Calibri" pitchFamily="34" charset="-120"/>
              </a:rPr>
              <a:t>Totals, change and daily sales are computed mentally or on a calculator.</a:t>
            </a:r>
            <a:endParaRPr lang="en-US" sz="1200" dirty="0"/>
          </a:p>
        </p:txBody>
      </p:sp>
      <p:sp>
        <p:nvSpPr>
          <p:cNvPr id="18" name="Shape 14"/>
          <p:cNvSpPr/>
          <p:nvPr/>
        </p:nvSpPr>
        <p:spPr>
          <a:xfrm>
            <a:off x="6172200" y="4617720"/>
            <a:ext cx="5349240" cy="1280160"/>
          </a:xfrm>
          <a:prstGeom prst="roundRect">
            <a:avLst>
              <a:gd name="adj" fmla="val 6429"/>
            </a:avLst>
          </a:prstGeom>
          <a:solidFill>
            <a:srgbClr val="F1F7FA"/>
          </a:solidFill>
          <a:ln w="9525">
            <a:solidFill>
              <a:srgbClr val="E1EAF0"/>
            </a:solidFill>
            <a:prstDash val="solid"/>
          </a:ln>
          <a:effectLst>
            <a:outerShdw sx="100000" sy="100000" kx="0" ky="0" algn="bl" rotWithShape="0" blurRad="127000" dist="25400" dir="5400000">
              <a:srgbClr val="9FB4C2">
                <a:alpha val="35000"/>
              </a:srgbClr>
            </a:outerShdw>
          </a:effectLst>
        </p:spPr>
      </p:sp>
      <p:sp>
        <p:nvSpPr>
          <p:cNvPr id="19" name="Shape 15"/>
          <p:cNvSpPr/>
          <p:nvPr/>
        </p:nvSpPr>
        <p:spPr>
          <a:xfrm>
            <a:off x="6446520" y="4928616"/>
            <a:ext cx="658368" cy="658368"/>
          </a:xfrm>
          <a:prstGeom prst="ellipse">
            <a:avLst/>
          </a:prstGeom>
          <a:solidFill>
            <a:srgbClr val="C9453D"/>
          </a:solidFill>
          <a:ln w="12700">
            <a:solidFill>
              <a:srgbClr val="C9453D"/>
            </a:solidFill>
            <a:prstDash val="solid"/>
          </a:ln>
        </p:spPr>
      </p:sp>
      <p:pic>
        <p:nvPicPr>
          <p:cNvPr id="20" name="Image 2" descr="preencoded.png">    </p:cNvPr>
          <p:cNvPicPr>
            <a:picLocks noChangeAspect="1"/>
          </p:cNvPicPr>
          <p:nvPr/>
        </p:nvPicPr>
        <p:blipFill>
          <a:blip r:embed="rId3"/>
          <a:stretch>
            <a:fillRect/>
          </a:stretch>
        </p:blipFill>
        <p:spPr>
          <a:xfrm>
            <a:off x="6617696" y="5099792"/>
            <a:ext cx="316017" cy="316017"/>
          </a:xfrm>
          <a:prstGeom prst="rect">
            <a:avLst/>
          </a:prstGeom>
        </p:spPr>
      </p:pic>
      <p:sp>
        <p:nvSpPr>
          <p:cNvPr id="21" name="Text 16"/>
          <p:cNvSpPr/>
          <p:nvPr/>
        </p:nvSpPr>
        <p:spPr>
          <a:xfrm>
            <a:off x="7269480" y="4818888"/>
            <a:ext cx="4114800" cy="320040"/>
          </a:xfrm>
          <a:prstGeom prst="rect">
            <a:avLst/>
          </a:prstGeom>
          <a:noFill/>
          <a:ln/>
        </p:spPr>
        <p:txBody>
          <a:bodyPr wrap="square" lIns="0" tIns="0" rIns="0" bIns="0" rtlCol="0" anchor="ctr"/>
          <a:lstStyle/>
          <a:p>
            <a:pPr indent="0" marL="0">
              <a:buNone/>
            </a:pPr>
            <a:r>
              <a:rPr lang="en-US" sz="1500" b="1" dirty="0">
                <a:solidFill>
                  <a:srgbClr val="17303F"/>
                </a:solidFill>
                <a:latin typeface="Calibri" pitchFamily="34" charset="0"/>
                <a:ea typeface="Calibri" pitchFamily="34" charset="-122"/>
                <a:cs typeface="Calibri" pitchFamily="34" charset="-120"/>
              </a:rPr>
              <a:t>Records that cannot be searched</a:t>
            </a:r>
            <a:endParaRPr lang="en-US" sz="1500" dirty="0"/>
          </a:p>
        </p:txBody>
      </p:sp>
      <p:sp>
        <p:nvSpPr>
          <p:cNvPr id="22" name="Text 17"/>
          <p:cNvSpPr/>
          <p:nvPr/>
        </p:nvSpPr>
        <p:spPr>
          <a:xfrm>
            <a:off x="7269480" y="5166360"/>
            <a:ext cx="4069080" cy="594360"/>
          </a:xfrm>
          <a:prstGeom prst="rect">
            <a:avLst/>
          </a:prstGeom>
          <a:noFill/>
          <a:ln/>
        </p:spPr>
        <p:txBody>
          <a:bodyPr wrap="square" lIns="0" tIns="0" rIns="0" bIns="0" rtlCol="0" anchor="ctr"/>
          <a:lstStyle/>
          <a:p>
            <a:pPr indent="0" marL="0">
              <a:lnSpc>
                <a:spcPts val="1600"/>
              </a:lnSpc>
              <a:buNone/>
            </a:pPr>
            <a:r>
              <a:rPr lang="en-US" sz="1200" dirty="0">
                <a:solidFill>
                  <a:srgbClr val="5C7080"/>
                </a:solidFill>
                <a:latin typeface="Calibri" pitchFamily="34" charset="0"/>
                <a:ea typeface="Calibri" pitchFamily="34" charset="-122"/>
                <a:cs typeface="Calibri" pitchFamily="34" charset="-120"/>
              </a:rPr>
              <a:t>Notebooks make it hard to check history, unpaid balances or containers out.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7FA"/>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PROCESS COMPARISON</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From Notebook to One Tap</a:t>
            </a:r>
            <a:endParaRPr lang="en-US" sz="3400" dirty="0"/>
          </a:p>
        </p:txBody>
      </p:sp>
      <p:sp>
        <p:nvSpPr>
          <p:cNvPr id="4" name="Text 2"/>
          <p:cNvSpPr/>
          <p:nvPr/>
        </p:nvSpPr>
        <p:spPr>
          <a:xfrm>
            <a:off x="640080" y="1600200"/>
            <a:ext cx="5486400" cy="274320"/>
          </a:xfrm>
          <a:prstGeom prst="rect">
            <a:avLst/>
          </a:prstGeom>
          <a:noFill/>
          <a:ln/>
        </p:spPr>
        <p:txBody>
          <a:bodyPr wrap="square" lIns="0" tIns="0" rIns="0" bIns="0" rtlCol="0" anchor="ctr"/>
          <a:lstStyle/>
          <a:p>
            <a:pPr indent="0" marL="0">
              <a:buNone/>
            </a:pPr>
            <a:r>
              <a:rPr lang="en-US" sz="1150" b="1" spc="200" kern="0" dirty="0">
                <a:solidFill>
                  <a:srgbClr val="C9453D"/>
                </a:solidFill>
                <a:latin typeface="Calibri" pitchFamily="34" charset="0"/>
                <a:ea typeface="Calibri" pitchFamily="34" charset="-122"/>
                <a:cs typeface="Calibri" pitchFamily="34" charset="-120"/>
              </a:rPr>
              <a:t>TODAY — MANUAL PROCESS</a:t>
            </a:r>
            <a:endParaRPr lang="en-US" sz="1150" dirty="0"/>
          </a:p>
        </p:txBody>
      </p:sp>
      <p:sp>
        <p:nvSpPr>
          <p:cNvPr id="5" name="Shape 3"/>
          <p:cNvSpPr/>
          <p:nvPr/>
        </p:nvSpPr>
        <p:spPr>
          <a:xfrm>
            <a:off x="640080" y="1965960"/>
            <a:ext cx="2011680" cy="1143000"/>
          </a:xfrm>
          <a:prstGeom prst="roundRect">
            <a:avLst>
              <a:gd name="adj" fmla="val 6400"/>
            </a:avLst>
          </a:prstGeom>
          <a:solidFill>
            <a:srgbClr val="E8EDF1"/>
          </a:solidFill>
          <a:ln w="12700">
            <a:solidFill>
              <a:srgbClr val="D3DEE6"/>
            </a:solidFill>
            <a:prstDash val="solid"/>
          </a:ln>
        </p:spPr>
      </p:sp>
      <p:sp>
        <p:nvSpPr>
          <p:cNvPr id="6" name="Text 4"/>
          <p:cNvSpPr/>
          <p:nvPr/>
        </p:nvSpPr>
        <p:spPr>
          <a:xfrm>
            <a:off x="749808" y="2048256"/>
            <a:ext cx="365760" cy="256032"/>
          </a:xfrm>
          <a:prstGeom prst="rect">
            <a:avLst/>
          </a:prstGeom>
          <a:noFill/>
          <a:ln/>
        </p:spPr>
        <p:txBody>
          <a:bodyPr wrap="square" lIns="0" tIns="0" rIns="0" bIns="0" rtlCol="0" anchor="ctr"/>
          <a:lstStyle/>
          <a:p>
            <a:pPr indent="0" marL="0">
              <a:buNone/>
            </a:pPr>
            <a:r>
              <a:rPr lang="en-US" sz="1100" b="1" dirty="0">
                <a:solidFill>
                  <a:srgbClr val="C9453D"/>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786384" y="2331720"/>
            <a:ext cx="1737360" cy="685800"/>
          </a:xfrm>
          <a:prstGeom prst="rect">
            <a:avLst/>
          </a:prstGeom>
          <a:noFill/>
          <a:ln/>
        </p:spPr>
        <p:txBody>
          <a:bodyPr wrap="square" lIns="0" tIns="0" rIns="0" bIns="0" rtlCol="0" anchor="ctr"/>
          <a:lstStyle/>
          <a:p>
            <a:pPr indent="0" marL="0">
              <a:lnSpc>
                <a:spcPts val="1500"/>
              </a:lnSpc>
              <a:buNone/>
            </a:pPr>
            <a:r>
              <a:rPr lang="en-US" sz="1200" dirty="0">
                <a:solidFill>
                  <a:srgbClr val="17303F"/>
                </a:solidFill>
                <a:latin typeface="Calibri" pitchFamily="34" charset="0"/>
                <a:ea typeface="Calibri" pitchFamily="34" charset="-122"/>
                <a:cs typeface="Calibri" pitchFamily="34" charset="-120"/>
              </a:rPr>
              <a:t>Customer calls or walks in</a:t>
            </a:r>
            <a:endParaRPr lang="en-US" sz="1200" dirty="0"/>
          </a:p>
        </p:txBody>
      </p:sp>
      <p:sp>
        <p:nvSpPr>
          <p:cNvPr id="8" name="Shape 6"/>
          <p:cNvSpPr/>
          <p:nvPr/>
        </p:nvSpPr>
        <p:spPr>
          <a:xfrm>
            <a:off x="2724912" y="2423160"/>
            <a:ext cx="128016" cy="219456"/>
          </a:xfrm>
          <a:prstGeom prst="rightArrow">
            <a:avLst/>
          </a:prstGeom>
          <a:solidFill>
            <a:srgbClr val="AFC2CE"/>
          </a:solidFill>
          <a:ln w="12700">
            <a:solidFill>
              <a:srgbClr val="AFC2CE"/>
            </a:solidFill>
            <a:prstDash val="solid"/>
          </a:ln>
        </p:spPr>
      </p:sp>
      <p:sp>
        <p:nvSpPr>
          <p:cNvPr id="9" name="Shape 7"/>
          <p:cNvSpPr/>
          <p:nvPr/>
        </p:nvSpPr>
        <p:spPr>
          <a:xfrm>
            <a:off x="2889504" y="1965960"/>
            <a:ext cx="2011680" cy="1143000"/>
          </a:xfrm>
          <a:prstGeom prst="roundRect">
            <a:avLst>
              <a:gd name="adj" fmla="val 6400"/>
            </a:avLst>
          </a:prstGeom>
          <a:solidFill>
            <a:srgbClr val="E8EDF1"/>
          </a:solidFill>
          <a:ln w="12700">
            <a:solidFill>
              <a:srgbClr val="D3DEE6"/>
            </a:solidFill>
            <a:prstDash val="solid"/>
          </a:ln>
        </p:spPr>
      </p:sp>
      <p:sp>
        <p:nvSpPr>
          <p:cNvPr id="10" name="Text 8"/>
          <p:cNvSpPr/>
          <p:nvPr/>
        </p:nvSpPr>
        <p:spPr>
          <a:xfrm>
            <a:off x="2999232" y="2048256"/>
            <a:ext cx="365760" cy="256032"/>
          </a:xfrm>
          <a:prstGeom prst="rect">
            <a:avLst/>
          </a:prstGeom>
          <a:noFill/>
          <a:ln/>
        </p:spPr>
        <p:txBody>
          <a:bodyPr wrap="square" lIns="0" tIns="0" rIns="0" bIns="0" rtlCol="0" anchor="ctr"/>
          <a:lstStyle/>
          <a:p>
            <a:pPr indent="0" marL="0">
              <a:buNone/>
            </a:pPr>
            <a:r>
              <a:rPr lang="en-US" sz="1100" b="1" dirty="0">
                <a:solidFill>
                  <a:srgbClr val="C9453D"/>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3035808" y="2331720"/>
            <a:ext cx="1737360" cy="685800"/>
          </a:xfrm>
          <a:prstGeom prst="rect">
            <a:avLst/>
          </a:prstGeom>
          <a:noFill/>
          <a:ln/>
        </p:spPr>
        <p:txBody>
          <a:bodyPr wrap="square" lIns="0" tIns="0" rIns="0" bIns="0" rtlCol="0" anchor="ctr"/>
          <a:lstStyle/>
          <a:p>
            <a:pPr indent="0" marL="0">
              <a:lnSpc>
                <a:spcPts val="1500"/>
              </a:lnSpc>
              <a:buNone/>
            </a:pPr>
            <a:r>
              <a:rPr lang="en-US" sz="1200" dirty="0">
                <a:solidFill>
                  <a:srgbClr val="17303F"/>
                </a:solidFill>
                <a:latin typeface="Calibri" pitchFamily="34" charset="0"/>
                <a:ea typeface="Calibri" pitchFamily="34" charset="-122"/>
                <a:cs typeface="Calibri" pitchFamily="34" charset="-120"/>
              </a:rPr>
              <a:t>Write order in notebook</a:t>
            </a:r>
            <a:endParaRPr lang="en-US" sz="1200" dirty="0"/>
          </a:p>
        </p:txBody>
      </p:sp>
      <p:sp>
        <p:nvSpPr>
          <p:cNvPr id="12" name="Shape 10"/>
          <p:cNvSpPr/>
          <p:nvPr/>
        </p:nvSpPr>
        <p:spPr>
          <a:xfrm>
            <a:off x="4974336" y="2423160"/>
            <a:ext cx="128016" cy="219456"/>
          </a:xfrm>
          <a:prstGeom prst="rightArrow">
            <a:avLst/>
          </a:prstGeom>
          <a:solidFill>
            <a:srgbClr val="AFC2CE"/>
          </a:solidFill>
          <a:ln w="12700">
            <a:solidFill>
              <a:srgbClr val="AFC2CE"/>
            </a:solidFill>
            <a:prstDash val="solid"/>
          </a:ln>
        </p:spPr>
      </p:sp>
      <p:sp>
        <p:nvSpPr>
          <p:cNvPr id="13" name="Shape 11"/>
          <p:cNvSpPr/>
          <p:nvPr/>
        </p:nvSpPr>
        <p:spPr>
          <a:xfrm>
            <a:off x="5138928" y="1965960"/>
            <a:ext cx="2011680" cy="1143000"/>
          </a:xfrm>
          <a:prstGeom prst="roundRect">
            <a:avLst>
              <a:gd name="adj" fmla="val 6400"/>
            </a:avLst>
          </a:prstGeom>
          <a:solidFill>
            <a:srgbClr val="E8EDF1"/>
          </a:solidFill>
          <a:ln w="12700">
            <a:solidFill>
              <a:srgbClr val="D3DEE6"/>
            </a:solidFill>
            <a:prstDash val="solid"/>
          </a:ln>
        </p:spPr>
      </p:sp>
      <p:sp>
        <p:nvSpPr>
          <p:cNvPr id="14" name="Text 12"/>
          <p:cNvSpPr/>
          <p:nvPr/>
        </p:nvSpPr>
        <p:spPr>
          <a:xfrm>
            <a:off x="5248656" y="2048256"/>
            <a:ext cx="365760" cy="256032"/>
          </a:xfrm>
          <a:prstGeom prst="rect">
            <a:avLst/>
          </a:prstGeom>
          <a:noFill/>
          <a:ln/>
        </p:spPr>
        <p:txBody>
          <a:bodyPr wrap="square" lIns="0" tIns="0" rIns="0" bIns="0" rtlCol="0" anchor="ctr"/>
          <a:lstStyle/>
          <a:p>
            <a:pPr indent="0" marL="0">
              <a:buNone/>
            </a:pPr>
            <a:r>
              <a:rPr lang="en-US" sz="1100" b="1" dirty="0">
                <a:solidFill>
                  <a:srgbClr val="C9453D"/>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5285232" y="2331720"/>
            <a:ext cx="1737360" cy="685800"/>
          </a:xfrm>
          <a:prstGeom prst="rect">
            <a:avLst/>
          </a:prstGeom>
          <a:noFill/>
          <a:ln/>
        </p:spPr>
        <p:txBody>
          <a:bodyPr wrap="square" lIns="0" tIns="0" rIns="0" bIns="0" rtlCol="0" anchor="ctr"/>
          <a:lstStyle/>
          <a:p>
            <a:pPr indent="0" marL="0">
              <a:lnSpc>
                <a:spcPts val="1500"/>
              </a:lnSpc>
              <a:buNone/>
            </a:pPr>
            <a:r>
              <a:rPr lang="en-US" sz="1200" dirty="0">
                <a:solidFill>
                  <a:srgbClr val="17303F"/>
                </a:solidFill>
                <a:latin typeface="Calibri" pitchFamily="34" charset="0"/>
                <a:ea typeface="Calibri" pitchFamily="34" charset="-122"/>
                <a:cs typeface="Calibri" pitchFamily="34" charset="-120"/>
              </a:rPr>
              <a:t>Compute total by hand</a:t>
            </a:r>
            <a:endParaRPr lang="en-US" sz="1200" dirty="0"/>
          </a:p>
        </p:txBody>
      </p:sp>
      <p:sp>
        <p:nvSpPr>
          <p:cNvPr id="16" name="Shape 14"/>
          <p:cNvSpPr/>
          <p:nvPr/>
        </p:nvSpPr>
        <p:spPr>
          <a:xfrm>
            <a:off x="7223760" y="2423160"/>
            <a:ext cx="128016" cy="219456"/>
          </a:xfrm>
          <a:prstGeom prst="rightArrow">
            <a:avLst/>
          </a:prstGeom>
          <a:solidFill>
            <a:srgbClr val="AFC2CE"/>
          </a:solidFill>
          <a:ln w="12700">
            <a:solidFill>
              <a:srgbClr val="AFC2CE"/>
            </a:solidFill>
            <a:prstDash val="solid"/>
          </a:ln>
        </p:spPr>
      </p:sp>
      <p:sp>
        <p:nvSpPr>
          <p:cNvPr id="17" name="Shape 15"/>
          <p:cNvSpPr/>
          <p:nvPr/>
        </p:nvSpPr>
        <p:spPr>
          <a:xfrm>
            <a:off x="7388352" y="1965960"/>
            <a:ext cx="2011680" cy="1143000"/>
          </a:xfrm>
          <a:prstGeom prst="roundRect">
            <a:avLst>
              <a:gd name="adj" fmla="val 6400"/>
            </a:avLst>
          </a:prstGeom>
          <a:solidFill>
            <a:srgbClr val="E8EDF1"/>
          </a:solidFill>
          <a:ln w="12700">
            <a:solidFill>
              <a:srgbClr val="D3DEE6"/>
            </a:solidFill>
            <a:prstDash val="solid"/>
          </a:ln>
        </p:spPr>
      </p:sp>
      <p:sp>
        <p:nvSpPr>
          <p:cNvPr id="18" name="Text 16"/>
          <p:cNvSpPr/>
          <p:nvPr/>
        </p:nvSpPr>
        <p:spPr>
          <a:xfrm>
            <a:off x="7498080" y="2048256"/>
            <a:ext cx="365760" cy="256032"/>
          </a:xfrm>
          <a:prstGeom prst="rect">
            <a:avLst/>
          </a:prstGeom>
          <a:noFill/>
          <a:ln/>
        </p:spPr>
        <p:txBody>
          <a:bodyPr wrap="square" lIns="0" tIns="0" rIns="0" bIns="0" rtlCol="0" anchor="ctr"/>
          <a:lstStyle/>
          <a:p>
            <a:pPr indent="0" marL="0">
              <a:buNone/>
            </a:pPr>
            <a:r>
              <a:rPr lang="en-US" sz="1100" b="1" dirty="0">
                <a:solidFill>
                  <a:srgbClr val="C9453D"/>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7534656" y="2331720"/>
            <a:ext cx="1737360" cy="685800"/>
          </a:xfrm>
          <a:prstGeom prst="rect">
            <a:avLst/>
          </a:prstGeom>
          <a:noFill/>
          <a:ln/>
        </p:spPr>
        <p:txBody>
          <a:bodyPr wrap="square" lIns="0" tIns="0" rIns="0" bIns="0" rtlCol="0" anchor="ctr"/>
          <a:lstStyle/>
          <a:p>
            <a:pPr indent="0" marL="0">
              <a:lnSpc>
                <a:spcPts val="1500"/>
              </a:lnSpc>
              <a:buNone/>
            </a:pPr>
            <a:r>
              <a:rPr lang="en-US" sz="1200" dirty="0">
                <a:solidFill>
                  <a:srgbClr val="17303F"/>
                </a:solidFill>
                <a:latin typeface="Calibri" pitchFamily="34" charset="0"/>
                <a:ea typeface="Calibri" pitchFamily="34" charset="-122"/>
                <a:cs typeface="Calibri" pitchFamily="34" charset="-120"/>
              </a:rPr>
              <a:t>Rider guesses the route</a:t>
            </a:r>
            <a:endParaRPr lang="en-US" sz="1200" dirty="0"/>
          </a:p>
        </p:txBody>
      </p:sp>
      <p:sp>
        <p:nvSpPr>
          <p:cNvPr id="20" name="Shape 18"/>
          <p:cNvSpPr/>
          <p:nvPr/>
        </p:nvSpPr>
        <p:spPr>
          <a:xfrm>
            <a:off x="9473184" y="2423160"/>
            <a:ext cx="128016" cy="219456"/>
          </a:xfrm>
          <a:prstGeom prst="rightArrow">
            <a:avLst/>
          </a:prstGeom>
          <a:solidFill>
            <a:srgbClr val="AFC2CE"/>
          </a:solidFill>
          <a:ln w="12700">
            <a:solidFill>
              <a:srgbClr val="AFC2CE"/>
            </a:solidFill>
            <a:prstDash val="solid"/>
          </a:ln>
        </p:spPr>
      </p:sp>
      <p:sp>
        <p:nvSpPr>
          <p:cNvPr id="21" name="Shape 19"/>
          <p:cNvSpPr/>
          <p:nvPr/>
        </p:nvSpPr>
        <p:spPr>
          <a:xfrm>
            <a:off x="9637776" y="1965960"/>
            <a:ext cx="2011680" cy="1143000"/>
          </a:xfrm>
          <a:prstGeom prst="roundRect">
            <a:avLst>
              <a:gd name="adj" fmla="val 6400"/>
            </a:avLst>
          </a:prstGeom>
          <a:solidFill>
            <a:srgbClr val="E8EDF1"/>
          </a:solidFill>
          <a:ln w="12700">
            <a:solidFill>
              <a:srgbClr val="D3DEE6"/>
            </a:solidFill>
            <a:prstDash val="solid"/>
          </a:ln>
        </p:spPr>
      </p:sp>
      <p:sp>
        <p:nvSpPr>
          <p:cNvPr id="22" name="Text 20"/>
          <p:cNvSpPr/>
          <p:nvPr/>
        </p:nvSpPr>
        <p:spPr>
          <a:xfrm>
            <a:off x="9747504" y="2048256"/>
            <a:ext cx="365760" cy="256032"/>
          </a:xfrm>
          <a:prstGeom prst="rect">
            <a:avLst/>
          </a:prstGeom>
          <a:noFill/>
          <a:ln/>
        </p:spPr>
        <p:txBody>
          <a:bodyPr wrap="square" lIns="0" tIns="0" rIns="0" bIns="0" rtlCol="0" anchor="ctr"/>
          <a:lstStyle/>
          <a:p>
            <a:pPr indent="0" marL="0">
              <a:buNone/>
            </a:pPr>
            <a:r>
              <a:rPr lang="en-US" sz="1100" b="1" dirty="0">
                <a:solidFill>
                  <a:srgbClr val="C9453D"/>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9784080" y="2331720"/>
            <a:ext cx="1737360" cy="685800"/>
          </a:xfrm>
          <a:prstGeom prst="rect">
            <a:avLst/>
          </a:prstGeom>
          <a:noFill/>
          <a:ln/>
        </p:spPr>
        <p:txBody>
          <a:bodyPr wrap="square" lIns="0" tIns="0" rIns="0" bIns="0" rtlCol="0" anchor="ctr"/>
          <a:lstStyle/>
          <a:p>
            <a:pPr indent="0" marL="0">
              <a:lnSpc>
                <a:spcPts val="1500"/>
              </a:lnSpc>
              <a:buNone/>
            </a:pPr>
            <a:r>
              <a:rPr lang="en-US" sz="1200" dirty="0">
                <a:solidFill>
                  <a:srgbClr val="17303F"/>
                </a:solidFill>
                <a:latin typeface="Calibri" pitchFamily="34" charset="0"/>
                <a:ea typeface="Calibri" pitchFamily="34" charset="-122"/>
                <a:cs typeface="Calibri" pitchFamily="34" charset="-120"/>
              </a:rPr>
              <a:t>Re-copy sales at closing</a:t>
            </a:r>
            <a:endParaRPr lang="en-US" sz="1200" dirty="0"/>
          </a:p>
        </p:txBody>
      </p:sp>
      <p:sp>
        <p:nvSpPr>
          <p:cNvPr id="24" name="Text 22"/>
          <p:cNvSpPr/>
          <p:nvPr/>
        </p:nvSpPr>
        <p:spPr>
          <a:xfrm>
            <a:off x="640080" y="3200400"/>
            <a:ext cx="8229600" cy="274320"/>
          </a:xfrm>
          <a:prstGeom prst="rect">
            <a:avLst/>
          </a:prstGeom>
          <a:noFill/>
          <a:ln/>
        </p:spPr>
        <p:txBody>
          <a:bodyPr wrap="square" lIns="0" tIns="0" rIns="0" bIns="0" rtlCol="0" anchor="ctr"/>
          <a:lstStyle/>
          <a:p>
            <a:pPr indent="0" marL="0">
              <a:buNone/>
            </a:pPr>
            <a:r>
              <a:rPr lang="en-US" sz="1150" i="1" dirty="0">
                <a:solidFill>
                  <a:srgbClr val="5C7080"/>
                </a:solidFill>
                <a:latin typeface="Calibri" pitchFamily="34" charset="0"/>
                <a:ea typeface="Calibri" pitchFamily="34" charset="-122"/>
                <a:cs typeface="Calibri" pitchFamily="34" charset="-120"/>
              </a:rPr>
              <a:t>Roughly 5 written steps per transaction · errors compound at every step</a:t>
            </a:r>
            <a:endParaRPr lang="en-US" sz="1150" dirty="0"/>
          </a:p>
        </p:txBody>
      </p:sp>
      <p:sp>
        <p:nvSpPr>
          <p:cNvPr id="25" name="Text 23"/>
          <p:cNvSpPr/>
          <p:nvPr/>
        </p:nvSpPr>
        <p:spPr>
          <a:xfrm>
            <a:off x="640080" y="4023360"/>
            <a:ext cx="6400800" cy="274320"/>
          </a:xfrm>
          <a:prstGeom prst="rect">
            <a:avLst/>
          </a:prstGeom>
          <a:noFill/>
          <a:ln/>
        </p:spPr>
        <p:txBody>
          <a:bodyPr wrap="square" lIns="0" tIns="0" rIns="0" bIns="0" rtlCol="0" anchor="ctr"/>
          <a:lstStyle/>
          <a:p>
            <a:pPr indent="0" marL="0">
              <a:buNone/>
            </a:pPr>
            <a:r>
              <a:rPr lang="en-US" sz="1150" b="1" spc="200" kern="0" dirty="0">
                <a:solidFill>
                  <a:srgbClr val="1C7293"/>
                </a:solidFill>
                <a:latin typeface="Calibri" pitchFamily="34" charset="0"/>
                <a:ea typeface="Calibri" pitchFamily="34" charset="-122"/>
                <a:cs typeface="Calibri" pitchFamily="34" charset="-120"/>
              </a:rPr>
              <a:t>WITH THE APP — DIGITAL PROCESS</a:t>
            </a:r>
            <a:endParaRPr lang="en-US" sz="1150" dirty="0"/>
          </a:p>
        </p:txBody>
      </p:sp>
      <p:sp>
        <p:nvSpPr>
          <p:cNvPr id="26" name="Shape 24"/>
          <p:cNvSpPr/>
          <p:nvPr/>
        </p:nvSpPr>
        <p:spPr>
          <a:xfrm>
            <a:off x="640080" y="4389120"/>
            <a:ext cx="3474720" cy="1234440"/>
          </a:xfrm>
          <a:prstGeom prst="roundRect">
            <a:avLst>
              <a:gd name="adj" fmla="val 5926"/>
            </a:avLst>
          </a:prstGeom>
          <a:solidFill>
            <a:srgbClr val="065A82"/>
          </a:solidFill>
          <a:ln w="12700">
            <a:solidFill>
              <a:srgbClr val="065A82"/>
            </a:solidFill>
            <a:prstDash val="solid"/>
          </a:ln>
          <a:effectLst>
            <a:outerShdw sx="100000" sy="100000" kx="0" ky="0" algn="bl" rotWithShape="0" blurRad="127000" dist="25400" dir="5400000">
              <a:srgbClr val="9FB4C2">
                <a:alpha val="35000"/>
              </a:srgbClr>
            </a:outerShdw>
          </a:effectLst>
        </p:spPr>
      </p:sp>
      <p:sp>
        <p:nvSpPr>
          <p:cNvPr id="27" name="Text 25"/>
          <p:cNvSpPr/>
          <p:nvPr/>
        </p:nvSpPr>
        <p:spPr>
          <a:xfrm>
            <a:off x="822960" y="4498848"/>
            <a:ext cx="365760" cy="256032"/>
          </a:xfrm>
          <a:prstGeom prst="rect">
            <a:avLst/>
          </a:prstGeom>
          <a:noFill/>
          <a:ln/>
        </p:spPr>
        <p:txBody>
          <a:bodyPr wrap="square" lIns="0" tIns="0" rIns="0" bIns="0"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1</a:t>
            </a:r>
            <a:endParaRPr lang="en-US" sz="1100" dirty="0"/>
          </a:p>
        </p:txBody>
      </p:sp>
      <p:sp>
        <p:nvSpPr>
          <p:cNvPr id="28" name="Text 26"/>
          <p:cNvSpPr/>
          <p:nvPr/>
        </p:nvSpPr>
        <p:spPr>
          <a:xfrm>
            <a:off x="859536" y="4800600"/>
            <a:ext cx="3063240" cy="73152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Customer taps order &amp; pickup schedule</a:t>
            </a:r>
            <a:endParaRPr lang="en-US" sz="1350" dirty="0"/>
          </a:p>
        </p:txBody>
      </p:sp>
      <p:sp>
        <p:nvSpPr>
          <p:cNvPr id="29" name="Shape 27"/>
          <p:cNvSpPr/>
          <p:nvPr/>
        </p:nvSpPr>
        <p:spPr>
          <a:xfrm>
            <a:off x="4206240" y="4892040"/>
            <a:ext cx="128016" cy="219456"/>
          </a:xfrm>
          <a:prstGeom prst="rightArrow">
            <a:avLst/>
          </a:prstGeom>
          <a:solidFill>
            <a:srgbClr val="065A82"/>
          </a:solidFill>
          <a:ln w="12700">
            <a:solidFill>
              <a:srgbClr val="065A82"/>
            </a:solidFill>
            <a:prstDash val="solid"/>
          </a:ln>
        </p:spPr>
      </p:sp>
      <p:sp>
        <p:nvSpPr>
          <p:cNvPr id="30" name="Shape 28"/>
          <p:cNvSpPr/>
          <p:nvPr/>
        </p:nvSpPr>
        <p:spPr>
          <a:xfrm>
            <a:off x="4416552" y="4389120"/>
            <a:ext cx="3474720" cy="1234440"/>
          </a:xfrm>
          <a:prstGeom prst="roundRect">
            <a:avLst>
              <a:gd name="adj" fmla="val 5926"/>
            </a:avLst>
          </a:prstGeom>
          <a:solidFill>
            <a:srgbClr val="065A82"/>
          </a:solidFill>
          <a:ln w="12700">
            <a:solidFill>
              <a:srgbClr val="065A82"/>
            </a:solidFill>
            <a:prstDash val="solid"/>
          </a:ln>
          <a:effectLst>
            <a:outerShdw sx="100000" sy="100000" kx="0" ky="0" algn="bl" rotWithShape="0" blurRad="127000" dist="25400" dir="5400000">
              <a:srgbClr val="9FB4C2">
                <a:alpha val="35000"/>
              </a:srgbClr>
            </a:outerShdw>
          </a:effectLst>
        </p:spPr>
      </p:sp>
      <p:sp>
        <p:nvSpPr>
          <p:cNvPr id="31" name="Text 29"/>
          <p:cNvSpPr/>
          <p:nvPr/>
        </p:nvSpPr>
        <p:spPr>
          <a:xfrm>
            <a:off x="4599432" y="4498848"/>
            <a:ext cx="365760" cy="256032"/>
          </a:xfrm>
          <a:prstGeom prst="rect">
            <a:avLst/>
          </a:prstGeom>
          <a:noFill/>
          <a:ln/>
        </p:spPr>
        <p:txBody>
          <a:bodyPr wrap="square" lIns="0" tIns="0" rIns="0" bIns="0"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2</a:t>
            </a:r>
            <a:endParaRPr lang="en-US" sz="1100" dirty="0"/>
          </a:p>
        </p:txBody>
      </p:sp>
      <p:sp>
        <p:nvSpPr>
          <p:cNvPr id="32" name="Text 30"/>
          <p:cNvSpPr/>
          <p:nvPr/>
        </p:nvSpPr>
        <p:spPr>
          <a:xfrm>
            <a:off x="4636008" y="4800600"/>
            <a:ext cx="3063240" cy="73152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Order auto-priced by the POS</a:t>
            </a:r>
            <a:endParaRPr lang="en-US" sz="1350" dirty="0"/>
          </a:p>
        </p:txBody>
      </p:sp>
      <p:sp>
        <p:nvSpPr>
          <p:cNvPr id="33" name="Shape 31"/>
          <p:cNvSpPr/>
          <p:nvPr/>
        </p:nvSpPr>
        <p:spPr>
          <a:xfrm>
            <a:off x="7982712" y="4892040"/>
            <a:ext cx="128016" cy="219456"/>
          </a:xfrm>
          <a:prstGeom prst="rightArrow">
            <a:avLst/>
          </a:prstGeom>
          <a:solidFill>
            <a:srgbClr val="065A82"/>
          </a:solidFill>
          <a:ln w="12700">
            <a:solidFill>
              <a:srgbClr val="065A82"/>
            </a:solidFill>
            <a:prstDash val="solid"/>
          </a:ln>
        </p:spPr>
      </p:sp>
      <p:sp>
        <p:nvSpPr>
          <p:cNvPr id="34" name="Shape 32"/>
          <p:cNvSpPr/>
          <p:nvPr/>
        </p:nvSpPr>
        <p:spPr>
          <a:xfrm>
            <a:off x="8193024" y="4389120"/>
            <a:ext cx="3474720" cy="1234440"/>
          </a:xfrm>
          <a:prstGeom prst="roundRect">
            <a:avLst>
              <a:gd name="adj" fmla="val 5926"/>
            </a:avLst>
          </a:prstGeom>
          <a:solidFill>
            <a:srgbClr val="065A82"/>
          </a:solidFill>
          <a:ln w="12700">
            <a:solidFill>
              <a:srgbClr val="065A82"/>
            </a:solidFill>
            <a:prstDash val="solid"/>
          </a:ln>
          <a:effectLst>
            <a:outerShdw sx="100000" sy="100000" kx="0" ky="0" algn="bl" rotWithShape="0" blurRad="127000" dist="25400" dir="5400000">
              <a:srgbClr val="9FB4C2">
                <a:alpha val="35000"/>
              </a:srgbClr>
            </a:outerShdw>
          </a:effectLst>
        </p:spPr>
      </p:sp>
      <p:sp>
        <p:nvSpPr>
          <p:cNvPr id="35" name="Text 33"/>
          <p:cNvSpPr/>
          <p:nvPr/>
        </p:nvSpPr>
        <p:spPr>
          <a:xfrm>
            <a:off x="8375904" y="4498848"/>
            <a:ext cx="365760" cy="256032"/>
          </a:xfrm>
          <a:prstGeom prst="rect">
            <a:avLst/>
          </a:prstGeom>
          <a:noFill/>
          <a:ln/>
        </p:spPr>
        <p:txBody>
          <a:bodyPr wrap="square" lIns="0" tIns="0" rIns="0" bIns="0"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3</a:t>
            </a:r>
            <a:endParaRPr lang="en-US" sz="1100" dirty="0"/>
          </a:p>
        </p:txBody>
      </p:sp>
      <p:sp>
        <p:nvSpPr>
          <p:cNvPr id="36" name="Text 34"/>
          <p:cNvSpPr/>
          <p:nvPr/>
        </p:nvSpPr>
        <p:spPr>
          <a:xfrm>
            <a:off x="8412480" y="4800600"/>
            <a:ext cx="3063240" cy="73152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Route auto-assigned to nearest station</a:t>
            </a:r>
            <a:endParaRPr lang="en-US" sz="1350" dirty="0"/>
          </a:p>
        </p:txBody>
      </p:sp>
      <p:sp>
        <p:nvSpPr>
          <p:cNvPr id="37" name="Text 35"/>
          <p:cNvSpPr/>
          <p:nvPr/>
        </p:nvSpPr>
        <p:spPr>
          <a:xfrm>
            <a:off x="640080" y="5760720"/>
            <a:ext cx="8229600" cy="274320"/>
          </a:xfrm>
          <a:prstGeom prst="rect">
            <a:avLst/>
          </a:prstGeom>
          <a:noFill/>
          <a:ln/>
        </p:spPr>
        <p:txBody>
          <a:bodyPr wrap="square" lIns="0" tIns="0" rIns="0" bIns="0"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3 tapped steps · no handwriting, no mental math, no guesswork</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TARGET USERS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Who We Are Building For</a:t>
            </a:r>
            <a:endParaRPr lang="en-US" sz="3400" dirty="0"/>
          </a:p>
        </p:txBody>
      </p:sp>
      <p:sp>
        <p:nvSpPr>
          <p:cNvPr id="4" name="Shape 2"/>
          <p:cNvSpPr/>
          <p:nvPr/>
        </p:nvSpPr>
        <p:spPr>
          <a:xfrm>
            <a:off x="640080" y="1691640"/>
            <a:ext cx="3474720" cy="4160520"/>
          </a:xfrm>
          <a:prstGeom prst="roundRect">
            <a:avLst>
              <a:gd name="adj" fmla="val 2368"/>
            </a:avLst>
          </a:prstGeom>
          <a:solidFill>
            <a:srgbClr val="F1F7FA"/>
          </a:solidFill>
          <a:ln w="12700">
            <a:solidFill>
              <a:srgbClr val="E1EAF0"/>
            </a:solidFill>
            <a:prstDash val="solid"/>
          </a:ln>
          <a:effectLst>
            <a:outerShdw sx="100000" sy="100000" kx="0" ky="0" algn="bl" rotWithShape="0" blurRad="127000" dist="25400" dir="5400000">
              <a:srgbClr val="9FB4C2">
                <a:alpha val="35000"/>
              </a:srgbClr>
            </a:outerShdw>
          </a:effectLst>
        </p:spPr>
      </p:sp>
      <p:sp>
        <p:nvSpPr>
          <p:cNvPr id="5" name="Shape 3"/>
          <p:cNvSpPr/>
          <p:nvPr/>
        </p:nvSpPr>
        <p:spPr>
          <a:xfrm>
            <a:off x="1847088" y="2057400"/>
            <a:ext cx="1051560" cy="1051560"/>
          </a:xfrm>
          <a:prstGeom prst="ellipse">
            <a:avLst/>
          </a:prstGeom>
          <a:solidFill>
            <a:srgbClr val="065A82"/>
          </a:solidFill>
          <a:ln w="12700">
            <a:solidFill>
              <a:srgbClr val="065A82"/>
            </a:solidFill>
            <a:prstDash val="solid"/>
          </a:ln>
        </p:spPr>
      </p:sp>
      <p:pic>
        <p:nvPicPr>
          <p:cNvPr id="6" name="Image 0" descr="preencoded.png">    </p:cNvPr>
          <p:cNvPicPr>
            <a:picLocks noChangeAspect="1"/>
          </p:cNvPicPr>
          <p:nvPr/>
        </p:nvPicPr>
        <p:blipFill>
          <a:blip r:embed="rId1"/>
          <a:stretch>
            <a:fillRect/>
          </a:stretch>
        </p:blipFill>
        <p:spPr>
          <a:xfrm>
            <a:off x="2120494" y="2330806"/>
            <a:ext cx="504749" cy="504749"/>
          </a:xfrm>
          <a:prstGeom prst="rect">
            <a:avLst/>
          </a:prstGeom>
        </p:spPr>
      </p:pic>
      <p:sp>
        <p:nvSpPr>
          <p:cNvPr id="7" name="Text 4"/>
          <p:cNvSpPr/>
          <p:nvPr/>
        </p:nvSpPr>
        <p:spPr>
          <a:xfrm>
            <a:off x="914400" y="3310128"/>
            <a:ext cx="2926080" cy="685800"/>
          </a:xfrm>
          <a:prstGeom prst="rect">
            <a:avLst/>
          </a:prstGeom>
          <a:noFill/>
          <a:ln/>
        </p:spPr>
        <p:txBody>
          <a:bodyPr wrap="square" lIns="0" tIns="0" rIns="0" bIns="0" rtlCol="0" anchor="ctr"/>
          <a:lstStyle/>
          <a:p>
            <a:pPr algn="ctr" indent="0" marL="0">
              <a:lnSpc>
                <a:spcPts val="2400"/>
              </a:lnSpc>
              <a:buNone/>
            </a:pPr>
            <a:r>
              <a:rPr lang="en-US" sz="1900" b="1" dirty="0">
                <a:solidFill>
                  <a:srgbClr val="17303F"/>
                </a:solidFill>
                <a:latin typeface="Cambria" pitchFamily="34" charset="0"/>
                <a:ea typeface="Cambria" pitchFamily="34" charset="-122"/>
                <a:cs typeface="Cambria" pitchFamily="34" charset="-120"/>
              </a:rPr>
              <a:t>Water Refilling Operators</a:t>
            </a:r>
            <a:endParaRPr lang="en-US" sz="1900" dirty="0"/>
          </a:p>
        </p:txBody>
      </p:sp>
      <p:sp>
        <p:nvSpPr>
          <p:cNvPr id="8" name="Text 5"/>
          <p:cNvSpPr/>
          <p:nvPr/>
        </p:nvSpPr>
        <p:spPr>
          <a:xfrm>
            <a:off x="960120" y="3950208"/>
            <a:ext cx="2834640" cy="1463040"/>
          </a:xfrm>
          <a:prstGeom prst="rect">
            <a:avLst/>
          </a:prstGeom>
          <a:noFill/>
          <a:ln/>
        </p:spPr>
        <p:txBody>
          <a:bodyPr wrap="square" lIns="0" tIns="0" rIns="0" bIns="0" rtlCol="0" anchor="ctr"/>
          <a:lstStyle/>
          <a:p>
            <a:pPr algn="ctr" indent="0" marL="0">
              <a:lnSpc>
                <a:spcPts val="1800"/>
              </a:lnSpc>
              <a:buNone/>
            </a:pPr>
            <a:r>
              <a:rPr lang="en-US" sz="1250" dirty="0">
                <a:solidFill>
                  <a:srgbClr val="5C7080"/>
                </a:solidFill>
                <a:latin typeface="Calibri" pitchFamily="34" charset="0"/>
                <a:ea typeface="Calibri" pitchFamily="34" charset="-122"/>
                <a:cs typeface="Calibri" pitchFamily="34" charset="-120"/>
              </a:rPr>
              <a:t>Run the station counter. They need instant pricing, a searchable order log and a running view of daily revenue and profit.</a:t>
            </a:r>
            <a:endParaRPr lang="en-US" sz="1250" dirty="0"/>
          </a:p>
        </p:txBody>
      </p:sp>
      <p:sp>
        <p:nvSpPr>
          <p:cNvPr id="9" name="Shape 6"/>
          <p:cNvSpPr/>
          <p:nvPr/>
        </p:nvSpPr>
        <p:spPr>
          <a:xfrm>
            <a:off x="4416552" y="1691640"/>
            <a:ext cx="3474720" cy="4160520"/>
          </a:xfrm>
          <a:prstGeom prst="roundRect">
            <a:avLst>
              <a:gd name="adj" fmla="val 2368"/>
            </a:avLst>
          </a:prstGeom>
          <a:solidFill>
            <a:srgbClr val="F1F7FA"/>
          </a:solidFill>
          <a:ln w="12700">
            <a:solidFill>
              <a:srgbClr val="E1EAF0"/>
            </a:solidFill>
            <a:prstDash val="solid"/>
          </a:ln>
          <a:effectLst>
            <a:outerShdw sx="100000" sy="100000" kx="0" ky="0" algn="bl" rotWithShape="0" blurRad="127000" dist="25400" dir="5400000">
              <a:srgbClr val="9FB4C2">
                <a:alpha val="35000"/>
              </a:srgbClr>
            </a:outerShdw>
          </a:effectLst>
        </p:spPr>
      </p:sp>
      <p:sp>
        <p:nvSpPr>
          <p:cNvPr id="10" name="Shape 7"/>
          <p:cNvSpPr/>
          <p:nvPr/>
        </p:nvSpPr>
        <p:spPr>
          <a:xfrm>
            <a:off x="5623560" y="2057400"/>
            <a:ext cx="1051560" cy="1051560"/>
          </a:xfrm>
          <a:prstGeom prst="ellipse">
            <a:avLst/>
          </a:prstGeom>
          <a:solidFill>
            <a:srgbClr val="1C7293"/>
          </a:solidFill>
          <a:ln w="12700">
            <a:solidFill>
              <a:srgbClr val="1C7293"/>
            </a:solidFill>
            <a:prstDash val="solid"/>
          </a:ln>
        </p:spPr>
      </p:sp>
      <p:pic>
        <p:nvPicPr>
          <p:cNvPr id="11" name="Image 1" descr="preencoded.png">    </p:cNvPr>
          <p:cNvPicPr>
            <a:picLocks noChangeAspect="1"/>
          </p:cNvPicPr>
          <p:nvPr/>
        </p:nvPicPr>
        <p:blipFill>
          <a:blip r:embed="rId2"/>
          <a:stretch>
            <a:fillRect/>
          </a:stretch>
        </p:blipFill>
        <p:spPr>
          <a:xfrm>
            <a:off x="5896966" y="2330806"/>
            <a:ext cx="504749" cy="504749"/>
          </a:xfrm>
          <a:prstGeom prst="rect">
            <a:avLst/>
          </a:prstGeom>
        </p:spPr>
      </p:pic>
      <p:sp>
        <p:nvSpPr>
          <p:cNvPr id="12" name="Text 8"/>
          <p:cNvSpPr/>
          <p:nvPr/>
        </p:nvSpPr>
        <p:spPr>
          <a:xfrm>
            <a:off x="4690872" y="3310128"/>
            <a:ext cx="2926080" cy="685800"/>
          </a:xfrm>
          <a:prstGeom prst="rect">
            <a:avLst/>
          </a:prstGeom>
          <a:noFill/>
          <a:ln/>
        </p:spPr>
        <p:txBody>
          <a:bodyPr wrap="square" lIns="0" tIns="0" rIns="0" bIns="0" rtlCol="0" anchor="ctr"/>
          <a:lstStyle/>
          <a:p>
            <a:pPr algn="ctr" indent="0" marL="0">
              <a:lnSpc>
                <a:spcPts val="2400"/>
              </a:lnSpc>
              <a:buNone/>
            </a:pPr>
            <a:r>
              <a:rPr lang="en-US" sz="1900" b="1" dirty="0">
                <a:solidFill>
                  <a:srgbClr val="17303F"/>
                </a:solidFill>
                <a:latin typeface="Cambria" pitchFamily="34" charset="0"/>
                <a:ea typeface="Cambria" pitchFamily="34" charset="-122"/>
                <a:cs typeface="Cambria" pitchFamily="34" charset="-120"/>
              </a:rPr>
              <a:t>Delivery Teams</a:t>
            </a:r>
            <a:endParaRPr lang="en-US" sz="1900" dirty="0"/>
          </a:p>
        </p:txBody>
      </p:sp>
      <p:sp>
        <p:nvSpPr>
          <p:cNvPr id="13" name="Text 9"/>
          <p:cNvSpPr/>
          <p:nvPr/>
        </p:nvSpPr>
        <p:spPr>
          <a:xfrm>
            <a:off x="4736592" y="3950208"/>
            <a:ext cx="2834640" cy="1463040"/>
          </a:xfrm>
          <a:prstGeom prst="rect">
            <a:avLst/>
          </a:prstGeom>
          <a:noFill/>
          <a:ln/>
        </p:spPr>
        <p:txBody>
          <a:bodyPr wrap="square" lIns="0" tIns="0" rIns="0" bIns="0" rtlCol="0" anchor="ctr"/>
          <a:lstStyle/>
          <a:p>
            <a:pPr algn="ctr" indent="0" marL="0">
              <a:lnSpc>
                <a:spcPts val="1800"/>
              </a:lnSpc>
              <a:buNone/>
            </a:pPr>
            <a:r>
              <a:rPr lang="en-US" sz="1250" dirty="0">
                <a:solidFill>
                  <a:srgbClr val="5C7080"/>
                </a:solidFill>
                <a:latin typeface="Calibri" pitchFamily="34" charset="0"/>
                <a:ea typeface="Calibri" pitchFamily="34" charset="-122"/>
                <a:cs typeface="Calibri" pitchFamily="34" charset="-120"/>
              </a:rPr>
              <a:t>Ride out to customers. They need an assigned route, the pickup list for the day and one-tap proof of delivery.</a:t>
            </a:r>
            <a:endParaRPr lang="en-US" sz="1250" dirty="0"/>
          </a:p>
        </p:txBody>
      </p:sp>
      <p:sp>
        <p:nvSpPr>
          <p:cNvPr id="14" name="Shape 10"/>
          <p:cNvSpPr/>
          <p:nvPr/>
        </p:nvSpPr>
        <p:spPr>
          <a:xfrm>
            <a:off x="8193024" y="1691640"/>
            <a:ext cx="3474720" cy="4160520"/>
          </a:xfrm>
          <a:prstGeom prst="roundRect">
            <a:avLst>
              <a:gd name="adj" fmla="val 2368"/>
            </a:avLst>
          </a:prstGeom>
          <a:solidFill>
            <a:srgbClr val="F1F7FA"/>
          </a:solidFill>
          <a:ln w="12700">
            <a:solidFill>
              <a:srgbClr val="E1EAF0"/>
            </a:solidFill>
            <a:prstDash val="solid"/>
          </a:ln>
          <a:effectLst>
            <a:outerShdw sx="100000" sy="100000" kx="0" ky="0" algn="bl" rotWithShape="0" blurRad="127000" dist="25400" dir="5400000">
              <a:srgbClr val="9FB4C2">
                <a:alpha val="35000"/>
              </a:srgbClr>
            </a:outerShdw>
          </a:effectLst>
        </p:spPr>
      </p:sp>
      <p:sp>
        <p:nvSpPr>
          <p:cNvPr id="15" name="Shape 11"/>
          <p:cNvSpPr/>
          <p:nvPr/>
        </p:nvSpPr>
        <p:spPr>
          <a:xfrm>
            <a:off x="9400032" y="2057400"/>
            <a:ext cx="1051560" cy="1051560"/>
          </a:xfrm>
          <a:prstGeom prst="ellipse">
            <a:avLst/>
          </a:prstGeom>
          <a:solidFill>
            <a:srgbClr val="02C39A"/>
          </a:solidFill>
          <a:ln w="12700">
            <a:solidFill>
              <a:srgbClr val="02C39A"/>
            </a:solidFill>
            <a:prstDash val="solid"/>
          </a:ln>
        </p:spPr>
      </p:sp>
      <p:pic>
        <p:nvPicPr>
          <p:cNvPr id="16" name="Image 2" descr="preencoded.png">    </p:cNvPr>
          <p:cNvPicPr>
            <a:picLocks noChangeAspect="1"/>
          </p:cNvPicPr>
          <p:nvPr/>
        </p:nvPicPr>
        <p:blipFill>
          <a:blip r:embed="rId3"/>
          <a:stretch>
            <a:fillRect/>
          </a:stretch>
        </p:blipFill>
        <p:spPr>
          <a:xfrm>
            <a:off x="9673438" y="2330806"/>
            <a:ext cx="504749" cy="504749"/>
          </a:xfrm>
          <a:prstGeom prst="rect">
            <a:avLst/>
          </a:prstGeom>
        </p:spPr>
      </p:pic>
      <p:sp>
        <p:nvSpPr>
          <p:cNvPr id="17" name="Text 12"/>
          <p:cNvSpPr/>
          <p:nvPr/>
        </p:nvSpPr>
        <p:spPr>
          <a:xfrm>
            <a:off x="8467344" y="3310128"/>
            <a:ext cx="2926080" cy="685800"/>
          </a:xfrm>
          <a:prstGeom prst="rect">
            <a:avLst/>
          </a:prstGeom>
          <a:noFill/>
          <a:ln/>
        </p:spPr>
        <p:txBody>
          <a:bodyPr wrap="square" lIns="0" tIns="0" rIns="0" bIns="0" rtlCol="0" anchor="ctr"/>
          <a:lstStyle/>
          <a:p>
            <a:pPr algn="ctr" indent="0" marL="0">
              <a:lnSpc>
                <a:spcPts val="2400"/>
              </a:lnSpc>
              <a:buNone/>
            </a:pPr>
            <a:r>
              <a:rPr lang="en-US" sz="1900" b="1" dirty="0">
                <a:solidFill>
                  <a:srgbClr val="17303F"/>
                </a:solidFill>
                <a:latin typeface="Cambria" pitchFamily="34" charset="0"/>
                <a:ea typeface="Cambria" pitchFamily="34" charset="-122"/>
                <a:cs typeface="Cambria" pitchFamily="34" charset="-120"/>
              </a:rPr>
              <a:t>Customers</a:t>
            </a:r>
            <a:endParaRPr lang="en-US" sz="1900" dirty="0"/>
          </a:p>
        </p:txBody>
      </p:sp>
      <p:sp>
        <p:nvSpPr>
          <p:cNvPr id="18" name="Text 13"/>
          <p:cNvSpPr/>
          <p:nvPr/>
        </p:nvSpPr>
        <p:spPr>
          <a:xfrm>
            <a:off x="8513064" y="3950208"/>
            <a:ext cx="2834640" cy="1463040"/>
          </a:xfrm>
          <a:prstGeom prst="rect">
            <a:avLst/>
          </a:prstGeom>
          <a:noFill/>
          <a:ln/>
        </p:spPr>
        <p:txBody>
          <a:bodyPr wrap="square" lIns="0" tIns="0" rIns="0" bIns="0" rtlCol="0" anchor="ctr"/>
          <a:lstStyle/>
          <a:p>
            <a:pPr algn="ctr" indent="0" marL="0">
              <a:lnSpc>
                <a:spcPts val="1800"/>
              </a:lnSpc>
              <a:buNone/>
            </a:pPr>
            <a:r>
              <a:rPr lang="en-US" sz="1250" dirty="0">
                <a:solidFill>
                  <a:srgbClr val="5C7080"/>
                </a:solidFill>
                <a:latin typeface="Calibri" pitchFamily="34" charset="0"/>
                <a:ea typeface="Calibri" pitchFamily="34" charset="-122"/>
                <a:cs typeface="Calibri" pitchFamily="34" charset="-120"/>
              </a:rPr>
              <a:t>Households and offices. They can place an order, schedule a container pickup and see when the rider is arriving.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02C39A"/>
                </a:solidFill>
                <a:latin typeface="Calibri" pitchFamily="34" charset="0"/>
                <a:ea typeface="Calibri" pitchFamily="34" charset="-122"/>
                <a:cs typeface="Calibri" pitchFamily="34" charset="-120"/>
              </a:rPr>
              <a:t>ONE APP, SEVEN FEATURES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Proposed Solution</a:t>
            </a:r>
            <a:endParaRPr lang="en-US" sz="3400" dirty="0"/>
          </a:p>
        </p:txBody>
      </p:sp>
      <p:sp>
        <p:nvSpPr>
          <p:cNvPr id="4" name="Text 2"/>
          <p:cNvSpPr/>
          <p:nvPr/>
        </p:nvSpPr>
        <p:spPr>
          <a:xfrm>
            <a:off x="640080" y="1417320"/>
            <a:ext cx="8229600" cy="320040"/>
          </a:xfrm>
          <a:prstGeom prst="rect">
            <a:avLst/>
          </a:prstGeom>
          <a:noFill/>
          <a:ln/>
        </p:spPr>
        <p:txBody>
          <a:bodyPr wrap="square" lIns="0" tIns="0" rIns="0" bIns="0" rtlCol="0" anchor="ctr"/>
          <a:lstStyle/>
          <a:p>
            <a:pPr indent="0" marL="0">
              <a:buNone/>
            </a:pPr>
            <a:r>
              <a:rPr lang="en-US" sz="1400" dirty="0">
                <a:solidFill>
                  <a:srgbClr val="8ECAE6"/>
                </a:solidFill>
                <a:latin typeface="Calibri" pitchFamily="34" charset="0"/>
                <a:ea typeface="Calibri" pitchFamily="34" charset="-122"/>
                <a:cs typeface="Calibri" pitchFamily="34" charset="-120"/>
              </a:rPr>
              <a:t>Everything the station writes down today becomes a tap.</a:t>
            </a:r>
            <a:endParaRPr lang="en-US" sz="1400" dirty="0"/>
          </a:p>
        </p:txBody>
      </p:sp>
      <p:sp>
        <p:nvSpPr>
          <p:cNvPr id="5" name="Shape 3"/>
          <p:cNvSpPr/>
          <p:nvPr/>
        </p:nvSpPr>
        <p:spPr>
          <a:xfrm>
            <a:off x="640080" y="1783080"/>
            <a:ext cx="2569464" cy="2103120"/>
          </a:xfrm>
          <a:prstGeom prst="roundRect">
            <a:avLst>
              <a:gd name="adj" fmla="val 3913"/>
            </a:avLst>
          </a:prstGeom>
          <a:solidFill>
            <a:srgbClr val="FFFFFF">
              <a:alpha val="8000"/>
            </a:srgbClr>
          </a:solidFill>
          <a:ln w="12700">
            <a:solidFill>
              <a:srgbClr val="2C4A5E"/>
            </a:solidFill>
            <a:prstDash val="solid"/>
          </a:ln>
        </p:spPr>
      </p:sp>
      <p:sp>
        <p:nvSpPr>
          <p:cNvPr id="6" name="Shape 4"/>
          <p:cNvSpPr/>
          <p:nvPr/>
        </p:nvSpPr>
        <p:spPr>
          <a:xfrm>
            <a:off x="877824" y="1984248"/>
            <a:ext cx="566928" cy="566928"/>
          </a:xfrm>
          <a:prstGeom prst="ellipse">
            <a:avLst/>
          </a:prstGeom>
          <a:solidFill>
            <a:srgbClr val="02C39A"/>
          </a:solidFill>
          <a:ln w="12700">
            <a:solidFill>
              <a:srgbClr val="02C39A"/>
            </a:solidFill>
            <a:prstDash val="solid"/>
          </a:ln>
        </p:spPr>
      </p:sp>
      <p:pic>
        <p:nvPicPr>
          <p:cNvPr id="7" name="Image 0" descr="preencoded.png">    </p:cNvPr>
          <p:cNvPicPr>
            <a:picLocks noChangeAspect="1"/>
          </p:cNvPicPr>
          <p:nvPr/>
        </p:nvPicPr>
        <p:blipFill>
          <a:blip r:embed="rId1"/>
          <a:stretch>
            <a:fillRect/>
          </a:stretch>
        </p:blipFill>
        <p:spPr>
          <a:xfrm>
            <a:off x="1025225" y="2131649"/>
            <a:ext cx="272125" cy="272125"/>
          </a:xfrm>
          <a:prstGeom prst="rect">
            <a:avLst/>
          </a:prstGeom>
        </p:spPr>
      </p:pic>
      <p:sp>
        <p:nvSpPr>
          <p:cNvPr id="8" name="Text 5"/>
          <p:cNvSpPr/>
          <p:nvPr/>
        </p:nvSpPr>
        <p:spPr>
          <a:xfrm>
            <a:off x="877824" y="2624328"/>
            <a:ext cx="2121408"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Smart Routing</a:t>
            </a:r>
            <a:endParaRPr lang="en-US" sz="1500" dirty="0"/>
          </a:p>
        </p:txBody>
      </p:sp>
      <p:sp>
        <p:nvSpPr>
          <p:cNvPr id="9" name="Text 6"/>
          <p:cNvSpPr/>
          <p:nvPr/>
        </p:nvSpPr>
        <p:spPr>
          <a:xfrm>
            <a:off x="877824" y="3154680"/>
            <a:ext cx="2121408" cy="658368"/>
          </a:xfrm>
          <a:prstGeom prst="rect">
            <a:avLst/>
          </a:prstGeom>
          <a:noFill/>
          <a:ln/>
        </p:spPr>
        <p:txBody>
          <a:bodyPr wrap="square" lIns="0" tIns="0" rIns="0" bIns="0" rtlCol="0" anchor="ctr"/>
          <a:lstStyle/>
          <a:p>
            <a:pPr indent="0" marL="0">
              <a:lnSpc>
                <a:spcPts val="1400"/>
              </a:lnSpc>
              <a:buNone/>
            </a:pPr>
            <a:r>
              <a:rPr lang="en-US" sz="1050" dirty="0">
                <a:solidFill>
                  <a:srgbClr val="C6D6E1"/>
                </a:solidFill>
                <a:latin typeface="Calibri" pitchFamily="34" charset="0"/>
                <a:ea typeface="Calibri" pitchFamily="34" charset="-122"/>
                <a:cs typeface="Calibri" pitchFamily="34" charset="-120"/>
              </a:rPr>
              <a:t>Riders routed from the nearest station to the customer.</a:t>
            </a:r>
            <a:endParaRPr lang="en-US" sz="1050" dirty="0"/>
          </a:p>
        </p:txBody>
      </p:sp>
      <p:sp>
        <p:nvSpPr>
          <p:cNvPr id="10" name="Shape 7"/>
          <p:cNvSpPr/>
          <p:nvPr/>
        </p:nvSpPr>
        <p:spPr>
          <a:xfrm>
            <a:off x="3410712" y="1783080"/>
            <a:ext cx="2569464" cy="2103120"/>
          </a:xfrm>
          <a:prstGeom prst="roundRect">
            <a:avLst>
              <a:gd name="adj" fmla="val 3913"/>
            </a:avLst>
          </a:prstGeom>
          <a:solidFill>
            <a:srgbClr val="FFFFFF">
              <a:alpha val="8000"/>
            </a:srgbClr>
          </a:solidFill>
          <a:ln w="12700">
            <a:solidFill>
              <a:srgbClr val="2C4A5E"/>
            </a:solidFill>
            <a:prstDash val="solid"/>
          </a:ln>
        </p:spPr>
      </p:sp>
      <p:sp>
        <p:nvSpPr>
          <p:cNvPr id="11" name="Shape 8"/>
          <p:cNvSpPr/>
          <p:nvPr/>
        </p:nvSpPr>
        <p:spPr>
          <a:xfrm>
            <a:off x="3648456" y="1984248"/>
            <a:ext cx="566928" cy="566928"/>
          </a:xfrm>
          <a:prstGeom prst="ellipse">
            <a:avLst/>
          </a:prstGeom>
          <a:solidFill>
            <a:srgbClr val="8ECAE6"/>
          </a:solidFill>
          <a:ln w="12700">
            <a:solidFill>
              <a:srgbClr val="8ECAE6"/>
            </a:solidFill>
            <a:prstDash val="solid"/>
          </a:ln>
        </p:spPr>
      </p:sp>
      <p:pic>
        <p:nvPicPr>
          <p:cNvPr id="12" name="Image 1" descr="preencoded.png">    </p:cNvPr>
          <p:cNvPicPr>
            <a:picLocks noChangeAspect="1"/>
          </p:cNvPicPr>
          <p:nvPr/>
        </p:nvPicPr>
        <p:blipFill>
          <a:blip r:embed="rId2"/>
          <a:stretch>
            <a:fillRect/>
          </a:stretch>
        </p:blipFill>
        <p:spPr>
          <a:xfrm>
            <a:off x="3795857" y="2131649"/>
            <a:ext cx="272125" cy="272125"/>
          </a:xfrm>
          <a:prstGeom prst="rect">
            <a:avLst/>
          </a:prstGeom>
        </p:spPr>
      </p:pic>
      <p:sp>
        <p:nvSpPr>
          <p:cNvPr id="13" name="Text 9"/>
          <p:cNvSpPr/>
          <p:nvPr/>
        </p:nvSpPr>
        <p:spPr>
          <a:xfrm>
            <a:off x="3648456" y="2624328"/>
            <a:ext cx="2121408"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Pickup Scheduling</a:t>
            </a:r>
            <a:endParaRPr lang="en-US" sz="1500" dirty="0"/>
          </a:p>
        </p:txBody>
      </p:sp>
      <p:sp>
        <p:nvSpPr>
          <p:cNvPr id="14" name="Text 10"/>
          <p:cNvSpPr/>
          <p:nvPr/>
        </p:nvSpPr>
        <p:spPr>
          <a:xfrm>
            <a:off x="3648456" y="3154680"/>
            <a:ext cx="2121408" cy="658368"/>
          </a:xfrm>
          <a:prstGeom prst="rect">
            <a:avLst/>
          </a:prstGeom>
          <a:noFill/>
          <a:ln/>
        </p:spPr>
        <p:txBody>
          <a:bodyPr wrap="square" lIns="0" tIns="0" rIns="0" bIns="0" rtlCol="0" anchor="ctr"/>
          <a:lstStyle/>
          <a:p>
            <a:pPr indent="0" marL="0">
              <a:lnSpc>
                <a:spcPts val="1400"/>
              </a:lnSpc>
              <a:buNone/>
            </a:pPr>
            <a:r>
              <a:rPr lang="en-US" sz="1050" dirty="0">
                <a:solidFill>
                  <a:srgbClr val="C6D6E1"/>
                </a:solidFill>
                <a:latin typeface="Calibri" pitchFamily="34" charset="0"/>
                <a:ea typeface="Calibri" pitchFamily="34" charset="-122"/>
                <a:cs typeface="Calibri" pitchFamily="34" charset="-120"/>
              </a:rPr>
              <a:t>Customers book the day and slot for empty containers.</a:t>
            </a:r>
            <a:endParaRPr lang="en-US" sz="1050" dirty="0"/>
          </a:p>
        </p:txBody>
      </p:sp>
      <p:sp>
        <p:nvSpPr>
          <p:cNvPr id="15" name="Shape 11"/>
          <p:cNvSpPr/>
          <p:nvPr/>
        </p:nvSpPr>
        <p:spPr>
          <a:xfrm>
            <a:off x="6181344" y="1783080"/>
            <a:ext cx="2569464" cy="2103120"/>
          </a:xfrm>
          <a:prstGeom prst="roundRect">
            <a:avLst>
              <a:gd name="adj" fmla="val 3913"/>
            </a:avLst>
          </a:prstGeom>
          <a:solidFill>
            <a:srgbClr val="FFFFFF">
              <a:alpha val="8000"/>
            </a:srgbClr>
          </a:solidFill>
          <a:ln w="12700">
            <a:solidFill>
              <a:srgbClr val="2C4A5E"/>
            </a:solidFill>
            <a:prstDash val="solid"/>
          </a:ln>
        </p:spPr>
      </p:sp>
      <p:sp>
        <p:nvSpPr>
          <p:cNvPr id="16" name="Shape 12"/>
          <p:cNvSpPr/>
          <p:nvPr/>
        </p:nvSpPr>
        <p:spPr>
          <a:xfrm>
            <a:off x="6419088" y="1984248"/>
            <a:ext cx="566928" cy="566928"/>
          </a:xfrm>
          <a:prstGeom prst="ellipse">
            <a:avLst/>
          </a:prstGeom>
          <a:solidFill>
            <a:srgbClr val="02C39A"/>
          </a:solidFill>
          <a:ln w="12700">
            <a:solidFill>
              <a:srgbClr val="02C39A"/>
            </a:solidFill>
            <a:prstDash val="solid"/>
          </a:ln>
        </p:spPr>
      </p:sp>
      <p:pic>
        <p:nvPicPr>
          <p:cNvPr id="17" name="Image 2" descr="preencoded.png">    </p:cNvPr>
          <p:cNvPicPr>
            <a:picLocks noChangeAspect="1"/>
          </p:cNvPicPr>
          <p:nvPr/>
        </p:nvPicPr>
        <p:blipFill>
          <a:blip r:embed="rId3"/>
          <a:stretch>
            <a:fillRect/>
          </a:stretch>
        </p:blipFill>
        <p:spPr>
          <a:xfrm>
            <a:off x="6566489" y="2131649"/>
            <a:ext cx="272125" cy="272125"/>
          </a:xfrm>
          <a:prstGeom prst="rect">
            <a:avLst/>
          </a:prstGeom>
        </p:spPr>
      </p:pic>
      <p:sp>
        <p:nvSpPr>
          <p:cNvPr id="18" name="Text 13"/>
          <p:cNvSpPr/>
          <p:nvPr/>
        </p:nvSpPr>
        <p:spPr>
          <a:xfrm>
            <a:off x="6419088" y="2624328"/>
            <a:ext cx="2121408"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One-Click Ordering</a:t>
            </a:r>
            <a:endParaRPr lang="en-US" sz="1500" dirty="0"/>
          </a:p>
        </p:txBody>
      </p:sp>
      <p:sp>
        <p:nvSpPr>
          <p:cNvPr id="19" name="Text 14"/>
          <p:cNvSpPr/>
          <p:nvPr/>
        </p:nvSpPr>
        <p:spPr>
          <a:xfrm>
            <a:off x="6419088" y="3154680"/>
            <a:ext cx="2121408" cy="658368"/>
          </a:xfrm>
          <a:prstGeom prst="rect">
            <a:avLst/>
          </a:prstGeom>
          <a:noFill/>
          <a:ln/>
        </p:spPr>
        <p:txBody>
          <a:bodyPr wrap="square" lIns="0" tIns="0" rIns="0" bIns="0" rtlCol="0" anchor="ctr"/>
          <a:lstStyle/>
          <a:p>
            <a:pPr indent="0" marL="0">
              <a:lnSpc>
                <a:spcPts val="1400"/>
              </a:lnSpc>
              <a:buNone/>
            </a:pPr>
            <a:r>
              <a:rPr lang="en-US" sz="1050" dirty="0">
                <a:solidFill>
                  <a:srgbClr val="C6D6E1"/>
                </a:solidFill>
                <a:latin typeface="Calibri" pitchFamily="34" charset="0"/>
                <a:ea typeface="Calibri" pitchFamily="34" charset="-122"/>
                <a:cs typeface="Calibri" pitchFamily="34" charset="-120"/>
              </a:rPr>
              <a:t>Saved profiles and preset sizes replace manual inputs.</a:t>
            </a:r>
            <a:endParaRPr lang="en-US" sz="1050" dirty="0"/>
          </a:p>
        </p:txBody>
      </p:sp>
      <p:sp>
        <p:nvSpPr>
          <p:cNvPr id="20" name="Shape 15"/>
          <p:cNvSpPr/>
          <p:nvPr/>
        </p:nvSpPr>
        <p:spPr>
          <a:xfrm>
            <a:off x="8951976" y="1783080"/>
            <a:ext cx="2569464" cy="2103120"/>
          </a:xfrm>
          <a:prstGeom prst="roundRect">
            <a:avLst>
              <a:gd name="adj" fmla="val 3913"/>
            </a:avLst>
          </a:prstGeom>
          <a:solidFill>
            <a:srgbClr val="FFFFFF">
              <a:alpha val="8000"/>
            </a:srgbClr>
          </a:solidFill>
          <a:ln w="12700">
            <a:solidFill>
              <a:srgbClr val="2C4A5E"/>
            </a:solidFill>
            <a:prstDash val="solid"/>
          </a:ln>
        </p:spPr>
      </p:sp>
      <p:sp>
        <p:nvSpPr>
          <p:cNvPr id="21" name="Shape 16"/>
          <p:cNvSpPr/>
          <p:nvPr/>
        </p:nvSpPr>
        <p:spPr>
          <a:xfrm>
            <a:off x="9189720" y="1984248"/>
            <a:ext cx="566928" cy="566928"/>
          </a:xfrm>
          <a:prstGeom prst="ellipse">
            <a:avLst/>
          </a:prstGeom>
          <a:solidFill>
            <a:srgbClr val="8ECAE6"/>
          </a:solidFill>
          <a:ln w="12700">
            <a:solidFill>
              <a:srgbClr val="8ECAE6"/>
            </a:solidFill>
            <a:prstDash val="solid"/>
          </a:ln>
        </p:spPr>
      </p:sp>
      <p:pic>
        <p:nvPicPr>
          <p:cNvPr id="22" name="Image 3" descr="preencoded.png">    </p:cNvPr>
          <p:cNvPicPr>
            <a:picLocks noChangeAspect="1"/>
          </p:cNvPicPr>
          <p:nvPr/>
        </p:nvPicPr>
        <p:blipFill>
          <a:blip r:embed="rId4"/>
          <a:stretch>
            <a:fillRect/>
          </a:stretch>
        </p:blipFill>
        <p:spPr>
          <a:xfrm>
            <a:off x="9337121" y="2131649"/>
            <a:ext cx="272125" cy="272125"/>
          </a:xfrm>
          <a:prstGeom prst="rect">
            <a:avLst/>
          </a:prstGeom>
        </p:spPr>
      </p:pic>
      <p:sp>
        <p:nvSpPr>
          <p:cNvPr id="23" name="Text 17"/>
          <p:cNvSpPr/>
          <p:nvPr/>
        </p:nvSpPr>
        <p:spPr>
          <a:xfrm>
            <a:off x="9189720" y="2624328"/>
            <a:ext cx="2121408"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POS &amp; Profit Tracking</a:t>
            </a:r>
            <a:endParaRPr lang="en-US" sz="1500" dirty="0"/>
          </a:p>
        </p:txBody>
      </p:sp>
      <p:sp>
        <p:nvSpPr>
          <p:cNvPr id="24" name="Text 18"/>
          <p:cNvSpPr/>
          <p:nvPr/>
        </p:nvSpPr>
        <p:spPr>
          <a:xfrm>
            <a:off x="9189720" y="3154680"/>
            <a:ext cx="2121408" cy="658368"/>
          </a:xfrm>
          <a:prstGeom prst="rect">
            <a:avLst/>
          </a:prstGeom>
          <a:noFill/>
          <a:ln/>
        </p:spPr>
        <p:txBody>
          <a:bodyPr wrap="square" lIns="0" tIns="0" rIns="0" bIns="0" rtlCol="0" anchor="ctr"/>
          <a:lstStyle/>
          <a:p>
            <a:pPr indent="0" marL="0">
              <a:lnSpc>
                <a:spcPts val="1400"/>
              </a:lnSpc>
              <a:buNone/>
            </a:pPr>
            <a:r>
              <a:rPr lang="en-US" sz="1050" dirty="0">
                <a:solidFill>
                  <a:srgbClr val="C6D6E1"/>
                </a:solidFill>
                <a:latin typeface="Calibri" pitchFamily="34" charset="0"/>
                <a:ea typeface="Calibri" pitchFamily="34" charset="-122"/>
                <a:cs typeface="Calibri" pitchFamily="34" charset="-120"/>
              </a:rPr>
              <a:t>Every refill priced and logged; profit stays current.</a:t>
            </a:r>
            <a:endParaRPr lang="en-US" sz="1050" dirty="0"/>
          </a:p>
        </p:txBody>
      </p:sp>
      <p:sp>
        <p:nvSpPr>
          <p:cNvPr id="25" name="Shape 19"/>
          <p:cNvSpPr/>
          <p:nvPr/>
        </p:nvSpPr>
        <p:spPr>
          <a:xfrm>
            <a:off x="640080" y="4069080"/>
            <a:ext cx="2569464" cy="2103120"/>
          </a:xfrm>
          <a:prstGeom prst="roundRect">
            <a:avLst>
              <a:gd name="adj" fmla="val 3913"/>
            </a:avLst>
          </a:prstGeom>
          <a:solidFill>
            <a:srgbClr val="FFFFFF">
              <a:alpha val="8000"/>
            </a:srgbClr>
          </a:solidFill>
          <a:ln w="12700">
            <a:solidFill>
              <a:srgbClr val="2C4A5E"/>
            </a:solidFill>
            <a:prstDash val="solid"/>
          </a:ln>
        </p:spPr>
      </p:sp>
      <p:sp>
        <p:nvSpPr>
          <p:cNvPr id="26" name="Shape 20"/>
          <p:cNvSpPr/>
          <p:nvPr/>
        </p:nvSpPr>
        <p:spPr>
          <a:xfrm>
            <a:off x="877824" y="4270248"/>
            <a:ext cx="566928" cy="566928"/>
          </a:xfrm>
          <a:prstGeom prst="ellipse">
            <a:avLst/>
          </a:prstGeom>
          <a:solidFill>
            <a:srgbClr val="02C39A"/>
          </a:solidFill>
          <a:ln w="12700">
            <a:solidFill>
              <a:srgbClr val="02C39A"/>
            </a:solidFill>
            <a:prstDash val="solid"/>
          </a:ln>
        </p:spPr>
      </p:sp>
      <p:pic>
        <p:nvPicPr>
          <p:cNvPr id="27" name="Image 4" descr="preencoded.png">    </p:cNvPr>
          <p:cNvPicPr>
            <a:picLocks noChangeAspect="1"/>
          </p:cNvPicPr>
          <p:nvPr/>
        </p:nvPicPr>
        <p:blipFill>
          <a:blip r:embed="rId5"/>
          <a:stretch>
            <a:fillRect/>
          </a:stretch>
        </p:blipFill>
        <p:spPr>
          <a:xfrm>
            <a:off x="1025225" y="4417649"/>
            <a:ext cx="272125" cy="272125"/>
          </a:xfrm>
          <a:prstGeom prst="rect">
            <a:avLst/>
          </a:prstGeom>
        </p:spPr>
      </p:pic>
      <p:sp>
        <p:nvSpPr>
          <p:cNvPr id="28" name="Text 21"/>
          <p:cNvSpPr/>
          <p:nvPr/>
        </p:nvSpPr>
        <p:spPr>
          <a:xfrm>
            <a:off x="877824" y="4910328"/>
            <a:ext cx="2121408"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Photo Container Count</a:t>
            </a:r>
            <a:endParaRPr lang="en-US" sz="1500" dirty="0"/>
          </a:p>
        </p:txBody>
      </p:sp>
      <p:sp>
        <p:nvSpPr>
          <p:cNvPr id="29" name="Text 22"/>
          <p:cNvSpPr/>
          <p:nvPr/>
        </p:nvSpPr>
        <p:spPr>
          <a:xfrm>
            <a:off x="877824" y="5440680"/>
            <a:ext cx="2121408" cy="658368"/>
          </a:xfrm>
          <a:prstGeom prst="rect">
            <a:avLst/>
          </a:prstGeom>
          <a:noFill/>
          <a:ln/>
        </p:spPr>
        <p:txBody>
          <a:bodyPr wrap="square" lIns="0" tIns="0" rIns="0" bIns="0" rtlCol="0" anchor="ctr"/>
          <a:lstStyle/>
          <a:p>
            <a:pPr indent="0" marL="0">
              <a:lnSpc>
                <a:spcPts val="1400"/>
              </a:lnSpc>
              <a:buNone/>
            </a:pPr>
            <a:r>
              <a:rPr lang="en-US" sz="1050" dirty="0">
                <a:solidFill>
                  <a:srgbClr val="C6D6E1"/>
                </a:solidFill>
                <a:latin typeface="Calibri" pitchFamily="34" charset="0"/>
                <a:ea typeface="Calibri" pitchFamily="34" charset="-122"/>
                <a:cs typeface="Calibri" pitchFamily="34" charset="-120"/>
              </a:rPr>
              <a:t>One photo counts the whole load on the spot.</a:t>
            </a:r>
            <a:endParaRPr lang="en-US" sz="1050" dirty="0"/>
          </a:p>
        </p:txBody>
      </p:sp>
      <p:sp>
        <p:nvSpPr>
          <p:cNvPr id="30" name="Shape 23"/>
          <p:cNvSpPr/>
          <p:nvPr/>
        </p:nvSpPr>
        <p:spPr>
          <a:xfrm>
            <a:off x="3410712" y="4069080"/>
            <a:ext cx="2569464" cy="2103120"/>
          </a:xfrm>
          <a:prstGeom prst="roundRect">
            <a:avLst>
              <a:gd name="adj" fmla="val 3913"/>
            </a:avLst>
          </a:prstGeom>
          <a:solidFill>
            <a:srgbClr val="FFFFFF">
              <a:alpha val="8000"/>
            </a:srgbClr>
          </a:solidFill>
          <a:ln w="12700">
            <a:solidFill>
              <a:srgbClr val="2C4A5E"/>
            </a:solidFill>
            <a:prstDash val="solid"/>
          </a:ln>
        </p:spPr>
      </p:sp>
      <p:sp>
        <p:nvSpPr>
          <p:cNvPr id="31" name="Shape 24"/>
          <p:cNvSpPr/>
          <p:nvPr/>
        </p:nvSpPr>
        <p:spPr>
          <a:xfrm>
            <a:off x="3648456" y="4270248"/>
            <a:ext cx="566928" cy="566928"/>
          </a:xfrm>
          <a:prstGeom prst="ellipse">
            <a:avLst/>
          </a:prstGeom>
          <a:solidFill>
            <a:srgbClr val="8ECAE6"/>
          </a:solidFill>
          <a:ln w="12700">
            <a:solidFill>
              <a:srgbClr val="8ECAE6"/>
            </a:solidFill>
            <a:prstDash val="solid"/>
          </a:ln>
        </p:spPr>
      </p:sp>
      <p:pic>
        <p:nvPicPr>
          <p:cNvPr id="32" name="Image 5" descr="preencoded.png">    </p:cNvPr>
          <p:cNvPicPr>
            <a:picLocks noChangeAspect="1"/>
          </p:cNvPicPr>
          <p:nvPr/>
        </p:nvPicPr>
        <p:blipFill>
          <a:blip r:embed="rId6"/>
          <a:stretch>
            <a:fillRect/>
          </a:stretch>
        </p:blipFill>
        <p:spPr>
          <a:xfrm>
            <a:off x="3795857" y="4417649"/>
            <a:ext cx="272125" cy="272125"/>
          </a:xfrm>
          <a:prstGeom prst="rect">
            <a:avLst/>
          </a:prstGeom>
        </p:spPr>
      </p:pic>
      <p:sp>
        <p:nvSpPr>
          <p:cNvPr id="33" name="Text 25"/>
          <p:cNvSpPr/>
          <p:nvPr/>
        </p:nvSpPr>
        <p:spPr>
          <a:xfrm>
            <a:off x="3648456" y="4910328"/>
            <a:ext cx="2121408"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Automatic Invoicing</a:t>
            </a:r>
            <a:endParaRPr lang="en-US" sz="1500" dirty="0"/>
          </a:p>
        </p:txBody>
      </p:sp>
      <p:sp>
        <p:nvSpPr>
          <p:cNvPr id="34" name="Text 26"/>
          <p:cNvSpPr/>
          <p:nvPr/>
        </p:nvSpPr>
        <p:spPr>
          <a:xfrm>
            <a:off x="3648456" y="5440680"/>
            <a:ext cx="2121408" cy="658368"/>
          </a:xfrm>
          <a:prstGeom prst="rect">
            <a:avLst/>
          </a:prstGeom>
          <a:noFill/>
          <a:ln/>
        </p:spPr>
        <p:txBody>
          <a:bodyPr wrap="square" lIns="0" tIns="0" rIns="0" bIns="0" rtlCol="0" anchor="ctr"/>
          <a:lstStyle/>
          <a:p>
            <a:pPr indent="0" marL="0">
              <a:lnSpc>
                <a:spcPts val="1400"/>
              </a:lnSpc>
              <a:buNone/>
            </a:pPr>
            <a:r>
              <a:rPr lang="en-US" sz="1050" dirty="0">
                <a:solidFill>
                  <a:srgbClr val="C6D6E1"/>
                </a:solidFill>
                <a:latin typeface="Calibri" pitchFamily="34" charset="0"/>
                <a:ea typeface="Calibri" pitchFamily="34" charset="-122"/>
                <a:cs typeface="Calibri" pitchFamily="34" charset="-120"/>
              </a:rPr>
              <a:t>The count becomes an invoice before the trip leaves.</a:t>
            </a:r>
            <a:endParaRPr lang="en-US" sz="1050" dirty="0"/>
          </a:p>
        </p:txBody>
      </p:sp>
      <p:sp>
        <p:nvSpPr>
          <p:cNvPr id="35" name="Shape 27"/>
          <p:cNvSpPr/>
          <p:nvPr/>
        </p:nvSpPr>
        <p:spPr>
          <a:xfrm>
            <a:off x="6181344" y="4069080"/>
            <a:ext cx="2569464" cy="2103120"/>
          </a:xfrm>
          <a:prstGeom prst="roundRect">
            <a:avLst>
              <a:gd name="adj" fmla="val 3913"/>
            </a:avLst>
          </a:prstGeom>
          <a:solidFill>
            <a:srgbClr val="FFFFFF">
              <a:alpha val="8000"/>
            </a:srgbClr>
          </a:solidFill>
          <a:ln w="12700">
            <a:solidFill>
              <a:srgbClr val="2C4A5E"/>
            </a:solidFill>
            <a:prstDash val="solid"/>
          </a:ln>
        </p:spPr>
      </p:sp>
      <p:sp>
        <p:nvSpPr>
          <p:cNvPr id="36" name="Shape 28"/>
          <p:cNvSpPr/>
          <p:nvPr/>
        </p:nvSpPr>
        <p:spPr>
          <a:xfrm>
            <a:off x="6419088" y="4270248"/>
            <a:ext cx="566928" cy="566928"/>
          </a:xfrm>
          <a:prstGeom prst="ellipse">
            <a:avLst/>
          </a:prstGeom>
          <a:solidFill>
            <a:srgbClr val="02C39A"/>
          </a:solidFill>
          <a:ln w="12700">
            <a:solidFill>
              <a:srgbClr val="02C39A"/>
            </a:solidFill>
            <a:prstDash val="solid"/>
          </a:ln>
        </p:spPr>
      </p:sp>
      <p:pic>
        <p:nvPicPr>
          <p:cNvPr id="37" name="Image 6" descr="preencoded.png">    </p:cNvPr>
          <p:cNvPicPr>
            <a:picLocks noChangeAspect="1"/>
          </p:cNvPicPr>
          <p:nvPr/>
        </p:nvPicPr>
        <p:blipFill>
          <a:blip r:embed="rId7"/>
          <a:stretch>
            <a:fillRect/>
          </a:stretch>
        </p:blipFill>
        <p:spPr>
          <a:xfrm>
            <a:off x="6566489" y="4417649"/>
            <a:ext cx="272125" cy="272125"/>
          </a:xfrm>
          <a:prstGeom prst="rect">
            <a:avLst/>
          </a:prstGeom>
        </p:spPr>
      </p:pic>
      <p:sp>
        <p:nvSpPr>
          <p:cNvPr id="38" name="Text 29"/>
          <p:cNvSpPr/>
          <p:nvPr/>
        </p:nvSpPr>
        <p:spPr>
          <a:xfrm>
            <a:off x="6419088" y="4910328"/>
            <a:ext cx="2121408" cy="502920"/>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Smart Receipts</a:t>
            </a:r>
            <a:endParaRPr lang="en-US" sz="1500" dirty="0"/>
          </a:p>
        </p:txBody>
      </p:sp>
      <p:sp>
        <p:nvSpPr>
          <p:cNvPr id="39" name="Text 30"/>
          <p:cNvSpPr/>
          <p:nvPr/>
        </p:nvSpPr>
        <p:spPr>
          <a:xfrm>
            <a:off x="6419088" y="5440680"/>
            <a:ext cx="2121408" cy="658368"/>
          </a:xfrm>
          <a:prstGeom prst="rect">
            <a:avLst/>
          </a:prstGeom>
          <a:noFill/>
          <a:ln/>
        </p:spPr>
        <p:txBody>
          <a:bodyPr wrap="square" lIns="0" tIns="0" rIns="0" bIns="0" rtlCol="0" anchor="ctr"/>
          <a:lstStyle/>
          <a:p>
            <a:pPr indent="0" marL="0">
              <a:lnSpc>
                <a:spcPts val="1400"/>
              </a:lnSpc>
              <a:buNone/>
            </a:pPr>
            <a:r>
              <a:rPr lang="en-US" sz="1050" dirty="0">
                <a:solidFill>
                  <a:srgbClr val="C6D6E1"/>
                </a:solidFill>
                <a:latin typeface="Calibri" pitchFamily="34" charset="0"/>
                <a:ea typeface="Calibri" pitchFamily="34" charset="-122"/>
                <a:cs typeface="Calibri" pitchFamily="34" charset="-120"/>
              </a:rPr>
              <a:t>Receipt on delivery, worded by payment status.</a:t>
            </a:r>
            <a:endParaRPr lang="en-US" sz="1050" dirty="0"/>
          </a:p>
        </p:txBody>
      </p:sp>
      <p:sp>
        <p:nvSpPr>
          <p:cNvPr id="40" name="Shape 31"/>
          <p:cNvSpPr/>
          <p:nvPr/>
        </p:nvSpPr>
        <p:spPr>
          <a:xfrm>
            <a:off x="8951976" y="4069080"/>
            <a:ext cx="2569464" cy="2103120"/>
          </a:xfrm>
          <a:prstGeom prst="roundRect">
            <a:avLst>
              <a:gd name="adj" fmla="val 3913"/>
            </a:avLst>
          </a:prstGeom>
          <a:solidFill>
            <a:srgbClr val="02C39A"/>
          </a:solidFill>
          <a:ln w="12700">
            <a:solidFill>
              <a:srgbClr val="02C39A"/>
            </a:solidFill>
            <a:prstDash val="solid"/>
          </a:ln>
        </p:spPr>
      </p:sp>
      <p:sp>
        <p:nvSpPr>
          <p:cNvPr id="41" name="Text 32"/>
          <p:cNvSpPr/>
          <p:nvPr/>
        </p:nvSpPr>
        <p:spPr>
          <a:xfrm>
            <a:off x="9189720" y="4572000"/>
            <a:ext cx="2011680" cy="685800"/>
          </a:xfrm>
          <a:prstGeom prst="rect">
            <a:avLst/>
          </a:prstGeom>
          <a:noFill/>
          <a:ln/>
        </p:spPr>
        <p:txBody>
          <a:bodyPr wrap="square" lIns="0" tIns="0" rIns="0" bIns="0" rtlCol="0" anchor="ctr"/>
          <a:lstStyle/>
          <a:p>
            <a:pPr algn="ctr" indent="0" marL="0">
              <a:buNone/>
            </a:pPr>
            <a:r>
              <a:rPr lang="en-US" sz="4000" b="1" dirty="0">
                <a:solidFill>
                  <a:srgbClr val="0A2540"/>
                </a:solidFill>
                <a:latin typeface="Cambria" pitchFamily="34" charset="0"/>
                <a:ea typeface="Cambria" pitchFamily="34" charset="-122"/>
                <a:cs typeface="Cambria" pitchFamily="34" charset="-120"/>
              </a:rPr>
              <a:t>+40</a:t>
            </a:r>
            <a:pPr algn="ctr" indent="0" marL="0">
              <a:buNone/>
            </a:pPr>
            <a:r>
              <a:rPr lang="en-US" sz="2200" b="1" dirty="0">
                <a:solidFill>
                  <a:srgbClr val="0B3D33"/>
                </a:solidFill>
                <a:latin typeface="Cambria" pitchFamily="34" charset="0"/>
                <a:ea typeface="Cambria" pitchFamily="34" charset="-122"/>
                <a:cs typeface="Cambria" pitchFamily="34" charset="-120"/>
              </a:rPr>
              <a:t>%</a:t>
            </a:r>
            <a:endParaRPr lang="en-US" sz="4000" dirty="0"/>
          </a:p>
        </p:txBody>
      </p:sp>
      <p:sp>
        <p:nvSpPr>
          <p:cNvPr id="42" name="Text 33"/>
          <p:cNvSpPr/>
          <p:nvPr/>
        </p:nvSpPr>
        <p:spPr>
          <a:xfrm>
            <a:off x="9189720" y="5230368"/>
            <a:ext cx="2011680" cy="274320"/>
          </a:xfrm>
          <a:prstGeom prst="rect">
            <a:avLst/>
          </a:prstGeom>
          <a:noFill/>
          <a:ln/>
        </p:spPr>
        <p:txBody>
          <a:bodyPr wrap="square" lIns="0" tIns="0" rIns="0" bIns="0" rtlCol="0" anchor="ctr"/>
          <a:lstStyle/>
          <a:p>
            <a:pPr algn="ctr" indent="0" marL="0">
              <a:buNone/>
            </a:pPr>
            <a:r>
              <a:rPr lang="en-US" sz="1200" b="1" dirty="0">
                <a:solidFill>
                  <a:srgbClr val="0B3D33"/>
                </a:solidFill>
                <a:latin typeface="Calibri" pitchFamily="34" charset="0"/>
                <a:ea typeface="Calibri" pitchFamily="34" charset="-122"/>
                <a:cs typeface="Calibri" pitchFamily="34" charset="-120"/>
              </a:rPr>
              <a:t>performance target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FEATURE 01</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Routing to the Nearest Station</a:t>
            </a:r>
            <a:endParaRPr lang="en-US" sz="3400" dirty="0"/>
          </a:p>
        </p:txBody>
      </p:sp>
      <p:sp>
        <p:nvSpPr>
          <p:cNvPr id="4" name="Shape 2"/>
          <p:cNvSpPr/>
          <p:nvPr/>
        </p:nvSpPr>
        <p:spPr>
          <a:xfrm>
            <a:off x="640080" y="1691640"/>
            <a:ext cx="6309360" cy="4114800"/>
          </a:xfrm>
          <a:prstGeom prst="roundRect">
            <a:avLst>
              <a:gd name="adj" fmla="val 2000"/>
            </a:avLst>
          </a:prstGeom>
          <a:solidFill>
            <a:srgbClr val="E9F2F6"/>
          </a:solidFill>
          <a:ln w="12700">
            <a:solidFill>
              <a:srgbClr val="D3E2EA"/>
            </a:solidFill>
            <a:prstDash val="solid"/>
          </a:ln>
        </p:spPr>
      </p:sp>
      <p:sp>
        <p:nvSpPr>
          <p:cNvPr id="5" name="Shape 3"/>
          <p:cNvSpPr/>
          <p:nvPr/>
        </p:nvSpPr>
        <p:spPr>
          <a:xfrm>
            <a:off x="640080" y="2286000"/>
            <a:ext cx="6309360" cy="50292"/>
          </a:xfrm>
          <a:prstGeom prst="rect">
            <a:avLst/>
          </a:prstGeom>
          <a:solidFill>
            <a:srgbClr val="FFFFFF"/>
          </a:solidFill>
          <a:ln w="12700">
            <a:solidFill>
              <a:srgbClr val="FFFFFF"/>
            </a:solidFill>
            <a:prstDash val="solid"/>
          </a:ln>
        </p:spPr>
      </p:sp>
      <p:sp>
        <p:nvSpPr>
          <p:cNvPr id="6" name="Shape 4"/>
          <p:cNvSpPr/>
          <p:nvPr/>
        </p:nvSpPr>
        <p:spPr>
          <a:xfrm>
            <a:off x="640080" y="3154680"/>
            <a:ext cx="6309360" cy="50292"/>
          </a:xfrm>
          <a:prstGeom prst="rect">
            <a:avLst/>
          </a:prstGeom>
          <a:solidFill>
            <a:srgbClr val="FFFFFF"/>
          </a:solidFill>
          <a:ln w="12700">
            <a:solidFill>
              <a:srgbClr val="FFFFFF"/>
            </a:solidFill>
            <a:prstDash val="solid"/>
          </a:ln>
        </p:spPr>
      </p:sp>
      <p:sp>
        <p:nvSpPr>
          <p:cNvPr id="7" name="Shape 5"/>
          <p:cNvSpPr/>
          <p:nvPr/>
        </p:nvSpPr>
        <p:spPr>
          <a:xfrm>
            <a:off x="640080" y="4023360"/>
            <a:ext cx="6309360" cy="50292"/>
          </a:xfrm>
          <a:prstGeom prst="rect">
            <a:avLst/>
          </a:prstGeom>
          <a:solidFill>
            <a:srgbClr val="FFFFFF"/>
          </a:solidFill>
          <a:ln w="12700">
            <a:solidFill>
              <a:srgbClr val="FFFFFF"/>
            </a:solidFill>
            <a:prstDash val="solid"/>
          </a:ln>
        </p:spPr>
      </p:sp>
      <p:sp>
        <p:nvSpPr>
          <p:cNvPr id="8" name="Shape 6"/>
          <p:cNvSpPr/>
          <p:nvPr/>
        </p:nvSpPr>
        <p:spPr>
          <a:xfrm>
            <a:off x="640080" y="4892040"/>
            <a:ext cx="6309360" cy="50292"/>
          </a:xfrm>
          <a:prstGeom prst="rect">
            <a:avLst/>
          </a:prstGeom>
          <a:solidFill>
            <a:srgbClr val="FFFFFF"/>
          </a:solidFill>
          <a:ln w="12700">
            <a:solidFill>
              <a:srgbClr val="FFFFFF"/>
            </a:solidFill>
            <a:prstDash val="solid"/>
          </a:ln>
        </p:spPr>
      </p:sp>
      <p:sp>
        <p:nvSpPr>
          <p:cNvPr id="9" name="Shape 7"/>
          <p:cNvSpPr/>
          <p:nvPr/>
        </p:nvSpPr>
        <p:spPr>
          <a:xfrm>
            <a:off x="1234440" y="1691640"/>
            <a:ext cx="50292" cy="4114800"/>
          </a:xfrm>
          <a:prstGeom prst="rect">
            <a:avLst/>
          </a:prstGeom>
          <a:solidFill>
            <a:srgbClr val="FFFFFF"/>
          </a:solidFill>
          <a:ln w="12700">
            <a:solidFill>
              <a:srgbClr val="FFFFFF"/>
            </a:solidFill>
            <a:prstDash val="solid"/>
          </a:ln>
        </p:spPr>
      </p:sp>
      <p:sp>
        <p:nvSpPr>
          <p:cNvPr id="10" name="Shape 8"/>
          <p:cNvSpPr/>
          <p:nvPr/>
        </p:nvSpPr>
        <p:spPr>
          <a:xfrm>
            <a:off x="2377440" y="1691640"/>
            <a:ext cx="50292" cy="4114800"/>
          </a:xfrm>
          <a:prstGeom prst="rect">
            <a:avLst/>
          </a:prstGeom>
          <a:solidFill>
            <a:srgbClr val="FFFFFF"/>
          </a:solidFill>
          <a:ln w="12700">
            <a:solidFill>
              <a:srgbClr val="FFFFFF"/>
            </a:solidFill>
            <a:prstDash val="solid"/>
          </a:ln>
        </p:spPr>
      </p:sp>
      <p:sp>
        <p:nvSpPr>
          <p:cNvPr id="11" name="Shape 9"/>
          <p:cNvSpPr/>
          <p:nvPr/>
        </p:nvSpPr>
        <p:spPr>
          <a:xfrm>
            <a:off x="3520440" y="1691640"/>
            <a:ext cx="50292" cy="4114800"/>
          </a:xfrm>
          <a:prstGeom prst="rect">
            <a:avLst/>
          </a:prstGeom>
          <a:solidFill>
            <a:srgbClr val="FFFFFF"/>
          </a:solidFill>
          <a:ln w="12700">
            <a:solidFill>
              <a:srgbClr val="FFFFFF"/>
            </a:solidFill>
            <a:prstDash val="solid"/>
          </a:ln>
        </p:spPr>
      </p:sp>
      <p:sp>
        <p:nvSpPr>
          <p:cNvPr id="12" name="Shape 10"/>
          <p:cNvSpPr/>
          <p:nvPr/>
        </p:nvSpPr>
        <p:spPr>
          <a:xfrm>
            <a:off x="4663440" y="1691640"/>
            <a:ext cx="50292" cy="4114800"/>
          </a:xfrm>
          <a:prstGeom prst="rect">
            <a:avLst/>
          </a:prstGeom>
          <a:solidFill>
            <a:srgbClr val="FFFFFF"/>
          </a:solidFill>
          <a:ln w="12700">
            <a:solidFill>
              <a:srgbClr val="FFFFFF"/>
            </a:solidFill>
            <a:prstDash val="solid"/>
          </a:ln>
        </p:spPr>
      </p:sp>
      <p:sp>
        <p:nvSpPr>
          <p:cNvPr id="13" name="Shape 11"/>
          <p:cNvSpPr/>
          <p:nvPr/>
        </p:nvSpPr>
        <p:spPr>
          <a:xfrm>
            <a:off x="5806440" y="1691640"/>
            <a:ext cx="50292" cy="4114800"/>
          </a:xfrm>
          <a:prstGeom prst="rect">
            <a:avLst/>
          </a:prstGeom>
          <a:solidFill>
            <a:srgbClr val="FFFFFF"/>
          </a:solidFill>
          <a:ln w="12700">
            <a:solidFill>
              <a:srgbClr val="FFFFFF"/>
            </a:solidFill>
            <a:prstDash val="solid"/>
          </a:ln>
        </p:spPr>
      </p:sp>
      <p:sp>
        <p:nvSpPr>
          <p:cNvPr id="14" name="Shape 12"/>
          <p:cNvSpPr/>
          <p:nvPr/>
        </p:nvSpPr>
        <p:spPr>
          <a:xfrm>
            <a:off x="1874520" y="3291840"/>
            <a:ext cx="0" cy="1417320"/>
          </a:xfrm>
          <a:prstGeom prst="line">
            <a:avLst/>
          </a:prstGeom>
          <a:noFill/>
          <a:ln w="31750">
            <a:solidFill>
              <a:srgbClr val="065A82"/>
            </a:solidFill>
            <a:prstDash val="dash"/>
          </a:ln>
        </p:spPr>
      </p:sp>
      <p:sp>
        <p:nvSpPr>
          <p:cNvPr id="15" name="Shape 13"/>
          <p:cNvSpPr/>
          <p:nvPr/>
        </p:nvSpPr>
        <p:spPr>
          <a:xfrm>
            <a:off x="1874520" y="3291840"/>
            <a:ext cx="1920240" cy="0"/>
          </a:xfrm>
          <a:prstGeom prst="line">
            <a:avLst/>
          </a:prstGeom>
          <a:noFill/>
          <a:ln w="31750">
            <a:solidFill>
              <a:srgbClr val="065A82"/>
            </a:solidFill>
            <a:prstDash val="dash"/>
          </a:ln>
        </p:spPr>
      </p:sp>
      <p:sp>
        <p:nvSpPr>
          <p:cNvPr id="16" name="Shape 14"/>
          <p:cNvSpPr/>
          <p:nvPr/>
        </p:nvSpPr>
        <p:spPr>
          <a:xfrm>
            <a:off x="3794760" y="2377440"/>
            <a:ext cx="0" cy="914400"/>
          </a:xfrm>
          <a:prstGeom prst="line">
            <a:avLst/>
          </a:prstGeom>
          <a:noFill/>
          <a:ln w="31750">
            <a:solidFill>
              <a:srgbClr val="065A82"/>
            </a:solidFill>
            <a:prstDash val="dash"/>
          </a:ln>
        </p:spPr>
      </p:sp>
      <p:sp>
        <p:nvSpPr>
          <p:cNvPr id="17" name="Shape 15"/>
          <p:cNvSpPr/>
          <p:nvPr/>
        </p:nvSpPr>
        <p:spPr>
          <a:xfrm>
            <a:off x="3794760" y="3291840"/>
            <a:ext cx="1737360" cy="0"/>
          </a:xfrm>
          <a:prstGeom prst="line">
            <a:avLst/>
          </a:prstGeom>
          <a:noFill/>
          <a:ln w="31750">
            <a:solidFill>
              <a:srgbClr val="065A82"/>
            </a:solidFill>
            <a:prstDash val="dash"/>
          </a:ln>
        </p:spPr>
      </p:sp>
      <p:sp>
        <p:nvSpPr>
          <p:cNvPr id="18" name="Shape 16"/>
          <p:cNvSpPr/>
          <p:nvPr/>
        </p:nvSpPr>
        <p:spPr>
          <a:xfrm>
            <a:off x="5532120" y="3291840"/>
            <a:ext cx="0" cy="1371600"/>
          </a:xfrm>
          <a:prstGeom prst="line">
            <a:avLst/>
          </a:prstGeom>
          <a:noFill/>
          <a:ln w="31750">
            <a:solidFill>
              <a:srgbClr val="065A82"/>
            </a:solidFill>
            <a:prstDash val="dash"/>
          </a:ln>
        </p:spPr>
      </p:sp>
      <p:sp>
        <p:nvSpPr>
          <p:cNvPr id="19" name="Shape 17"/>
          <p:cNvSpPr/>
          <p:nvPr/>
        </p:nvSpPr>
        <p:spPr>
          <a:xfrm>
            <a:off x="1536192" y="4389120"/>
            <a:ext cx="685800" cy="685800"/>
          </a:xfrm>
          <a:prstGeom prst="ellipse">
            <a:avLst/>
          </a:prstGeom>
          <a:solidFill>
            <a:srgbClr val="065A82"/>
          </a:solidFill>
          <a:ln w="12700">
            <a:solidFill>
              <a:srgbClr val="065A82"/>
            </a:solidFill>
            <a:prstDash val="solid"/>
          </a:ln>
        </p:spPr>
      </p:sp>
      <p:pic>
        <p:nvPicPr>
          <p:cNvPr id="20" name="Image 0" descr="preencoded.png">    </p:cNvPr>
          <p:cNvPicPr>
            <a:picLocks noChangeAspect="1"/>
          </p:cNvPicPr>
          <p:nvPr/>
        </p:nvPicPr>
        <p:blipFill>
          <a:blip r:embed="rId1"/>
          <a:stretch>
            <a:fillRect/>
          </a:stretch>
        </p:blipFill>
        <p:spPr>
          <a:xfrm>
            <a:off x="1714500" y="4567428"/>
            <a:ext cx="329184" cy="329184"/>
          </a:xfrm>
          <a:prstGeom prst="rect">
            <a:avLst/>
          </a:prstGeom>
        </p:spPr>
      </p:pic>
      <p:sp>
        <p:nvSpPr>
          <p:cNvPr id="21" name="Text 18"/>
          <p:cNvSpPr/>
          <p:nvPr/>
        </p:nvSpPr>
        <p:spPr>
          <a:xfrm>
            <a:off x="777240" y="5138928"/>
            <a:ext cx="2194560" cy="548640"/>
          </a:xfrm>
          <a:prstGeom prst="rect">
            <a:avLst/>
          </a:prstGeom>
          <a:noFill/>
          <a:ln/>
        </p:spPr>
        <p:txBody>
          <a:bodyPr wrap="square" lIns="0" tIns="0" rIns="0" bIns="0" rtlCol="0" anchor="ctr"/>
          <a:lstStyle/>
          <a:p>
            <a:pPr algn="ctr" indent="0" marL="0">
              <a:lnSpc>
                <a:spcPts val="1400"/>
              </a:lnSpc>
              <a:buNone/>
            </a:pPr>
            <a:r>
              <a:rPr lang="en-US" sz="1100" b="1" dirty="0">
                <a:solidFill>
                  <a:srgbClr val="065A82"/>
                </a:solidFill>
                <a:latin typeface="Calibri" pitchFamily="34" charset="0"/>
                <a:ea typeface="Calibri" pitchFamily="34" charset="-122"/>
                <a:cs typeface="Calibri" pitchFamily="34" charset="-120"/>
              </a:rPr>
              <a:t>LG Nature's Water</a:t>
            </a:r>
            <a:endParaRPr lang="en-US" sz="1100" dirty="0"/>
          </a:p>
          <a:p>
            <a:pPr algn="ctr" indent="0" marL="0">
              <a:lnSpc>
                <a:spcPts val="1400"/>
              </a:lnSpc>
              <a:buNone/>
            </a:pPr>
            <a:r>
              <a:rPr lang="en-US" sz="1100" b="1" dirty="0">
                <a:solidFill>
                  <a:srgbClr val="065A82"/>
                </a:solidFill>
                <a:latin typeface="Calibri" pitchFamily="34" charset="0"/>
                <a:ea typeface="Calibri" pitchFamily="34" charset="-122"/>
                <a:cs typeface="Calibri" pitchFamily="34" charset="-120"/>
              </a:rPr>
              <a:t>Refilling Station</a:t>
            </a:r>
            <a:endParaRPr lang="en-US" sz="1100" dirty="0"/>
          </a:p>
        </p:txBody>
      </p:sp>
      <p:sp>
        <p:nvSpPr>
          <p:cNvPr id="22" name="Shape 19"/>
          <p:cNvSpPr/>
          <p:nvPr/>
        </p:nvSpPr>
        <p:spPr>
          <a:xfrm>
            <a:off x="3520440" y="2084832"/>
            <a:ext cx="566928" cy="566928"/>
          </a:xfrm>
          <a:prstGeom prst="ellipse">
            <a:avLst/>
          </a:prstGeom>
          <a:solidFill>
            <a:srgbClr val="02C39A"/>
          </a:solidFill>
          <a:ln w="25400">
            <a:solidFill>
              <a:srgbClr val="FFFFFF"/>
            </a:solidFill>
            <a:prstDash val="solid"/>
          </a:ln>
        </p:spPr>
      </p:sp>
      <p:sp>
        <p:nvSpPr>
          <p:cNvPr id="23" name="Text 20"/>
          <p:cNvSpPr/>
          <p:nvPr/>
        </p:nvSpPr>
        <p:spPr>
          <a:xfrm>
            <a:off x="3520440" y="2084832"/>
            <a:ext cx="566928" cy="566928"/>
          </a:xfrm>
          <a:prstGeom prst="rect">
            <a:avLst/>
          </a:prstGeom>
          <a:noFill/>
          <a:ln/>
        </p:spPr>
        <p:txBody>
          <a:bodyPr wrap="square" lIns="0" tIns="0" rIns="0" bIns="0" rtlCol="0" anchor="ctr"/>
          <a:lstStyle/>
          <a:p>
            <a:pPr algn="ctr" indent="0" marL="0">
              <a:buNone/>
            </a:pPr>
            <a:r>
              <a:rPr lang="en-US" sz="1500" b="1" dirty="0">
                <a:solidFill>
                  <a:srgbClr val="0A2540"/>
                </a:solidFill>
                <a:latin typeface="Calibri" pitchFamily="34" charset="0"/>
                <a:ea typeface="Calibri" pitchFamily="34" charset="-122"/>
                <a:cs typeface="Calibri" pitchFamily="34" charset="-120"/>
              </a:rPr>
              <a:t>2</a:t>
            </a:r>
            <a:endParaRPr lang="en-US" sz="1500" dirty="0"/>
          </a:p>
        </p:txBody>
      </p:sp>
      <p:sp>
        <p:nvSpPr>
          <p:cNvPr id="24" name="Shape 21"/>
          <p:cNvSpPr/>
          <p:nvPr/>
        </p:nvSpPr>
        <p:spPr>
          <a:xfrm>
            <a:off x="5257800" y="4370832"/>
            <a:ext cx="566928" cy="566928"/>
          </a:xfrm>
          <a:prstGeom prst="ellipse">
            <a:avLst/>
          </a:prstGeom>
          <a:solidFill>
            <a:srgbClr val="02C39A"/>
          </a:solidFill>
          <a:ln w="25400">
            <a:solidFill>
              <a:srgbClr val="FFFFFF"/>
            </a:solidFill>
            <a:prstDash val="solid"/>
          </a:ln>
        </p:spPr>
      </p:sp>
      <p:sp>
        <p:nvSpPr>
          <p:cNvPr id="25" name="Text 22"/>
          <p:cNvSpPr/>
          <p:nvPr/>
        </p:nvSpPr>
        <p:spPr>
          <a:xfrm>
            <a:off x="5257800" y="4370832"/>
            <a:ext cx="566928" cy="566928"/>
          </a:xfrm>
          <a:prstGeom prst="rect">
            <a:avLst/>
          </a:prstGeom>
          <a:noFill/>
          <a:ln/>
        </p:spPr>
        <p:txBody>
          <a:bodyPr wrap="square" lIns="0" tIns="0" rIns="0" bIns="0" rtlCol="0" anchor="ctr"/>
          <a:lstStyle/>
          <a:p>
            <a:pPr algn="ctr" indent="0" marL="0">
              <a:buNone/>
            </a:pPr>
            <a:r>
              <a:rPr lang="en-US" sz="1500" b="1" dirty="0">
                <a:solidFill>
                  <a:srgbClr val="0A2540"/>
                </a:solidFill>
                <a:latin typeface="Calibri" pitchFamily="34" charset="0"/>
                <a:ea typeface="Calibri" pitchFamily="34" charset="-122"/>
                <a:cs typeface="Calibri" pitchFamily="34" charset="-120"/>
              </a:rPr>
              <a:t>3</a:t>
            </a:r>
            <a:endParaRPr lang="en-US" sz="1500" dirty="0"/>
          </a:p>
        </p:txBody>
      </p:sp>
      <p:sp>
        <p:nvSpPr>
          <p:cNvPr id="26" name="Shape 23"/>
          <p:cNvSpPr/>
          <p:nvPr/>
        </p:nvSpPr>
        <p:spPr>
          <a:xfrm>
            <a:off x="3520440" y="3017520"/>
            <a:ext cx="566928" cy="566928"/>
          </a:xfrm>
          <a:prstGeom prst="ellipse">
            <a:avLst/>
          </a:prstGeom>
          <a:solidFill>
            <a:srgbClr val="02C39A"/>
          </a:solidFill>
          <a:ln w="25400">
            <a:solidFill>
              <a:srgbClr val="FFFFFF"/>
            </a:solidFill>
            <a:prstDash val="solid"/>
          </a:ln>
        </p:spPr>
      </p:sp>
      <p:sp>
        <p:nvSpPr>
          <p:cNvPr id="27" name="Text 24"/>
          <p:cNvSpPr/>
          <p:nvPr/>
        </p:nvSpPr>
        <p:spPr>
          <a:xfrm>
            <a:off x="3520440" y="3017520"/>
            <a:ext cx="566928" cy="566928"/>
          </a:xfrm>
          <a:prstGeom prst="rect">
            <a:avLst/>
          </a:prstGeom>
          <a:noFill/>
          <a:ln/>
        </p:spPr>
        <p:txBody>
          <a:bodyPr wrap="square" lIns="0" tIns="0" rIns="0" bIns="0" rtlCol="0" anchor="ctr"/>
          <a:lstStyle/>
          <a:p>
            <a:pPr algn="ctr" indent="0" marL="0">
              <a:buNone/>
            </a:pPr>
            <a:r>
              <a:rPr lang="en-US" sz="1500" b="1" dirty="0">
                <a:solidFill>
                  <a:srgbClr val="0A2540"/>
                </a:solidFill>
                <a:latin typeface="Calibri" pitchFamily="34" charset="0"/>
                <a:ea typeface="Calibri" pitchFamily="34" charset="-122"/>
                <a:cs typeface="Calibri" pitchFamily="34" charset="-120"/>
              </a:rPr>
              <a:t>1</a:t>
            </a:r>
            <a:endParaRPr lang="en-US" sz="1500" dirty="0"/>
          </a:p>
        </p:txBody>
      </p:sp>
      <p:sp>
        <p:nvSpPr>
          <p:cNvPr id="28" name="Shape 25"/>
          <p:cNvSpPr/>
          <p:nvPr/>
        </p:nvSpPr>
        <p:spPr>
          <a:xfrm>
            <a:off x="4224528" y="1920240"/>
            <a:ext cx="2514600" cy="475488"/>
          </a:xfrm>
          <a:prstGeom prst="roundRect">
            <a:avLst>
              <a:gd name="adj" fmla="val 13462"/>
            </a:avLst>
          </a:prstGeom>
          <a:solidFill>
            <a:srgbClr val="FFFFFF"/>
          </a:solidFill>
          <a:ln w="12700">
            <a:solidFill>
              <a:srgbClr val="D3E2EA"/>
            </a:solidFill>
            <a:prstDash val="solid"/>
          </a:ln>
          <a:effectLst>
            <a:outerShdw sx="100000" sy="100000" kx="0" ky="0" algn="bl" rotWithShape="0" blurRad="127000" dist="25400" dir="5400000">
              <a:srgbClr val="9FB4C2">
                <a:alpha val="35000"/>
              </a:srgbClr>
            </a:outerShdw>
          </a:effectLst>
        </p:spPr>
      </p:sp>
      <p:sp>
        <p:nvSpPr>
          <p:cNvPr id="29" name="Text 26"/>
          <p:cNvSpPr/>
          <p:nvPr/>
        </p:nvSpPr>
        <p:spPr>
          <a:xfrm>
            <a:off x="4315968" y="1920240"/>
            <a:ext cx="2377440" cy="475488"/>
          </a:xfrm>
          <a:prstGeom prst="rect">
            <a:avLst/>
          </a:prstGeom>
          <a:noFill/>
          <a:ln/>
        </p:spPr>
        <p:txBody>
          <a:bodyPr wrap="square" lIns="0" tIns="0" rIns="0" bIns="0" rtlCol="0" anchor="ctr"/>
          <a:lstStyle/>
          <a:p>
            <a:pPr indent="0" marL="0">
              <a:buNone/>
            </a:pPr>
            <a:r>
              <a:rPr lang="en-US" sz="1100" b="1" dirty="0">
                <a:solidFill>
                  <a:srgbClr val="17303F"/>
                </a:solidFill>
                <a:latin typeface="Calibri" pitchFamily="34" charset="0"/>
                <a:ea typeface="Calibri" pitchFamily="34" charset="-122"/>
                <a:cs typeface="Calibri" pitchFamily="34" charset="-120"/>
              </a:rPr>
              <a:t>Nearest station auto-selected</a:t>
            </a:r>
            <a:endParaRPr lang="en-US" sz="1100" dirty="0"/>
          </a:p>
        </p:txBody>
      </p:sp>
      <p:sp>
        <p:nvSpPr>
          <p:cNvPr id="30" name="Text 27"/>
          <p:cNvSpPr/>
          <p:nvPr/>
        </p:nvSpPr>
        <p:spPr>
          <a:xfrm>
            <a:off x="7315200" y="1737360"/>
            <a:ext cx="548640" cy="320040"/>
          </a:xfrm>
          <a:prstGeom prst="rect">
            <a:avLst/>
          </a:prstGeom>
          <a:noFill/>
          <a:ln/>
        </p:spPr>
        <p:txBody>
          <a:bodyPr wrap="square" lIns="0" tIns="0" rIns="0" bIns="0" rtlCol="0" anchor="ctr"/>
          <a:lstStyle/>
          <a:p>
            <a:pPr indent="0" marL="0">
              <a:buNone/>
            </a:pPr>
            <a:r>
              <a:rPr lang="en-US" sz="2000" b="1" dirty="0">
                <a:solidFill>
                  <a:srgbClr val="02C39A"/>
                </a:solidFill>
                <a:latin typeface="Cambria" pitchFamily="34" charset="0"/>
                <a:ea typeface="Cambria" pitchFamily="34" charset="-122"/>
                <a:cs typeface="Cambria" pitchFamily="34" charset="-120"/>
              </a:rPr>
              <a:t>01</a:t>
            </a:r>
            <a:endParaRPr lang="en-US" sz="2000" dirty="0"/>
          </a:p>
        </p:txBody>
      </p:sp>
      <p:sp>
        <p:nvSpPr>
          <p:cNvPr id="31" name="Text 28"/>
          <p:cNvSpPr/>
          <p:nvPr/>
        </p:nvSpPr>
        <p:spPr>
          <a:xfrm>
            <a:off x="7863840" y="1755648"/>
            <a:ext cx="3749040" cy="292608"/>
          </a:xfrm>
          <a:prstGeom prst="rect">
            <a:avLst/>
          </a:prstGeom>
          <a:noFill/>
          <a:ln/>
        </p:spPr>
        <p:txBody>
          <a:bodyPr wrap="square" lIns="0" tIns="0" rIns="0" bIns="0" rtlCol="0" anchor="ctr"/>
          <a:lstStyle/>
          <a:p>
            <a:pPr indent="0" marL="0">
              <a:buNone/>
            </a:pPr>
            <a:r>
              <a:rPr lang="en-US" sz="1550" b="1" dirty="0">
                <a:solidFill>
                  <a:srgbClr val="17303F"/>
                </a:solidFill>
                <a:latin typeface="Calibri" pitchFamily="34" charset="0"/>
                <a:ea typeface="Calibri" pitchFamily="34" charset="-122"/>
                <a:cs typeface="Calibri" pitchFamily="34" charset="-120"/>
              </a:rPr>
              <a:t>Nearest-station logic</a:t>
            </a:r>
            <a:endParaRPr lang="en-US" sz="1550" dirty="0"/>
          </a:p>
        </p:txBody>
      </p:sp>
      <p:sp>
        <p:nvSpPr>
          <p:cNvPr id="32" name="Text 29"/>
          <p:cNvSpPr/>
          <p:nvPr/>
        </p:nvSpPr>
        <p:spPr>
          <a:xfrm>
            <a:off x="7863840" y="2103120"/>
            <a:ext cx="3703320" cy="777240"/>
          </a:xfrm>
          <a:prstGeom prst="rect">
            <a:avLst/>
          </a:prstGeom>
          <a:noFill/>
          <a:ln/>
        </p:spPr>
        <p:txBody>
          <a:bodyPr wrap="square" lIns="0" tIns="0" rIns="0" bIns="0" rtlCol="0" anchor="ctr"/>
          <a:lstStyle/>
          <a:p>
            <a:pPr indent="0" marL="0">
              <a:lnSpc>
                <a:spcPts val="1700"/>
              </a:lnSpc>
              <a:buNone/>
            </a:pPr>
            <a:r>
              <a:rPr lang="en-US" sz="1250" dirty="0">
                <a:solidFill>
                  <a:srgbClr val="5C7080"/>
                </a:solidFill>
                <a:latin typeface="Calibri" pitchFamily="34" charset="0"/>
                <a:ea typeface="Calibri" pitchFamily="34" charset="-122"/>
                <a:cs typeface="Calibri" pitchFamily="34" charset="-120"/>
              </a:rPr>
              <a:t>Orders are assigned to the branch closest to the customer, not the branch that happened to answer.</a:t>
            </a:r>
            <a:endParaRPr lang="en-US" sz="1250" dirty="0"/>
          </a:p>
        </p:txBody>
      </p:sp>
      <p:sp>
        <p:nvSpPr>
          <p:cNvPr id="33" name="Text 30"/>
          <p:cNvSpPr/>
          <p:nvPr/>
        </p:nvSpPr>
        <p:spPr>
          <a:xfrm>
            <a:off x="7315200" y="3035808"/>
            <a:ext cx="548640" cy="320040"/>
          </a:xfrm>
          <a:prstGeom prst="rect">
            <a:avLst/>
          </a:prstGeom>
          <a:noFill/>
          <a:ln/>
        </p:spPr>
        <p:txBody>
          <a:bodyPr wrap="square" lIns="0" tIns="0" rIns="0" bIns="0" rtlCol="0" anchor="ctr"/>
          <a:lstStyle/>
          <a:p>
            <a:pPr indent="0" marL="0">
              <a:buNone/>
            </a:pPr>
            <a:r>
              <a:rPr lang="en-US" sz="2000" b="1" dirty="0">
                <a:solidFill>
                  <a:srgbClr val="02C39A"/>
                </a:solidFill>
                <a:latin typeface="Cambria" pitchFamily="34" charset="0"/>
                <a:ea typeface="Cambria" pitchFamily="34" charset="-122"/>
                <a:cs typeface="Cambria" pitchFamily="34" charset="-120"/>
              </a:rPr>
              <a:t>02</a:t>
            </a:r>
            <a:endParaRPr lang="en-US" sz="2000" dirty="0"/>
          </a:p>
        </p:txBody>
      </p:sp>
      <p:sp>
        <p:nvSpPr>
          <p:cNvPr id="34" name="Text 31"/>
          <p:cNvSpPr/>
          <p:nvPr/>
        </p:nvSpPr>
        <p:spPr>
          <a:xfrm>
            <a:off x="7863840" y="3054096"/>
            <a:ext cx="3749040" cy="292608"/>
          </a:xfrm>
          <a:prstGeom prst="rect">
            <a:avLst/>
          </a:prstGeom>
          <a:noFill/>
          <a:ln/>
        </p:spPr>
        <p:txBody>
          <a:bodyPr wrap="square" lIns="0" tIns="0" rIns="0" bIns="0" rtlCol="0" anchor="ctr"/>
          <a:lstStyle/>
          <a:p>
            <a:pPr indent="0" marL="0">
              <a:buNone/>
            </a:pPr>
            <a:r>
              <a:rPr lang="en-US" sz="1550" b="1" dirty="0">
                <a:solidFill>
                  <a:srgbClr val="17303F"/>
                </a:solidFill>
                <a:latin typeface="Calibri" pitchFamily="34" charset="0"/>
                <a:ea typeface="Calibri" pitchFamily="34" charset="-122"/>
                <a:cs typeface="Calibri" pitchFamily="34" charset="-120"/>
              </a:rPr>
              <a:t>Turn-by-turn for riders</a:t>
            </a:r>
            <a:endParaRPr lang="en-US" sz="1550" dirty="0"/>
          </a:p>
        </p:txBody>
      </p:sp>
      <p:sp>
        <p:nvSpPr>
          <p:cNvPr id="35" name="Text 32"/>
          <p:cNvSpPr/>
          <p:nvPr/>
        </p:nvSpPr>
        <p:spPr>
          <a:xfrm>
            <a:off x="7863840" y="3401568"/>
            <a:ext cx="3703320" cy="777240"/>
          </a:xfrm>
          <a:prstGeom prst="rect">
            <a:avLst/>
          </a:prstGeom>
          <a:noFill/>
          <a:ln/>
        </p:spPr>
        <p:txBody>
          <a:bodyPr wrap="square" lIns="0" tIns="0" rIns="0" bIns="0" rtlCol="0" anchor="ctr"/>
          <a:lstStyle/>
          <a:p>
            <a:pPr indent="0" marL="0">
              <a:lnSpc>
                <a:spcPts val="1700"/>
              </a:lnSpc>
              <a:buNone/>
            </a:pPr>
            <a:r>
              <a:rPr lang="en-US" sz="1250" dirty="0">
                <a:solidFill>
                  <a:srgbClr val="5C7080"/>
                </a:solidFill>
                <a:latin typeface="Calibri" pitchFamily="34" charset="0"/>
                <a:ea typeface="Calibri" pitchFamily="34" charset="-122"/>
                <a:cs typeface="Calibri" pitchFamily="34" charset="-120"/>
              </a:rPr>
              <a:t>The delivery team opens one screen and follows the route through every stop in sequence.</a:t>
            </a:r>
            <a:endParaRPr lang="en-US" sz="1250" dirty="0"/>
          </a:p>
        </p:txBody>
      </p:sp>
      <p:sp>
        <p:nvSpPr>
          <p:cNvPr id="36" name="Text 33"/>
          <p:cNvSpPr/>
          <p:nvPr/>
        </p:nvSpPr>
        <p:spPr>
          <a:xfrm>
            <a:off x="7315200" y="4334256"/>
            <a:ext cx="548640" cy="320040"/>
          </a:xfrm>
          <a:prstGeom prst="rect">
            <a:avLst/>
          </a:prstGeom>
          <a:noFill/>
          <a:ln/>
        </p:spPr>
        <p:txBody>
          <a:bodyPr wrap="square" lIns="0" tIns="0" rIns="0" bIns="0" rtlCol="0" anchor="ctr"/>
          <a:lstStyle/>
          <a:p>
            <a:pPr indent="0" marL="0">
              <a:buNone/>
            </a:pPr>
            <a:r>
              <a:rPr lang="en-US" sz="2000" b="1" dirty="0">
                <a:solidFill>
                  <a:srgbClr val="02C39A"/>
                </a:solidFill>
                <a:latin typeface="Cambria" pitchFamily="34" charset="0"/>
                <a:ea typeface="Cambria" pitchFamily="34" charset="-122"/>
                <a:cs typeface="Cambria" pitchFamily="34" charset="-120"/>
              </a:rPr>
              <a:t>03</a:t>
            </a:r>
            <a:endParaRPr lang="en-US" sz="2000" dirty="0"/>
          </a:p>
        </p:txBody>
      </p:sp>
      <p:sp>
        <p:nvSpPr>
          <p:cNvPr id="37" name="Text 34"/>
          <p:cNvSpPr/>
          <p:nvPr/>
        </p:nvSpPr>
        <p:spPr>
          <a:xfrm>
            <a:off x="7863840" y="4352544"/>
            <a:ext cx="3749040" cy="292608"/>
          </a:xfrm>
          <a:prstGeom prst="rect">
            <a:avLst/>
          </a:prstGeom>
          <a:noFill/>
          <a:ln/>
        </p:spPr>
        <p:txBody>
          <a:bodyPr wrap="square" lIns="0" tIns="0" rIns="0" bIns="0" rtlCol="0" anchor="ctr"/>
          <a:lstStyle/>
          <a:p>
            <a:pPr indent="0" marL="0">
              <a:buNone/>
            </a:pPr>
            <a:r>
              <a:rPr lang="en-US" sz="1550" b="1" dirty="0">
                <a:solidFill>
                  <a:srgbClr val="17303F"/>
                </a:solidFill>
                <a:latin typeface="Calibri" pitchFamily="34" charset="0"/>
                <a:ea typeface="Calibri" pitchFamily="34" charset="-122"/>
                <a:cs typeface="Calibri" pitchFamily="34" charset="-120"/>
              </a:rPr>
              <a:t>Stops ordered automatically</a:t>
            </a:r>
            <a:endParaRPr lang="en-US" sz="1550" dirty="0"/>
          </a:p>
        </p:txBody>
      </p:sp>
      <p:sp>
        <p:nvSpPr>
          <p:cNvPr id="38" name="Text 35"/>
          <p:cNvSpPr/>
          <p:nvPr/>
        </p:nvSpPr>
        <p:spPr>
          <a:xfrm>
            <a:off x="7863840" y="4700016"/>
            <a:ext cx="3703320" cy="777240"/>
          </a:xfrm>
          <a:prstGeom prst="rect">
            <a:avLst/>
          </a:prstGeom>
          <a:noFill/>
          <a:ln/>
        </p:spPr>
        <p:txBody>
          <a:bodyPr wrap="square" lIns="0" tIns="0" rIns="0" bIns="0" rtlCol="0" anchor="ctr"/>
          <a:lstStyle/>
          <a:p>
            <a:pPr indent="0" marL="0">
              <a:lnSpc>
                <a:spcPts val="1700"/>
              </a:lnSpc>
              <a:buNone/>
            </a:pPr>
            <a:r>
              <a:rPr lang="en-US" sz="1250" dirty="0">
                <a:solidFill>
                  <a:srgbClr val="5C7080"/>
                </a:solidFill>
                <a:latin typeface="Calibri" pitchFamily="34" charset="0"/>
                <a:ea typeface="Calibri" pitchFamily="34" charset="-122"/>
                <a:cs typeface="Calibri" pitchFamily="34" charset="-120"/>
              </a:rPr>
              <a:t>Deliveries and container pickups on the same street are grouped into a single trip.</a:t>
            </a:r>
            <a:endParaRPr lang="en-US" sz="1250" dirty="0"/>
          </a:p>
        </p:txBody>
      </p:sp>
      <p:sp>
        <p:nvSpPr>
          <p:cNvPr id="39" name="Shape 36"/>
          <p:cNvSpPr/>
          <p:nvPr/>
        </p:nvSpPr>
        <p:spPr>
          <a:xfrm>
            <a:off x="7315200" y="5715000"/>
            <a:ext cx="4251960" cy="548640"/>
          </a:xfrm>
          <a:prstGeom prst="roundRect">
            <a:avLst>
              <a:gd name="adj" fmla="val 11667"/>
            </a:avLst>
          </a:prstGeom>
          <a:solidFill>
            <a:srgbClr val="F1F7FA"/>
          </a:solidFill>
          <a:ln w="12700">
            <a:solidFill>
              <a:srgbClr val="D9E6EE"/>
            </a:solidFill>
            <a:prstDash val="solid"/>
          </a:ln>
        </p:spPr>
      </p:sp>
      <p:sp>
        <p:nvSpPr>
          <p:cNvPr id="40" name="Text 37"/>
          <p:cNvSpPr/>
          <p:nvPr/>
        </p:nvSpPr>
        <p:spPr>
          <a:xfrm>
            <a:off x="7498080" y="5715000"/>
            <a:ext cx="3931920" cy="548640"/>
          </a:xfrm>
          <a:prstGeom prst="rect">
            <a:avLst/>
          </a:prstGeom>
          <a:noFill/>
          <a:ln/>
        </p:spPr>
        <p:txBody>
          <a:bodyPr wrap="square" lIns="0" tIns="0" rIns="0" bIns="0"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Less fuel, fewer missed stops, more deliveries per rider per day.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7FA"/>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FEATURE 02</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Scheduling &amp; Container Pickup</a:t>
            </a:r>
            <a:endParaRPr lang="en-US" sz="3400" dirty="0"/>
          </a:p>
        </p:txBody>
      </p:sp>
      <p:sp>
        <p:nvSpPr>
          <p:cNvPr id="4" name="Shape 2"/>
          <p:cNvSpPr/>
          <p:nvPr/>
        </p:nvSpPr>
        <p:spPr>
          <a:xfrm>
            <a:off x="1051560" y="1600200"/>
            <a:ext cx="2514600" cy="4389120"/>
          </a:xfrm>
          <a:prstGeom prst="roundRect">
            <a:avLst>
              <a:gd name="adj" fmla="val 5091"/>
            </a:avLst>
          </a:prstGeom>
          <a:solidFill>
            <a:srgbClr val="0A2540"/>
          </a:solidFill>
          <a:ln w="12700">
            <a:solidFill>
              <a:srgbClr val="0A2540"/>
            </a:solidFill>
            <a:prstDash val="solid"/>
          </a:ln>
          <a:effectLst>
            <a:outerShdw sx="100000" sy="100000" kx="0" ky="0" algn="bl" rotWithShape="0" blurRad="127000" dist="25400" dir="5400000">
              <a:srgbClr val="9FB4C2">
                <a:alpha val="35000"/>
              </a:srgbClr>
            </a:outerShdw>
          </a:effectLst>
        </p:spPr>
      </p:sp>
      <p:sp>
        <p:nvSpPr>
          <p:cNvPr id="5" name="Shape 3"/>
          <p:cNvSpPr/>
          <p:nvPr/>
        </p:nvSpPr>
        <p:spPr>
          <a:xfrm>
            <a:off x="1152144" y="1746504"/>
            <a:ext cx="2313432" cy="4096512"/>
          </a:xfrm>
          <a:prstGeom prst="roundRect">
            <a:avLst>
              <a:gd name="adj" fmla="val 3953"/>
            </a:avLst>
          </a:prstGeom>
          <a:solidFill>
            <a:srgbClr val="FFFFFF"/>
          </a:solidFill>
          <a:ln w="12700">
            <a:solidFill>
              <a:srgbClr val="FFFFFF"/>
            </a:solidFill>
            <a:prstDash val="solid"/>
          </a:ln>
        </p:spPr>
      </p:sp>
      <p:sp>
        <p:nvSpPr>
          <p:cNvPr id="6" name="Shape 4"/>
          <p:cNvSpPr/>
          <p:nvPr/>
        </p:nvSpPr>
        <p:spPr>
          <a:xfrm>
            <a:off x="1152144" y="1746504"/>
            <a:ext cx="2313432" cy="566928"/>
          </a:xfrm>
          <a:prstGeom prst="roundRect">
            <a:avLst>
              <a:gd name="adj" fmla="val 16129"/>
            </a:avLst>
          </a:prstGeom>
          <a:solidFill>
            <a:srgbClr val="065A82"/>
          </a:solidFill>
          <a:ln w="12700">
            <a:solidFill>
              <a:srgbClr val="065A82"/>
            </a:solidFill>
            <a:prstDash val="solid"/>
          </a:ln>
        </p:spPr>
      </p:sp>
      <p:sp>
        <p:nvSpPr>
          <p:cNvPr id="7" name="Text 5"/>
          <p:cNvSpPr/>
          <p:nvPr/>
        </p:nvSpPr>
        <p:spPr>
          <a:xfrm>
            <a:off x="1271016" y="1746504"/>
            <a:ext cx="205740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Schedule a Pickup</a:t>
            </a:r>
            <a:endParaRPr lang="en-US" sz="1250" dirty="0"/>
          </a:p>
        </p:txBody>
      </p:sp>
      <p:sp>
        <p:nvSpPr>
          <p:cNvPr id="8" name="Shape 6"/>
          <p:cNvSpPr/>
          <p:nvPr/>
        </p:nvSpPr>
        <p:spPr>
          <a:xfrm>
            <a:off x="1271016" y="2468880"/>
            <a:ext cx="621792" cy="658368"/>
          </a:xfrm>
          <a:prstGeom prst="roundRect">
            <a:avLst>
              <a:gd name="adj" fmla="val 11765"/>
            </a:avLst>
          </a:prstGeom>
          <a:solidFill>
            <a:srgbClr val="EDF3F7"/>
          </a:solidFill>
          <a:ln w="12700">
            <a:solidFill>
              <a:srgbClr val="DCE7EE"/>
            </a:solidFill>
            <a:prstDash val="solid"/>
          </a:ln>
        </p:spPr>
      </p:sp>
      <p:sp>
        <p:nvSpPr>
          <p:cNvPr id="9" name="Text 7"/>
          <p:cNvSpPr/>
          <p:nvPr/>
        </p:nvSpPr>
        <p:spPr>
          <a:xfrm>
            <a:off x="1271016" y="2514600"/>
            <a:ext cx="621792" cy="201168"/>
          </a:xfrm>
          <a:prstGeom prst="rect">
            <a:avLst/>
          </a:prstGeom>
          <a:noFill/>
          <a:ln/>
        </p:spPr>
        <p:txBody>
          <a:bodyPr wrap="square" lIns="0" tIns="0" rIns="0" bIns="0" rtlCol="0" anchor="ctr"/>
          <a:lstStyle/>
          <a:p>
            <a:pPr algn="ctr" indent="0" marL="0">
              <a:buNone/>
            </a:pPr>
            <a:r>
              <a:rPr lang="en-US" sz="800" b="1" dirty="0">
                <a:solidFill>
                  <a:srgbClr val="5C7080"/>
                </a:solidFill>
                <a:latin typeface="Calibri" pitchFamily="34" charset="0"/>
                <a:ea typeface="Calibri" pitchFamily="34" charset="-122"/>
                <a:cs typeface="Calibri" pitchFamily="34" charset="-120"/>
              </a:rPr>
              <a:t>MON</a:t>
            </a:r>
            <a:endParaRPr lang="en-US" sz="800" dirty="0"/>
          </a:p>
        </p:txBody>
      </p:sp>
      <p:sp>
        <p:nvSpPr>
          <p:cNvPr id="10" name="Text 8"/>
          <p:cNvSpPr/>
          <p:nvPr/>
        </p:nvSpPr>
        <p:spPr>
          <a:xfrm>
            <a:off x="1271016" y="2697480"/>
            <a:ext cx="621792" cy="365760"/>
          </a:xfrm>
          <a:prstGeom prst="rect">
            <a:avLst/>
          </a:prstGeom>
          <a:noFill/>
          <a:ln/>
        </p:spPr>
        <p:txBody>
          <a:bodyPr wrap="square" lIns="0" tIns="0" rIns="0" bIns="0" rtlCol="0" anchor="ctr"/>
          <a:lstStyle/>
          <a:p>
            <a:pPr algn="ctr" indent="0" marL="0">
              <a:buNone/>
            </a:pPr>
            <a:r>
              <a:rPr lang="en-US" sz="1400" b="1" dirty="0">
                <a:solidFill>
                  <a:srgbClr val="17303F"/>
                </a:solidFill>
                <a:latin typeface="Calibri" pitchFamily="34" charset="0"/>
                <a:ea typeface="Calibri" pitchFamily="34" charset="-122"/>
                <a:cs typeface="Calibri" pitchFamily="34" charset="-120"/>
              </a:rPr>
              <a:t>12</a:t>
            </a:r>
            <a:endParaRPr lang="en-US" sz="1400" dirty="0"/>
          </a:p>
        </p:txBody>
      </p:sp>
      <p:sp>
        <p:nvSpPr>
          <p:cNvPr id="11" name="Shape 9"/>
          <p:cNvSpPr/>
          <p:nvPr/>
        </p:nvSpPr>
        <p:spPr>
          <a:xfrm>
            <a:off x="1984248" y="2468880"/>
            <a:ext cx="621792" cy="658368"/>
          </a:xfrm>
          <a:prstGeom prst="roundRect">
            <a:avLst>
              <a:gd name="adj" fmla="val 11765"/>
            </a:avLst>
          </a:prstGeom>
          <a:solidFill>
            <a:srgbClr val="02C39A"/>
          </a:solidFill>
          <a:ln w="12700">
            <a:solidFill>
              <a:srgbClr val="02C39A"/>
            </a:solidFill>
            <a:prstDash val="solid"/>
          </a:ln>
        </p:spPr>
      </p:sp>
      <p:sp>
        <p:nvSpPr>
          <p:cNvPr id="12" name="Text 10"/>
          <p:cNvSpPr/>
          <p:nvPr/>
        </p:nvSpPr>
        <p:spPr>
          <a:xfrm>
            <a:off x="1984248" y="2514600"/>
            <a:ext cx="621792" cy="201168"/>
          </a:xfrm>
          <a:prstGeom prst="rect">
            <a:avLst/>
          </a:prstGeom>
          <a:noFill/>
          <a:ln/>
        </p:spPr>
        <p:txBody>
          <a:bodyPr wrap="square" lIns="0" tIns="0" rIns="0" bIns="0" rtlCol="0" anchor="ctr"/>
          <a:lstStyle/>
          <a:p>
            <a:pPr algn="ctr" indent="0" marL="0">
              <a:buNone/>
            </a:pPr>
            <a:r>
              <a:rPr lang="en-US" sz="800" b="1" dirty="0">
                <a:solidFill>
                  <a:srgbClr val="0A2540"/>
                </a:solidFill>
                <a:latin typeface="Calibri" pitchFamily="34" charset="0"/>
                <a:ea typeface="Calibri" pitchFamily="34" charset="-122"/>
                <a:cs typeface="Calibri" pitchFamily="34" charset="-120"/>
              </a:rPr>
              <a:t>TUE</a:t>
            </a:r>
            <a:endParaRPr lang="en-US" sz="800" dirty="0"/>
          </a:p>
        </p:txBody>
      </p:sp>
      <p:sp>
        <p:nvSpPr>
          <p:cNvPr id="13" name="Text 11"/>
          <p:cNvSpPr/>
          <p:nvPr/>
        </p:nvSpPr>
        <p:spPr>
          <a:xfrm>
            <a:off x="1984248" y="2697480"/>
            <a:ext cx="621792" cy="365760"/>
          </a:xfrm>
          <a:prstGeom prst="rect">
            <a:avLst/>
          </a:prstGeom>
          <a:noFill/>
          <a:ln/>
        </p:spPr>
        <p:txBody>
          <a:bodyPr wrap="square" lIns="0" tIns="0" rIns="0" bIns="0" rtlCol="0" anchor="ctr"/>
          <a:lstStyle/>
          <a:p>
            <a:pPr algn="ctr" indent="0" marL="0">
              <a:buNone/>
            </a:pPr>
            <a:r>
              <a:rPr lang="en-US" sz="1400" b="1" dirty="0">
                <a:solidFill>
                  <a:srgbClr val="0A2540"/>
                </a:solidFill>
                <a:latin typeface="Calibri" pitchFamily="34" charset="0"/>
                <a:ea typeface="Calibri" pitchFamily="34" charset="-122"/>
                <a:cs typeface="Calibri" pitchFamily="34" charset="-120"/>
              </a:rPr>
              <a:t>13</a:t>
            </a:r>
            <a:endParaRPr lang="en-US" sz="1400" dirty="0"/>
          </a:p>
        </p:txBody>
      </p:sp>
      <p:sp>
        <p:nvSpPr>
          <p:cNvPr id="14" name="Shape 12"/>
          <p:cNvSpPr/>
          <p:nvPr/>
        </p:nvSpPr>
        <p:spPr>
          <a:xfrm>
            <a:off x="2697480" y="2468880"/>
            <a:ext cx="621792" cy="658368"/>
          </a:xfrm>
          <a:prstGeom prst="roundRect">
            <a:avLst>
              <a:gd name="adj" fmla="val 11765"/>
            </a:avLst>
          </a:prstGeom>
          <a:solidFill>
            <a:srgbClr val="EDF3F7"/>
          </a:solidFill>
          <a:ln w="12700">
            <a:solidFill>
              <a:srgbClr val="DCE7EE"/>
            </a:solidFill>
            <a:prstDash val="solid"/>
          </a:ln>
        </p:spPr>
      </p:sp>
      <p:sp>
        <p:nvSpPr>
          <p:cNvPr id="15" name="Text 13"/>
          <p:cNvSpPr/>
          <p:nvPr/>
        </p:nvSpPr>
        <p:spPr>
          <a:xfrm>
            <a:off x="2697480" y="2514600"/>
            <a:ext cx="621792" cy="201168"/>
          </a:xfrm>
          <a:prstGeom prst="rect">
            <a:avLst/>
          </a:prstGeom>
          <a:noFill/>
          <a:ln/>
        </p:spPr>
        <p:txBody>
          <a:bodyPr wrap="square" lIns="0" tIns="0" rIns="0" bIns="0" rtlCol="0" anchor="ctr"/>
          <a:lstStyle/>
          <a:p>
            <a:pPr algn="ctr" indent="0" marL="0">
              <a:buNone/>
            </a:pPr>
            <a:r>
              <a:rPr lang="en-US" sz="800" b="1" dirty="0">
                <a:solidFill>
                  <a:srgbClr val="5C7080"/>
                </a:solidFill>
                <a:latin typeface="Calibri" pitchFamily="34" charset="0"/>
                <a:ea typeface="Calibri" pitchFamily="34" charset="-122"/>
                <a:cs typeface="Calibri" pitchFamily="34" charset="-120"/>
              </a:rPr>
              <a:t>WED</a:t>
            </a:r>
            <a:endParaRPr lang="en-US" sz="800" dirty="0"/>
          </a:p>
        </p:txBody>
      </p:sp>
      <p:sp>
        <p:nvSpPr>
          <p:cNvPr id="16" name="Text 14"/>
          <p:cNvSpPr/>
          <p:nvPr/>
        </p:nvSpPr>
        <p:spPr>
          <a:xfrm>
            <a:off x="2697480" y="2697480"/>
            <a:ext cx="621792" cy="365760"/>
          </a:xfrm>
          <a:prstGeom prst="rect">
            <a:avLst/>
          </a:prstGeom>
          <a:noFill/>
          <a:ln/>
        </p:spPr>
        <p:txBody>
          <a:bodyPr wrap="square" lIns="0" tIns="0" rIns="0" bIns="0" rtlCol="0" anchor="ctr"/>
          <a:lstStyle/>
          <a:p>
            <a:pPr algn="ctr" indent="0" marL="0">
              <a:buNone/>
            </a:pPr>
            <a:r>
              <a:rPr lang="en-US" sz="1400" b="1" dirty="0">
                <a:solidFill>
                  <a:srgbClr val="17303F"/>
                </a:solidFill>
                <a:latin typeface="Calibri" pitchFamily="34" charset="0"/>
                <a:ea typeface="Calibri" pitchFamily="34" charset="-122"/>
                <a:cs typeface="Calibri" pitchFamily="34" charset="-120"/>
              </a:rPr>
              <a:t>14</a:t>
            </a:r>
            <a:endParaRPr lang="en-US" sz="1400" dirty="0"/>
          </a:p>
        </p:txBody>
      </p:sp>
      <p:sp>
        <p:nvSpPr>
          <p:cNvPr id="17" name="Shape 15"/>
          <p:cNvSpPr/>
          <p:nvPr/>
        </p:nvSpPr>
        <p:spPr>
          <a:xfrm>
            <a:off x="1271016" y="3337560"/>
            <a:ext cx="2075688" cy="384048"/>
          </a:xfrm>
          <a:prstGeom prst="roundRect">
            <a:avLst>
              <a:gd name="adj" fmla="val 14286"/>
            </a:avLst>
          </a:prstGeom>
          <a:solidFill>
            <a:srgbClr val="F4F8FA"/>
          </a:solidFill>
          <a:ln w="12700">
            <a:solidFill>
              <a:srgbClr val="E6EEF3"/>
            </a:solidFill>
            <a:prstDash val="solid"/>
          </a:ln>
        </p:spPr>
      </p:sp>
      <p:sp>
        <p:nvSpPr>
          <p:cNvPr id="18" name="Text 16"/>
          <p:cNvSpPr/>
          <p:nvPr/>
        </p:nvSpPr>
        <p:spPr>
          <a:xfrm>
            <a:off x="1399032" y="3337560"/>
            <a:ext cx="1463040" cy="384048"/>
          </a:xfrm>
          <a:prstGeom prst="rect">
            <a:avLst/>
          </a:prstGeom>
          <a:noFill/>
          <a:ln/>
        </p:spPr>
        <p:txBody>
          <a:bodyPr wrap="square" lIns="0" tIns="0" rIns="0" bIns="0" rtlCol="0" anchor="ctr"/>
          <a:lstStyle/>
          <a:p>
            <a:pPr indent="0" marL="0">
              <a:buNone/>
            </a:pPr>
            <a:r>
              <a:rPr lang="en-US" sz="950" dirty="0">
                <a:solidFill>
                  <a:srgbClr val="5C7080"/>
                </a:solidFill>
                <a:latin typeface="Calibri" pitchFamily="34" charset="0"/>
                <a:ea typeface="Calibri" pitchFamily="34" charset="-122"/>
                <a:cs typeface="Calibri" pitchFamily="34" charset="-120"/>
              </a:rPr>
              <a:t>8:00 – 10:00 AM</a:t>
            </a:r>
            <a:endParaRPr lang="en-US" sz="950" dirty="0"/>
          </a:p>
        </p:txBody>
      </p:sp>
      <p:sp>
        <p:nvSpPr>
          <p:cNvPr id="19" name="Shape 17"/>
          <p:cNvSpPr/>
          <p:nvPr/>
        </p:nvSpPr>
        <p:spPr>
          <a:xfrm>
            <a:off x="2999232" y="3438144"/>
            <a:ext cx="182880" cy="182880"/>
          </a:xfrm>
          <a:prstGeom prst="ellipse">
            <a:avLst/>
          </a:prstGeom>
          <a:solidFill>
            <a:srgbClr val="FFFFFF"/>
          </a:solidFill>
          <a:ln w="12700">
            <a:solidFill>
              <a:srgbClr val="C8D6DF"/>
            </a:solidFill>
            <a:prstDash val="solid"/>
          </a:ln>
        </p:spPr>
      </p:sp>
      <p:sp>
        <p:nvSpPr>
          <p:cNvPr id="20" name="Shape 18"/>
          <p:cNvSpPr/>
          <p:nvPr/>
        </p:nvSpPr>
        <p:spPr>
          <a:xfrm>
            <a:off x="1271016" y="3813048"/>
            <a:ext cx="2075688" cy="384048"/>
          </a:xfrm>
          <a:prstGeom prst="roundRect">
            <a:avLst>
              <a:gd name="adj" fmla="val 14286"/>
            </a:avLst>
          </a:prstGeom>
          <a:solidFill>
            <a:srgbClr val="E4F7F2"/>
          </a:solidFill>
          <a:ln w="12700">
            <a:solidFill>
              <a:srgbClr val="02C39A"/>
            </a:solidFill>
            <a:prstDash val="solid"/>
          </a:ln>
        </p:spPr>
      </p:sp>
      <p:sp>
        <p:nvSpPr>
          <p:cNvPr id="21" name="Text 19"/>
          <p:cNvSpPr/>
          <p:nvPr/>
        </p:nvSpPr>
        <p:spPr>
          <a:xfrm>
            <a:off x="1399032" y="3813048"/>
            <a:ext cx="1463040" cy="384048"/>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1:00 – 3:00 PM</a:t>
            </a:r>
            <a:endParaRPr lang="en-US" sz="950" dirty="0"/>
          </a:p>
        </p:txBody>
      </p:sp>
      <p:sp>
        <p:nvSpPr>
          <p:cNvPr id="22" name="Shape 20"/>
          <p:cNvSpPr/>
          <p:nvPr/>
        </p:nvSpPr>
        <p:spPr>
          <a:xfrm>
            <a:off x="2999232" y="3913632"/>
            <a:ext cx="182880" cy="182880"/>
          </a:xfrm>
          <a:prstGeom prst="ellipse">
            <a:avLst/>
          </a:prstGeom>
          <a:solidFill>
            <a:srgbClr val="02C39A"/>
          </a:solidFill>
          <a:ln w="12700">
            <a:solidFill>
              <a:srgbClr val="02C39A"/>
            </a:solidFill>
            <a:prstDash val="solid"/>
          </a:ln>
        </p:spPr>
      </p:sp>
      <p:sp>
        <p:nvSpPr>
          <p:cNvPr id="23" name="Shape 21"/>
          <p:cNvSpPr/>
          <p:nvPr/>
        </p:nvSpPr>
        <p:spPr>
          <a:xfrm>
            <a:off x="1271016" y="4288536"/>
            <a:ext cx="2075688" cy="384048"/>
          </a:xfrm>
          <a:prstGeom prst="roundRect">
            <a:avLst>
              <a:gd name="adj" fmla="val 14286"/>
            </a:avLst>
          </a:prstGeom>
          <a:solidFill>
            <a:srgbClr val="F4F8FA"/>
          </a:solidFill>
          <a:ln w="12700">
            <a:solidFill>
              <a:srgbClr val="E6EEF3"/>
            </a:solidFill>
            <a:prstDash val="solid"/>
          </a:ln>
        </p:spPr>
      </p:sp>
      <p:sp>
        <p:nvSpPr>
          <p:cNvPr id="24" name="Text 22"/>
          <p:cNvSpPr/>
          <p:nvPr/>
        </p:nvSpPr>
        <p:spPr>
          <a:xfrm>
            <a:off x="1399032" y="4288536"/>
            <a:ext cx="1463040" cy="384048"/>
          </a:xfrm>
          <a:prstGeom prst="rect">
            <a:avLst/>
          </a:prstGeom>
          <a:noFill/>
          <a:ln/>
        </p:spPr>
        <p:txBody>
          <a:bodyPr wrap="square" lIns="0" tIns="0" rIns="0" bIns="0" rtlCol="0" anchor="ctr"/>
          <a:lstStyle/>
          <a:p>
            <a:pPr indent="0" marL="0">
              <a:buNone/>
            </a:pPr>
            <a:r>
              <a:rPr lang="en-US" sz="950" dirty="0">
                <a:solidFill>
                  <a:srgbClr val="5C7080"/>
                </a:solidFill>
                <a:latin typeface="Calibri" pitchFamily="34" charset="0"/>
                <a:ea typeface="Calibri" pitchFamily="34" charset="-122"/>
                <a:cs typeface="Calibri" pitchFamily="34" charset="-120"/>
              </a:rPr>
              <a:t>4:00 – 6:00 PM</a:t>
            </a:r>
            <a:endParaRPr lang="en-US" sz="950" dirty="0"/>
          </a:p>
        </p:txBody>
      </p:sp>
      <p:sp>
        <p:nvSpPr>
          <p:cNvPr id="25" name="Shape 23"/>
          <p:cNvSpPr/>
          <p:nvPr/>
        </p:nvSpPr>
        <p:spPr>
          <a:xfrm>
            <a:off x="2999232" y="4389120"/>
            <a:ext cx="182880" cy="182880"/>
          </a:xfrm>
          <a:prstGeom prst="ellipse">
            <a:avLst/>
          </a:prstGeom>
          <a:solidFill>
            <a:srgbClr val="FFFFFF"/>
          </a:solidFill>
          <a:ln w="12700">
            <a:solidFill>
              <a:srgbClr val="C8D6DF"/>
            </a:solidFill>
            <a:prstDash val="solid"/>
          </a:ln>
        </p:spPr>
      </p:sp>
      <p:sp>
        <p:nvSpPr>
          <p:cNvPr id="26" name="Shape 24"/>
          <p:cNvSpPr/>
          <p:nvPr/>
        </p:nvSpPr>
        <p:spPr>
          <a:xfrm>
            <a:off x="1271016" y="4846320"/>
            <a:ext cx="2075688" cy="411480"/>
          </a:xfrm>
          <a:prstGeom prst="roundRect">
            <a:avLst>
              <a:gd name="adj" fmla="val 13333"/>
            </a:avLst>
          </a:prstGeom>
          <a:solidFill>
            <a:srgbClr val="F4F8FA"/>
          </a:solidFill>
          <a:ln w="12700">
            <a:solidFill>
              <a:srgbClr val="E6EEF3"/>
            </a:solidFill>
            <a:prstDash val="solid"/>
          </a:ln>
        </p:spPr>
      </p:sp>
      <p:sp>
        <p:nvSpPr>
          <p:cNvPr id="27" name="Text 25"/>
          <p:cNvSpPr/>
          <p:nvPr/>
        </p:nvSpPr>
        <p:spPr>
          <a:xfrm>
            <a:off x="1399032" y="4846320"/>
            <a:ext cx="1371600" cy="411480"/>
          </a:xfrm>
          <a:prstGeom prst="rect">
            <a:avLst/>
          </a:prstGeom>
          <a:noFill/>
          <a:ln/>
        </p:spPr>
        <p:txBody>
          <a:bodyPr wrap="square" lIns="0" tIns="0" rIns="0" bIns="0" rtlCol="0" anchor="ctr"/>
          <a:lstStyle/>
          <a:p>
            <a:pPr indent="0" marL="0">
              <a:buNone/>
            </a:pPr>
            <a:r>
              <a:rPr lang="en-US" sz="950" dirty="0">
                <a:solidFill>
                  <a:srgbClr val="5C7080"/>
                </a:solidFill>
                <a:latin typeface="Calibri" pitchFamily="34" charset="0"/>
                <a:ea typeface="Calibri" pitchFamily="34" charset="-122"/>
                <a:cs typeface="Calibri" pitchFamily="34" charset="-120"/>
              </a:rPr>
              <a:t>Empty containers</a:t>
            </a:r>
            <a:endParaRPr lang="en-US" sz="950" dirty="0"/>
          </a:p>
        </p:txBody>
      </p:sp>
      <p:sp>
        <p:nvSpPr>
          <p:cNvPr id="28" name="Text 26"/>
          <p:cNvSpPr/>
          <p:nvPr/>
        </p:nvSpPr>
        <p:spPr>
          <a:xfrm>
            <a:off x="2788920" y="4846320"/>
            <a:ext cx="411480" cy="411480"/>
          </a:xfrm>
          <a:prstGeom prst="rect">
            <a:avLst/>
          </a:prstGeom>
          <a:noFill/>
          <a:ln/>
        </p:spPr>
        <p:txBody>
          <a:bodyPr wrap="square" lIns="0" tIns="0" rIns="0" bIns="0" rtlCol="0" anchor="ctr"/>
          <a:lstStyle/>
          <a:p>
            <a:pPr algn="ctr" indent="0" marL="0">
              <a:buNone/>
            </a:pPr>
            <a:r>
              <a:rPr lang="en-US" sz="1300" b="1" dirty="0">
                <a:solidFill>
                  <a:srgbClr val="065A82"/>
                </a:solidFill>
                <a:latin typeface="Calibri" pitchFamily="34" charset="0"/>
                <a:ea typeface="Calibri" pitchFamily="34" charset="-122"/>
                <a:cs typeface="Calibri" pitchFamily="34" charset="-120"/>
              </a:rPr>
              <a:t>3</a:t>
            </a:r>
            <a:endParaRPr lang="en-US" sz="1300" dirty="0"/>
          </a:p>
        </p:txBody>
      </p:sp>
      <p:sp>
        <p:nvSpPr>
          <p:cNvPr id="29" name="Shape 27"/>
          <p:cNvSpPr/>
          <p:nvPr/>
        </p:nvSpPr>
        <p:spPr>
          <a:xfrm>
            <a:off x="1271016" y="5330952"/>
            <a:ext cx="2075688" cy="420624"/>
          </a:xfrm>
          <a:prstGeom prst="roundRect">
            <a:avLst>
              <a:gd name="adj" fmla="val 17391"/>
            </a:avLst>
          </a:prstGeom>
          <a:solidFill>
            <a:srgbClr val="065A82"/>
          </a:solidFill>
          <a:ln w="12700">
            <a:solidFill>
              <a:srgbClr val="065A82"/>
            </a:solidFill>
            <a:prstDash val="solid"/>
          </a:ln>
        </p:spPr>
      </p:sp>
      <p:sp>
        <p:nvSpPr>
          <p:cNvPr id="30" name="Text 28"/>
          <p:cNvSpPr/>
          <p:nvPr/>
        </p:nvSpPr>
        <p:spPr>
          <a:xfrm>
            <a:off x="1271016" y="5330952"/>
            <a:ext cx="2075688"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Confirm Pickup</a:t>
            </a:r>
            <a:endParaRPr lang="en-US" sz="1100" dirty="0"/>
          </a:p>
        </p:txBody>
      </p:sp>
      <p:sp>
        <p:nvSpPr>
          <p:cNvPr id="31" name="Shape 29"/>
          <p:cNvSpPr/>
          <p:nvPr/>
        </p:nvSpPr>
        <p:spPr>
          <a:xfrm>
            <a:off x="4160520" y="1691640"/>
            <a:ext cx="7406640" cy="1234440"/>
          </a:xfrm>
          <a:prstGeom prst="roundRect">
            <a:avLst>
              <a:gd name="adj" fmla="val 6667"/>
            </a:avLst>
          </a:prstGeom>
          <a:solidFill>
            <a:srgbClr val="FFFFFF"/>
          </a:solidFill>
          <a:ln w="9525">
            <a:solidFill>
              <a:srgbClr val="E1EAF0"/>
            </a:solidFill>
            <a:prstDash val="solid"/>
          </a:ln>
          <a:effectLst>
            <a:outerShdw sx="100000" sy="100000" kx="0" ky="0" algn="bl" rotWithShape="0" blurRad="127000" dist="25400" dir="5400000">
              <a:srgbClr val="9FB4C2">
                <a:alpha val="35000"/>
              </a:srgbClr>
            </a:outerShdw>
          </a:effectLst>
        </p:spPr>
      </p:sp>
      <p:sp>
        <p:nvSpPr>
          <p:cNvPr id="32" name="Shape 30"/>
          <p:cNvSpPr/>
          <p:nvPr/>
        </p:nvSpPr>
        <p:spPr>
          <a:xfrm>
            <a:off x="4434840" y="1984248"/>
            <a:ext cx="640080" cy="640080"/>
          </a:xfrm>
          <a:prstGeom prst="ellipse">
            <a:avLst/>
          </a:prstGeom>
          <a:solidFill>
            <a:srgbClr val="065A82"/>
          </a:solidFill>
          <a:ln w="12700">
            <a:solidFill>
              <a:srgbClr val="065A82"/>
            </a:solidFill>
            <a:prstDash val="solid"/>
          </a:ln>
        </p:spPr>
      </p:sp>
      <p:pic>
        <p:nvPicPr>
          <p:cNvPr id="33" name="Image 0" descr="preencoded.png">    </p:cNvPr>
          <p:cNvPicPr>
            <a:picLocks noChangeAspect="1"/>
          </p:cNvPicPr>
          <p:nvPr/>
        </p:nvPicPr>
        <p:blipFill>
          <a:blip r:embed="rId1"/>
          <a:stretch>
            <a:fillRect/>
          </a:stretch>
        </p:blipFill>
        <p:spPr>
          <a:xfrm>
            <a:off x="4601261" y="2150669"/>
            <a:ext cx="307238" cy="307238"/>
          </a:xfrm>
          <a:prstGeom prst="rect">
            <a:avLst/>
          </a:prstGeom>
        </p:spPr>
      </p:pic>
      <p:sp>
        <p:nvSpPr>
          <p:cNvPr id="34" name="Text 31"/>
          <p:cNvSpPr/>
          <p:nvPr/>
        </p:nvSpPr>
        <p:spPr>
          <a:xfrm>
            <a:off x="5230368" y="1874520"/>
            <a:ext cx="6035040" cy="310896"/>
          </a:xfrm>
          <a:prstGeom prst="rect">
            <a:avLst/>
          </a:prstGeom>
          <a:noFill/>
          <a:ln/>
        </p:spPr>
        <p:txBody>
          <a:bodyPr wrap="square" lIns="0" tIns="0" rIns="0" bIns="0" rtlCol="0" anchor="ctr"/>
          <a:lstStyle/>
          <a:p>
            <a:pPr indent="0" marL="0">
              <a:buNone/>
            </a:pPr>
            <a:r>
              <a:rPr lang="en-US" sz="1550" b="1" dirty="0">
                <a:solidFill>
                  <a:srgbClr val="17303F"/>
                </a:solidFill>
                <a:latin typeface="Calibri" pitchFamily="34" charset="0"/>
                <a:ea typeface="Calibri" pitchFamily="34" charset="-122"/>
                <a:cs typeface="Calibri" pitchFamily="34" charset="-120"/>
              </a:rPr>
              <a:t>Customer-set schedules</a:t>
            </a:r>
            <a:endParaRPr lang="en-US" sz="1550" dirty="0"/>
          </a:p>
        </p:txBody>
      </p:sp>
      <p:sp>
        <p:nvSpPr>
          <p:cNvPr id="35" name="Text 32"/>
          <p:cNvSpPr/>
          <p:nvPr/>
        </p:nvSpPr>
        <p:spPr>
          <a:xfrm>
            <a:off x="5230368" y="2221992"/>
            <a:ext cx="6080760" cy="566928"/>
          </a:xfrm>
          <a:prstGeom prst="rect">
            <a:avLst/>
          </a:prstGeom>
          <a:noFill/>
          <a:ln/>
        </p:spPr>
        <p:txBody>
          <a:bodyPr wrap="square" lIns="0" tIns="0" rIns="0" bIns="0" rtlCol="0" anchor="ctr"/>
          <a:lstStyle/>
          <a:p>
            <a:pPr indent="0" marL="0">
              <a:lnSpc>
                <a:spcPts val="1700"/>
              </a:lnSpc>
              <a:buNone/>
            </a:pPr>
            <a:r>
              <a:rPr lang="en-US" sz="1250" dirty="0">
                <a:solidFill>
                  <a:srgbClr val="5C7080"/>
                </a:solidFill>
                <a:latin typeface="Calibri" pitchFamily="34" charset="0"/>
                <a:ea typeface="Calibri" pitchFamily="34" charset="-122"/>
                <a:cs typeface="Calibri" pitchFamily="34" charset="-120"/>
              </a:rPr>
              <a:t>The customer picks the day and time slot that suits them, so riders stop arriving to a locked gate.</a:t>
            </a:r>
            <a:endParaRPr lang="en-US" sz="1250" dirty="0"/>
          </a:p>
        </p:txBody>
      </p:sp>
      <p:sp>
        <p:nvSpPr>
          <p:cNvPr id="36" name="Shape 33"/>
          <p:cNvSpPr/>
          <p:nvPr/>
        </p:nvSpPr>
        <p:spPr>
          <a:xfrm>
            <a:off x="4160520" y="3108960"/>
            <a:ext cx="7406640" cy="1234440"/>
          </a:xfrm>
          <a:prstGeom prst="roundRect">
            <a:avLst>
              <a:gd name="adj" fmla="val 6667"/>
            </a:avLst>
          </a:prstGeom>
          <a:solidFill>
            <a:srgbClr val="FFFFFF"/>
          </a:solidFill>
          <a:ln w="9525">
            <a:solidFill>
              <a:srgbClr val="E1EAF0"/>
            </a:solidFill>
            <a:prstDash val="solid"/>
          </a:ln>
          <a:effectLst>
            <a:outerShdw sx="100000" sy="100000" kx="0" ky="0" algn="bl" rotWithShape="0" blurRad="127000" dist="25400" dir="5400000">
              <a:srgbClr val="9FB4C2">
                <a:alpha val="35000"/>
              </a:srgbClr>
            </a:outerShdw>
          </a:effectLst>
        </p:spPr>
      </p:sp>
      <p:sp>
        <p:nvSpPr>
          <p:cNvPr id="37" name="Shape 34"/>
          <p:cNvSpPr/>
          <p:nvPr/>
        </p:nvSpPr>
        <p:spPr>
          <a:xfrm>
            <a:off x="4434840" y="3401568"/>
            <a:ext cx="640080" cy="640080"/>
          </a:xfrm>
          <a:prstGeom prst="ellipse">
            <a:avLst/>
          </a:prstGeom>
          <a:solidFill>
            <a:srgbClr val="065A82"/>
          </a:solidFill>
          <a:ln w="12700">
            <a:solidFill>
              <a:srgbClr val="065A82"/>
            </a:solidFill>
            <a:prstDash val="solid"/>
          </a:ln>
        </p:spPr>
      </p:sp>
      <p:pic>
        <p:nvPicPr>
          <p:cNvPr id="38" name="Image 1" descr="preencoded.png">    </p:cNvPr>
          <p:cNvPicPr>
            <a:picLocks noChangeAspect="1"/>
          </p:cNvPicPr>
          <p:nvPr/>
        </p:nvPicPr>
        <p:blipFill>
          <a:blip r:embed="rId2"/>
          <a:stretch>
            <a:fillRect/>
          </a:stretch>
        </p:blipFill>
        <p:spPr>
          <a:xfrm>
            <a:off x="4601261" y="3567989"/>
            <a:ext cx="307238" cy="307238"/>
          </a:xfrm>
          <a:prstGeom prst="rect">
            <a:avLst/>
          </a:prstGeom>
        </p:spPr>
      </p:pic>
      <p:sp>
        <p:nvSpPr>
          <p:cNvPr id="39" name="Text 35"/>
          <p:cNvSpPr/>
          <p:nvPr/>
        </p:nvSpPr>
        <p:spPr>
          <a:xfrm>
            <a:off x="5230368" y="3291840"/>
            <a:ext cx="6035040" cy="310896"/>
          </a:xfrm>
          <a:prstGeom prst="rect">
            <a:avLst/>
          </a:prstGeom>
          <a:noFill/>
          <a:ln/>
        </p:spPr>
        <p:txBody>
          <a:bodyPr wrap="square" lIns="0" tIns="0" rIns="0" bIns="0" rtlCol="0" anchor="ctr"/>
          <a:lstStyle/>
          <a:p>
            <a:pPr indent="0" marL="0">
              <a:buNone/>
            </a:pPr>
            <a:r>
              <a:rPr lang="en-US" sz="1550" b="1" dirty="0">
                <a:solidFill>
                  <a:srgbClr val="17303F"/>
                </a:solidFill>
                <a:latin typeface="Calibri" pitchFamily="34" charset="0"/>
                <a:ea typeface="Calibri" pitchFamily="34" charset="-122"/>
                <a:cs typeface="Calibri" pitchFamily="34" charset="-120"/>
              </a:rPr>
              <a:t>Container accountability</a:t>
            </a:r>
            <a:endParaRPr lang="en-US" sz="1550" dirty="0"/>
          </a:p>
        </p:txBody>
      </p:sp>
      <p:sp>
        <p:nvSpPr>
          <p:cNvPr id="40" name="Text 36"/>
          <p:cNvSpPr/>
          <p:nvPr/>
        </p:nvSpPr>
        <p:spPr>
          <a:xfrm>
            <a:off x="5230368" y="3639312"/>
            <a:ext cx="6080760" cy="566928"/>
          </a:xfrm>
          <a:prstGeom prst="rect">
            <a:avLst/>
          </a:prstGeom>
          <a:noFill/>
          <a:ln/>
        </p:spPr>
        <p:txBody>
          <a:bodyPr wrap="square" lIns="0" tIns="0" rIns="0" bIns="0" rtlCol="0" anchor="ctr"/>
          <a:lstStyle/>
          <a:p>
            <a:pPr indent="0" marL="0">
              <a:lnSpc>
                <a:spcPts val="1700"/>
              </a:lnSpc>
              <a:buNone/>
            </a:pPr>
            <a:r>
              <a:rPr lang="en-US" sz="1250" dirty="0">
                <a:solidFill>
                  <a:srgbClr val="5C7080"/>
                </a:solidFill>
                <a:latin typeface="Calibri" pitchFamily="34" charset="0"/>
                <a:ea typeface="Calibri" pitchFamily="34" charset="-122"/>
                <a:cs typeface="Calibri" pitchFamily="34" charset="-120"/>
              </a:rPr>
              <a:t>The app records how many empty containers are out with each customer and when they are due back.</a:t>
            </a:r>
            <a:endParaRPr lang="en-US" sz="1250" dirty="0"/>
          </a:p>
        </p:txBody>
      </p:sp>
      <p:sp>
        <p:nvSpPr>
          <p:cNvPr id="41" name="Shape 37"/>
          <p:cNvSpPr/>
          <p:nvPr/>
        </p:nvSpPr>
        <p:spPr>
          <a:xfrm>
            <a:off x="4160520" y="4526280"/>
            <a:ext cx="7406640" cy="1234440"/>
          </a:xfrm>
          <a:prstGeom prst="roundRect">
            <a:avLst>
              <a:gd name="adj" fmla="val 6667"/>
            </a:avLst>
          </a:prstGeom>
          <a:solidFill>
            <a:srgbClr val="FFFFFF"/>
          </a:solidFill>
          <a:ln w="9525">
            <a:solidFill>
              <a:srgbClr val="E1EAF0"/>
            </a:solidFill>
            <a:prstDash val="solid"/>
          </a:ln>
          <a:effectLst>
            <a:outerShdw sx="100000" sy="100000" kx="0" ky="0" algn="bl" rotWithShape="0" blurRad="127000" dist="25400" dir="5400000">
              <a:srgbClr val="9FB4C2">
                <a:alpha val="35000"/>
              </a:srgbClr>
            </a:outerShdw>
          </a:effectLst>
        </p:spPr>
      </p:sp>
      <p:sp>
        <p:nvSpPr>
          <p:cNvPr id="42" name="Shape 38"/>
          <p:cNvSpPr/>
          <p:nvPr/>
        </p:nvSpPr>
        <p:spPr>
          <a:xfrm>
            <a:off x="4434840" y="4818888"/>
            <a:ext cx="640080" cy="640080"/>
          </a:xfrm>
          <a:prstGeom prst="ellipse">
            <a:avLst/>
          </a:prstGeom>
          <a:solidFill>
            <a:srgbClr val="065A82"/>
          </a:solidFill>
          <a:ln w="12700">
            <a:solidFill>
              <a:srgbClr val="065A82"/>
            </a:solidFill>
            <a:prstDash val="solid"/>
          </a:ln>
        </p:spPr>
      </p:sp>
      <p:pic>
        <p:nvPicPr>
          <p:cNvPr id="43" name="Image 2" descr="preencoded.png">    </p:cNvPr>
          <p:cNvPicPr>
            <a:picLocks noChangeAspect="1"/>
          </p:cNvPicPr>
          <p:nvPr/>
        </p:nvPicPr>
        <p:blipFill>
          <a:blip r:embed="rId3"/>
          <a:stretch>
            <a:fillRect/>
          </a:stretch>
        </p:blipFill>
        <p:spPr>
          <a:xfrm>
            <a:off x="4601261" y="4985309"/>
            <a:ext cx="307238" cy="307238"/>
          </a:xfrm>
          <a:prstGeom prst="rect">
            <a:avLst/>
          </a:prstGeom>
        </p:spPr>
      </p:pic>
      <p:sp>
        <p:nvSpPr>
          <p:cNvPr id="44" name="Text 39"/>
          <p:cNvSpPr/>
          <p:nvPr/>
        </p:nvSpPr>
        <p:spPr>
          <a:xfrm>
            <a:off x="5230368" y="4709160"/>
            <a:ext cx="6035040" cy="310896"/>
          </a:xfrm>
          <a:prstGeom prst="rect">
            <a:avLst/>
          </a:prstGeom>
          <a:noFill/>
          <a:ln/>
        </p:spPr>
        <p:txBody>
          <a:bodyPr wrap="square" lIns="0" tIns="0" rIns="0" bIns="0" rtlCol="0" anchor="ctr"/>
          <a:lstStyle/>
          <a:p>
            <a:pPr indent="0" marL="0">
              <a:buNone/>
            </a:pPr>
            <a:r>
              <a:rPr lang="en-US" sz="1550" b="1" dirty="0">
                <a:solidFill>
                  <a:srgbClr val="17303F"/>
                </a:solidFill>
                <a:latin typeface="Calibri" pitchFamily="34" charset="0"/>
                <a:ea typeface="Calibri" pitchFamily="34" charset="-122"/>
                <a:cs typeface="Calibri" pitchFamily="34" charset="-120"/>
              </a:rPr>
              <a:t>Automatic reminders</a:t>
            </a:r>
            <a:endParaRPr lang="en-US" sz="1550" dirty="0"/>
          </a:p>
        </p:txBody>
      </p:sp>
      <p:sp>
        <p:nvSpPr>
          <p:cNvPr id="45" name="Text 40"/>
          <p:cNvSpPr/>
          <p:nvPr/>
        </p:nvSpPr>
        <p:spPr>
          <a:xfrm>
            <a:off x="5230368" y="5056632"/>
            <a:ext cx="6080760" cy="566928"/>
          </a:xfrm>
          <a:prstGeom prst="rect">
            <a:avLst/>
          </a:prstGeom>
          <a:noFill/>
          <a:ln/>
        </p:spPr>
        <p:txBody>
          <a:bodyPr wrap="square" lIns="0" tIns="0" rIns="0" bIns="0" rtlCol="0" anchor="ctr"/>
          <a:lstStyle/>
          <a:p>
            <a:pPr indent="0" marL="0">
              <a:lnSpc>
                <a:spcPts val="1700"/>
              </a:lnSpc>
              <a:buNone/>
            </a:pPr>
            <a:r>
              <a:rPr lang="en-US" sz="1250" dirty="0">
                <a:solidFill>
                  <a:srgbClr val="5C7080"/>
                </a:solidFill>
                <a:latin typeface="Calibri" pitchFamily="34" charset="0"/>
                <a:ea typeface="Calibri" pitchFamily="34" charset="-122"/>
                <a:cs typeface="Calibri" pitchFamily="34" charset="-120"/>
              </a:rPr>
              <a:t>Both the station and the customer get a notification the day before a scheduled pickup.</a:t>
            </a:r>
            <a:endParaRPr lang="en-US" sz="1250" dirty="0"/>
          </a:p>
        </p:txBody>
      </p:sp>
      <p:sp>
        <p:nvSpPr>
          <p:cNvPr id="46" name="Text 41"/>
          <p:cNvSpPr/>
          <p:nvPr/>
        </p:nvSpPr>
        <p:spPr>
          <a:xfrm>
            <a:off x="4160520" y="5943600"/>
            <a:ext cx="7315200" cy="274320"/>
          </a:xfrm>
          <a:prstGeom prst="rect">
            <a:avLst/>
          </a:prstGeom>
          <a:noFill/>
          <a:ln/>
        </p:spPr>
        <p:txBody>
          <a:bodyPr wrap="square" lIns="0" tIns="0" rIns="0" bIns="0"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Pickups become planned work instead of an interruption to the delivery run.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FEATURE 03</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POS &amp; Profit Tracking</a:t>
            </a:r>
            <a:endParaRPr lang="en-US" sz="3400" dirty="0"/>
          </a:p>
        </p:txBody>
      </p:sp>
      <p:sp>
        <p:nvSpPr>
          <p:cNvPr id="4" name="Text 2"/>
          <p:cNvSpPr/>
          <p:nvPr/>
        </p:nvSpPr>
        <p:spPr>
          <a:xfrm>
            <a:off x="640080" y="1371600"/>
            <a:ext cx="8686800" cy="320040"/>
          </a:xfrm>
          <a:prstGeom prst="rect">
            <a:avLst/>
          </a:prstGeom>
          <a:noFill/>
          <a:ln/>
        </p:spPr>
        <p:txBody>
          <a:bodyPr wrap="square" lIns="0" tIns="0" rIns="0" bIns="0" rtlCol="0" anchor="ctr"/>
          <a:lstStyle/>
          <a:p>
            <a:pPr indent="0" marL="0">
              <a:buNone/>
            </a:pPr>
            <a:r>
              <a:rPr lang="en-US" sz="1400" dirty="0">
                <a:solidFill>
                  <a:srgbClr val="5C7080"/>
                </a:solidFill>
                <a:latin typeface="Calibri" pitchFamily="34" charset="0"/>
                <a:ea typeface="Calibri" pitchFamily="34" charset="-122"/>
                <a:cs typeface="Calibri" pitchFamily="34" charset="-120"/>
              </a:rPr>
              <a:t>The register replaces the notebook. Revenue, cost and profit are computed as each refill is sold.</a:t>
            </a:r>
            <a:endParaRPr lang="en-US" sz="1400" dirty="0"/>
          </a:p>
        </p:txBody>
      </p:sp>
      <p:graphicFrame>
        <p:nvGraphicFramePr>
          <p:cNvPr id="5" name="Chart 0" descr=""/>
          <p:cNvGraphicFramePr/>
          <p:nvPr/>
        </p:nvGraphicFramePr>
        <p:xfrm>
          <a:off x="640080" y="1965960"/>
          <a:ext cx="6766560" cy="37947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26680" y="1965960"/>
            <a:ext cx="3840480" cy="841248"/>
          </a:xfrm>
          <a:prstGeom prst="roundRect">
            <a:avLst>
              <a:gd name="adj" fmla="val 7609"/>
            </a:avLst>
          </a:prstGeom>
          <a:solidFill>
            <a:srgbClr val="F1F7FA"/>
          </a:solidFill>
          <a:ln w="12700">
            <a:solidFill>
              <a:srgbClr val="E1EAF0"/>
            </a:solidFill>
            <a:prstDash val="solid"/>
          </a:ln>
        </p:spPr>
      </p:sp>
      <p:sp>
        <p:nvSpPr>
          <p:cNvPr id="7" name="Text 4"/>
          <p:cNvSpPr/>
          <p:nvPr/>
        </p:nvSpPr>
        <p:spPr>
          <a:xfrm>
            <a:off x="7936992" y="2057400"/>
            <a:ext cx="3474720" cy="25603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Preset pricing</a:t>
            </a:r>
            <a:endParaRPr lang="en-US" sz="1350" dirty="0"/>
          </a:p>
        </p:txBody>
      </p:sp>
      <p:sp>
        <p:nvSpPr>
          <p:cNvPr id="8" name="Text 5"/>
          <p:cNvSpPr/>
          <p:nvPr/>
        </p:nvSpPr>
        <p:spPr>
          <a:xfrm>
            <a:off x="7936992" y="2313432"/>
            <a:ext cx="3474720" cy="457200"/>
          </a:xfrm>
          <a:prstGeom prst="rect">
            <a:avLst/>
          </a:prstGeom>
          <a:noFill/>
          <a:ln/>
        </p:spPr>
        <p:txBody>
          <a:bodyPr wrap="square" lIns="0" tIns="0" rIns="0" bIns="0" rtlCol="0" anchor="ctr"/>
          <a:lstStyle/>
          <a:p>
            <a:pPr indent="0" marL="0">
              <a:lnSpc>
                <a:spcPts val="1400"/>
              </a:lnSpc>
              <a:buNone/>
            </a:pPr>
            <a:r>
              <a:rPr lang="en-US" sz="1100" dirty="0">
                <a:solidFill>
                  <a:srgbClr val="5C7080"/>
                </a:solidFill>
                <a:latin typeface="Calibri" pitchFamily="34" charset="0"/>
                <a:ea typeface="Calibri" pitchFamily="34" charset="-122"/>
                <a:cs typeface="Calibri" pitchFamily="34" charset="-120"/>
              </a:rPr>
              <a:t>Container sizes and prices are stored once; the total is never computed by hand again.</a:t>
            </a:r>
            <a:endParaRPr lang="en-US" sz="1100" dirty="0"/>
          </a:p>
        </p:txBody>
      </p:sp>
      <p:sp>
        <p:nvSpPr>
          <p:cNvPr id="9" name="Shape 6"/>
          <p:cNvSpPr/>
          <p:nvPr/>
        </p:nvSpPr>
        <p:spPr>
          <a:xfrm>
            <a:off x="7726680" y="2935224"/>
            <a:ext cx="3840480" cy="841248"/>
          </a:xfrm>
          <a:prstGeom prst="roundRect">
            <a:avLst>
              <a:gd name="adj" fmla="val 7609"/>
            </a:avLst>
          </a:prstGeom>
          <a:solidFill>
            <a:srgbClr val="F1F7FA"/>
          </a:solidFill>
          <a:ln w="12700">
            <a:solidFill>
              <a:srgbClr val="E1EAF0"/>
            </a:solidFill>
            <a:prstDash val="solid"/>
          </a:ln>
        </p:spPr>
      </p:sp>
      <p:sp>
        <p:nvSpPr>
          <p:cNvPr id="10" name="Text 7"/>
          <p:cNvSpPr/>
          <p:nvPr/>
        </p:nvSpPr>
        <p:spPr>
          <a:xfrm>
            <a:off x="7936992" y="3026664"/>
            <a:ext cx="3474720" cy="25603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Change &amp; balance</a:t>
            </a:r>
            <a:endParaRPr lang="en-US" sz="1350" dirty="0"/>
          </a:p>
        </p:txBody>
      </p:sp>
      <p:sp>
        <p:nvSpPr>
          <p:cNvPr id="11" name="Text 8"/>
          <p:cNvSpPr/>
          <p:nvPr/>
        </p:nvSpPr>
        <p:spPr>
          <a:xfrm>
            <a:off x="7936992" y="3282696"/>
            <a:ext cx="3474720" cy="457200"/>
          </a:xfrm>
          <a:prstGeom prst="rect">
            <a:avLst/>
          </a:prstGeom>
          <a:noFill/>
          <a:ln/>
        </p:spPr>
        <p:txBody>
          <a:bodyPr wrap="square" lIns="0" tIns="0" rIns="0" bIns="0" rtlCol="0" anchor="ctr"/>
          <a:lstStyle/>
          <a:p>
            <a:pPr indent="0" marL="0">
              <a:lnSpc>
                <a:spcPts val="1400"/>
              </a:lnSpc>
              <a:buNone/>
            </a:pPr>
            <a:r>
              <a:rPr lang="en-US" sz="1100" dirty="0">
                <a:solidFill>
                  <a:srgbClr val="5C7080"/>
                </a:solidFill>
                <a:latin typeface="Calibri" pitchFamily="34" charset="0"/>
                <a:ea typeface="Calibri" pitchFamily="34" charset="-122"/>
                <a:cs typeface="Calibri" pitchFamily="34" charset="-120"/>
              </a:rPr>
              <a:t>The app returns the exact change and flags unpaid balances per customer.</a:t>
            </a:r>
            <a:endParaRPr lang="en-US" sz="1100" dirty="0"/>
          </a:p>
        </p:txBody>
      </p:sp>
      <p:sp>
        <p:nvSpPr>
          <p:cNvPr id="12" name="Shape 9"/>
          <p:cNvSpPr/>
          <p:nvPr/>
        </p:nvSpPr>
        <p:spPr>
          <a:xfrm>
            <a:off x="7726680" y="3904488"/>
            <a:ext cx="3840480" cy="841248"/>
          </a:xfrm>
          <a:prstGeom prst="roundRect">
            <a:avLst>
              <a:gd name="adj" fmla="val 7609"/>
            </a:avLst>
          </a:prstGeom>
          <a:solidFill>
            <a:srgbClr val="F1F7FA"/>
          </a:solidFill>
          <a:ln w="12700">
            <a:solidFill>
              <a:srgbClr val="E1EAF0"/>
            </a:solidFill>
            <a:prstDash val="solid"/>
          </a:ln>
        </p:spPr>
      </p:sp>
      <p:sp>
        <p:nvSpPr>
          <p:cNvPr id="13" name="Text 10"/>
          <p:cNvSpPr/>
          <p:nvPr/>
        </p:nvSpPr>
        <p:spPr>
          <a:xfrm>
            <a:off x="7936992" y="3995928"/>
            <a:ext cx="3474720" cy="25603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Cost of refill</a:t>
            </a:r>
            <a:endParaRPr lang="en-US" sz="1350" dirty="0"/>
          </a:p>
        </p:txBody>
      </p:sp>
      <p:sp>
        <p:nvSpPr>
          <p:cNvPr id="14" name="Text 11"/>
          <p:cNvSpPr/>
          <p:nvPr/>
        </p:nvSpPr>
        <p:spPr>
          <a:xfrm>
            <a:off x="7936992" y="4251960"/>
            <a:ext cx="3474720" cy="457200"/>
          </a:xfrm>
          <a:prstGeom prst="rect">
            <a:avLst/>
          </a:prstGeom>
          <a:noFill/>
          <a:ln/>
        </p:spPr>
        <p:txBody>
          <a:bodyPr wrap="square" lIns="0" tIns="0" rIns="0" bIns="0" rtlCol="0" anchor="ctr"/>
          <a:lstStyle/>
          <a:p>
            <a:pPr indent="0" marL="0">
              <a:lnSpc>
                <a:spcPts val="1400"/>
              </a:lnSpc>
              <a:buNone/>
            </a:pPr>
            <a:r>
              <a:rPr lang="en-US" sz="1100" dirty="0">
                <a:solidFill>
                  <a:srgbClr val="5C7080"/>
                </a:solidFill>
                <a:latin typeface="Calibri" pitchFamily="34" charset="0"/>
                <a:ea typeface="Calibri" pitchFamily="34" charset="-122"/>
                <a:cs typeface="Calibri" pitchFamily="34" charset="-120"/>
              </a:rPr>
              <a:t>Water, electricity and container cost are deducted so the operator sees true profit, not just sales.</a:t>
            </a:r>
            <a:endParaRPr lang="en-US" sz="1100" dirty="0"/>
          </a:p>
        </p:txBody>
      </p:sp>
      <p:sp>
        <p:nvSpPr>
          <p:cNvPr id="15" name="Shape 12"/>
          <p:cNvSpPr/>
          <p:nvPr/>
        </p:nvSpPr>
        <p:spPr>
          <a:xfrm>
            <a:off x="7726680" y="4873752"/>
            <a:ext cx="3840480" cy="841248"/>
          </a:xfrm>
          <a:prstGeom prst="roundRect">
            <a:avLst>
              <a:gd name="adj" fmla="val 7609"/>
            </a:avLst>
          </a:prstGeom>
          <a:solidFill>
            <a:srgbClr val="F1F7FA"/>
          </a:solidFill>
          <a:ln w="12700">
            <a:solidFill>
              <a:srgbClr val="E1EAF0"/>
            </a:solidFill>
            <a:prstDash val="solid"/>
          </a:ln>
        </p:spPr>
      </p:sp>
      <p:sp>
        <p:nvSpPr>
          <p:cNvPr id="16" name="Text 13"/>
          <p:cNvSpPr/>
          <p:nvPr/>
        </p:nvSpPr>
        <p:spPr>
          <a:xfrm>
            <a:off x="7936992" y="4965192"/>
            <a:ext cx="3474720" cy="256032"/>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End-of-day report</a:t>
            </a:r>
            <a:endParaRPr lang="en-US" sz="1350" dirty="0"/>
          </a:p>
        </p:txBody>
      </p:sp>
      <p:sp>
        <p:nvSpPr>
          <p:cNvPr id="17" name="Text 14"/>
          <p:cNvSpPr/>
          <p:nvPr/>
        </p:nvSpPr>
        <p:spPr>
          <a:xfrm>
            <a:off x="7936992" y="5221224"/>
            <a:ext cx="3474720" cy="457200"/>
          </a:xfrm>
          <a:prstGeom prst="rect">
            <a:avLst/>
          </a:prstGeom>
          <a:noFill/>
          <a:ln/>
        </p:spPr>
        <p:txBody>
          <a:bodyPr wrap="square" lIns="0" tIns="0" rIns="0" bIns="0" rtlCol="0" anchor="ctr"/>
          <a:lstStyle/>
          <a:p>
            <a:pPr indent="0" marL="0">
              <a:lnSpc>
                <a:spcPts val="1400"/>
              </a:lnSpc>
              <a:buNone/>
            </a:pPr>
            <a:r>
              <a:rPr lang="en-US" sz="1100" dirty="0">
                <a:solidFill>
                  <a:srgbClr val="5C7080"/>
                </a:solidFill>
                <a:latin typeface="Calibri" pitchFamily="34" charset="0"/>
                <a:ea typeface="Calibri" pitchFamily="34" charset="-122"/>
                <a:cs typeface="Calibri" pitchFamily="34" charset="-120"/>
              </a:rPr>
              <a:t>One tap produces the daily summary that used to be re-copied every closing.</a:t>
            </a:r>
            <a:endParaRPr lang="en-US" sz="1100" dirty="0"/>
          </a:p>
        </p:txBody>
      </p:sp>
      <p:sp>
        <p:nvSpPr>
          <p:cNvPr id="18" name="Text 15"/>
          <p:cNvSpPr/>
          <p:nvPr/>
        </p:nvSpPr>
        <p:spPr>
          <a:xfrm>
            <a:off x="7726680" y="5870448"/>
            <a:ext cx="3840480" cy="228600"/>
          </a:xfrm>
          <a:prstGeom prst="rect">
            <a:avLst/>
          </a:prstGeom>
          <a:noFill/>
          <a:ln/>
        </p:spPr>
        <p:txBody>
          <a:bodyPr wrap="square" lIns="0" tIns="0" rIns="0" bIns="0" rtlCol="0" anchor="ctr"/>
          <a:lstStyle/>
          <a:p>
            <a:pPr indent="0" marL="0">
              <a:buNone/>
            </a:pPr>
            <a:r>
              <a:rPr lang="en-US" sz="950" i="1" dirty="0">
                <a:solidFill>
                  <a:srgbClr val="AFC2CE"/>
                </a:solidFill>
                <a:latin typeface="Calibri" pitchFamily="34" charset="0"/>
                <a:ea typeface="Calibri" pitchFamily="34" charset="-122"/>
                <a:cs typeface="Calibri" pitchFamily="34" charset="-120"/>
              </a:rPr>
              <a:t>Sample figures shown for illustration.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FEATURE 04</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Photo Count &amp; Instant Billing</a:t>
            </a:r>
            <a:endParaRPr lang="en-US" sz="3400" dirty="0"/>
          </a:p>
        </p:txBody>
      </p:sp>
      <p:sp>
        <p:nvSpPr>
          <p:cNvPr id="4" name="Text 2"/>
          <p:cNvSpPr/>
          <p:nvPr/>
        </p:nvSpPr>
        <p:spPr>
          <a:xfrm>
            <a:off x="640080" y="1371600"/>
            <a:ext cx="8686800" cy="320040"/>
          </a:xfrm>
          <a:prstGeom prst="rect">
            <a:avLst/>
          </a:prstGeom>
          <a:noFill/>
          <a:ln/>
        </p:spPr>
        <p:txBody>
          <a:bodyPr wrap="square" lIns="0" tIns="0" rIns="0" bIns="0" rtlCol="0" anchor="ctr"/>
          <a:lstStyle/>
          <a:p>
            <a:pPr indent="0" marL="0">
              <a:buNone/>
            </a:pPr>
            <a:r>
              <a:rPr lang="en-US" sz="1400" dirty="0">
                <a:solidFill>
                  <a:srgbClr val="5C7080"/>
                </a:solidFill>
                <a:latin typeface="Calibri" pitchFamily="34" charset="0"/>
                <a:ea typeface="Calibri" pitchFamily="34" charset="-122"/>
                <a:cs typeface="Calibri" pitchFamily="34" charset="-120"/>
              </a:rPr>
              <a:t>One picture of the containers replaces counting them by hand and pricing them by hand.</a:t>
            </a:r>
            <a:endParaRPr lang="en-US" sz="1400" dirty="0"/>
          </a:p>
        </p:txBody>
      </p:sp>
      <p:sp>
        <p:nvSpPr>
          <p:cNvPr id="5" name="Shape 3"/>
          <p:cNvSpPr/>
          <p:nvPr/>
        </p:nvSpPr>
        <p:spPr>
          <a:xfrm>
            <a:off x="640080" y="1920240"/>
            <a:ext cx="5760720" cy="3931920"/>
          </a:xfrm>
          <a:prstGeom prst="roundRect">
            <a:avLst>
              <a:gd name="adj" fmla="val 2093"/>
            </a:avLst>
          </a:prstGeom>
          <a:solidFill>
            <a:srgbClr val="13293D"/>
          </a:solidFill>
          <a:ln w="12700">
            <a:solidFill>
              <a:srgbClr val="13293D"/>
            </a:solidFill>
            <a:prstDash val="solid"/>
          </a:ln>
        </p:spPr>
      </p:sp>
      <p:sp>
        <p:nvSpPr>
          <p:cNvPr id="6" name="Shape 4"/>
          <p:cNvSpPr/>
          <p:nvPr/>
        </p:nvSpPr>
        <p:spPr>
          <a:xfrm>
            <a:off x="868680" y="5029200"/>
            <a:ext cx="5303520" cy="512064"/>
          </a:xfrm>
          <a:prstGeom prst="rect">
            <a:avLst/>
          </a:prstGeom>
          <a:solidFill>
            <a:srgbClr val="1E3B52"/>
          </a:solidFill>
          <a:ln w="12700">
            <a:solidFill>
              <a:srgbClr val="1E3B52"/>
            </a:solidFill>
            <a:prstDash val="solid"/>
          </a:ln>
        </p:spPr>
      </p:sp>
      <p:sp>
        <p:nvSpPr>
          <p:cNvPr id="7" name="Shape 5"/>
          <p:cNvSpPr/>
          <p:nvPr/>
        </p:nvSpPr>
        <p:spPr>
          <a:xfrm>
            <a:off x="1239012" y="2359152"/>
            <a:ext cx="777240" cy="950976"/>
          </a:xfrm>
          <a:prstGeom prst="roundRect">
            <a:avLst>
              <a:gd name="adj" fmla="val 14118"/>
            </a:avLst>
          </a:prstGeom>
          <a:solidFill>
            <a:srgbClr val="4FA3C4"/>
          </a:solidFill>
          <a:ln w="12700">
            <a:solidFill>
              <a:srgbClr val="6FBBD6"/>
            </a:solidFill>
            <a:prstDash val="solid"/>
          </a:ln>
        </p:spPr>
      </p:sp>
      <p:sp>
        <p:nvSpPr>
          <p:cNvPr id="8" name="Shape 6"/>
          <p:cNvSpPr/>
          <p:nvPr/>
        </p:nvSpPr>
        <p:spPr>
          <a:xfrm>
            <a:off x="1495044" y="2212848"/>
            <a:ext cx="265176" cy="182880"/>
          </a:xfrm>
          <a:prstGeom prst="roundRect">
            <a:avLst>
              <a:gd name="adj" fmla="val 25000"/>
            </a:avLst>
          </a:prstGeom>
          <a:solidFill>
            <a:srgbClr val="1F6F8B"/>
          </a:solidFill>
          <a:ln w="12700">
            <a:solidFill>
              <a:srgbClr val="1F6F8B"/>
            </a:solidFill>
            <a:prstDash val="solid"/>
          </a:ln>
        </p:spPr>
      </p:sp>
      <p:sp>
        <p:nvSpPr>
          <p:cNvPr id="9" name="Shape 7"/>
          <p:cNvSpPr/>
          <p:nvPr/>
        </p:nvSpPr>
        <p:spPr>
          <a:xfrm>
            <a:off x="1284732" y="2761488"/>
            <a:ext cx="685800" cy="256032"/>
          </a:xfrm>
          <a:prstGeom prst="rect">
            <a:avLst/>
          </a:prstGeom>
          <a:solidFill>
            <a:srgbClr val="FFFFFF">
              <a:alpha val="28000"/>
            </a:srgbClr>
          </a:solidFill>
          <a:ln w="12700">
            <a:solidFill>
              <a:srgbClr val="FFFFFF">
                <a:alpha val="28000"/>
              </a:srgbClr>
            </a:solidFill>
            <a:prstDash val="solid"/>
          </a:ln>
        </p:spPr>
      </p:sp>
      <p:sp>
        <p:nvSpPr>
          <p:cNvPr id="10" name="Shape 8"/>
          <p:cNvSpPr/>
          <p:nvPr/>
        </p:nvSpPr>
        <p:spPr>
          <a:xfrm>
            <a:off x="1147572" y="2121408"/>
            <a:ext cx="960120" cy="1280160"/>
          </a:xfrm>
          <a:prstGeom prst="rect">
            <a:avLst/>
          </a:prstGeom>
          <a:solidFill>
            <a:srgbClr val="02C39A">
              <a:alpha val="8000"/>
            </a:srgbClr>
          </a:solidFill>
          <a:ln w="19050">
            <a:solidFill>
              <a:srgbClr val="02C39A"/>
            </a:solidFill>
            <a:prstDash val="solid"/>
          </a:ln>
        </p:spPr>
      </p:sp>
      <p:sp>
        <p:nvSpPr>
          <p:cNvPr id="11" name="Shape 9"/>
          <p:cNvSpPr/>
          <p:nvPr/>
        </p:nvSpPr>
        <p:spPr>
          <a:xfrm>
            <a:off x="1147572" y="1920240"/>
            <a:ext cx="457200" cy="201168"/>
          </a:xfrm>
          <a:prstGeom prst="rect">
            <a:avLst/>
          </a:prstGeom>
          <a:solidFill>
            <a:srgbClr val="02C39A"/>
          </a:solidFill>
          <a:ln w="12700">
            <a:solidFill>
              <a:srgbClr val="02C39A"/>
            </a:solidFill>
            <a:prstDash val="solid"/>
          </a:ln>
        </p:spPr>
      </p:sp>
      <p:sp>
        <p:nvSpPr>
          <p:cNvPr id="12" name="Text 10"/>
          <p:cNvSpPr/>
          <p:nvPr/>
        </p:nvSpPr>
        <p:spPr>
          <a:xfrm>
            <a:off x="1147572" y="1920240"/>
            <a:ext cx="457200" cy="201168"/>
          </a:xfrm>
          <a:prstGeom prst="rect">
            <a:avLst/>
          </a:prstGeom>
          <a:noFill/>
          <a:ln/>
        </p:spPr>
        <p:txBody>
          <a:bodyPr wrap="square" lIns="0" tIns="0" rIns="0" bIns="0" rtlCol="0" anchor="ctr"/>
          <a:lstStyle/>
          <a:p>
            <a:pPr algn="ctr" indent="0" marL="0">
              <a:buNone/>
            </a:pPr>
            <a:r>
              <a:rPr lang="en-US" sz="900" b="1" dirty="0">
                <a:solidFill>
                  <a:srgbClr val="0A2540"/>
                </a:solidFill>
                <a:latin typeface="Calibri" pitchFamily="34" charset="0"/>
                <a:ea typeface="Calibri" pitchFamily="34" charset="-122"/>
                <a:cs typeface="Calibri" pitchFamily="34" charset="-120"/>
              </a:rPr>
              <a:t>1</a:t>
            </a:r>
            <a:endParaRPr lang="en-US" sz="900" dirty="0"/>
          </a:p>
        </p:txBody>
      </p:sp>
      <p:sp>
        <p:nvSpPr>
          <p:cNvPr id="13" name="Shape 11"/>
          <p:cNvSpPr/>
          <p:nvPr/>
        </p:nvSpPr>
        <p:spPr>
          <a:xfrm>
            <a:off x="2500884" y="2359152"/>
            <a:ext cx="777240" cy="950976"/>
          </a:xfrm>
          <a:prstGeom prst="roundRect">
            <a:avLst>
              <a:gd name="adj" fmla="val 14118"/>
            </a:avLst>
          </a:prstGeom>
          <a:solidFill>
            <a:srgbClr val="4FA3C4"/>
          </a:solidFill>
          <a:ln w="12700">
            <a:solidFill>
              <a:srgbClr val="6FBBD6"/>
            </a:solidFill>
            <a:prstDash val="solid"/>
          </a:ln>
        </p:spPr>
      </p:sp>
      <p:sp>
        <p:nvSpPr>
          <p:cNvPr id="14" name="Shape 12"/>
          <p:cNvSpPr/>
          <p:nvPr/>
        </p:nvSpPr>
        <p:spPr>
          <a:xfrm>
            <a:off x="2756916" y="2212848"/>
            <a:ext cx="265176" cy="182880"/>
          </a:xfrm>
          <a:prstGeom prst="roundRect">
            <a:avLst>
              <a:gd name="adj" fmla="val 25000"/>
            </a:avLst>
          </a:prstGeom>
          <a:solidFill>
            <a:srgbClr val="1F6F8B"/>
          </a:solidFill>
          <a:ln w="12700">
            <a:solidFill>
              <a:srgbClr val="1F6F8B"/>
            </a:solidFill>
            <a:prstDash val="solid"/>
          </a:ln>
        </p:spPr>
      </p:sp>
      <p:sp>
        <p:nvSpPr>
          <p:cNvPr id="15" name="Shape 13"/>
          <p:cNvSpPr/>
          <p:nvPr/>
        </p:nvSpPr>
        <p:spPr>
          <a:xfrm>
            <a:off x="2546604" y="2761488"/>
            <a:ext cx="685800" cy="256032"/>
          </a:xfrm>
          <a:prstGeom prst="rect">
            <a:avLst/>
          </a:prstGeom>
          <a:solidFill>
            <a:srgbClr val="FFFFFF">
              <a:alpha val="28000"/>
            </a:srgbClr>
          </a:solidFill>
          <a:ln w="12700">
            <a:solidFill>
              <a:srgbClr val="FFFFFF">
                <a:alpha val="28000"/>
              </a:srgbClr>
            </a:solidFill>
            <a:prstDash val="solid"/>
          </a:ln>
        </p:spPr>
      </p:sp>
      <p:sp>
        <p:nvSpPr>
          <p:cNvPr id="16" name="Shape 14"/>
          <p:cNvSpPr/>
          <p:nvPr/>
        </p:nvSpPr>
        <p:spPr>
          <a:xfrm>
            <a:off x="2409444" y="2121408"/>
            <a:ext cx="960120" cy="1280160"/>
          </a:xfrm>
          <a:prstGeom prst="rect">
            <a:avLst/>
          </a:prstGeom>
          <a:solidFill>
            <a:srgbClr val="02C39A">
              <a:alpha val="8000"/>
            </a:srgbClr>
          </a:solidFill>
          <a:ln w="19050">
            <a:solidFill>
              <a:srgbClr val="02C39A"/>
            </a:solidFill>
            <a:prstDash val="solid"/>
          </a:ln>
        </p:spPr>
      </p:sp>
      <p:sp>
        <p:nvSpPr>
          <p:cNvPr id="17" name="Shape 15"/>
          <p:cNvSpPr/>
          <p:nvPr/>
        </p:nvSpPr>
        <p:spPr>
          <a:xfrm>
            <a:off x="2409444" y="1920240"/>
            <a:ext cx="457200" cy="201168"/>
          </a:xfrm>
          <a:prstGeom prst="rect">
            <a:avLst/>
          </a:prstGeom>
          <a:solidFill>
            <a:srgbClr val="02C39A"/>
          </a:solidFill>
          <a:ln w="12700">
            <a:solidFill>
              <a:srgbClr val="02C39A"/>
            </a:solidFill>
            <a:prstDash val="solid"/>
          </a:ln>
        </p:spPr>
      </p:sp>
      <p:sp>
        <p:nvSpPr>
          <p:cNvPr id="18" name="Text 16"/>
          <p:cNvSpPr/>
          <p:nvPr/>
        </p:nvSpPr>
        <p:spPr>
          <a:xfrm>
            <a:off x="2409444" y="1920240"/>
            <a:ext cx="457200" cy="201168"/>
          </a:xfrm>
          <a:prstGeom prst="rect">
            <a:avLst/>
          </a:prstGeom>
          <a:noFill/>
          <a:ln/>
        </p:spPr>
        <p:txBody>
          <a:bodyPr wrap="square" lIns="0" tIns="0" rIns="0" bIns="0" rtlCol="0" anchor="ctr"/>
          <a:lstStyle/>
          <a:p>
            <a:pPr algn="ctr" indent="0" marL="0">
              <a:buNone/>
            </a:pPr>
            <a:r>
              <a:rPr lang="en-US" sz="900" b="1" dirty="0">
                <a:solidFill>
                  <a:srgbClr val="0A2540"/>
                </a:solidFill>
                <a:latin typeface="Calibri" pitchFamily="34" charset="0"/>
                <a:ea typeface="Calibri" pitchFamily="34" charset="-122"/>
                <a:cs typeface="Calibri" pitchFamily="34" charset="-120"/>
              </a:rPr>
              <a:t>2</a:t>
            </a:r>
            <a:endParaRPr lang="en-US" sz="900" dirty="0"/>
          </a:p>
        </p:txBody>
      </p:sp>
      <p:sp>
        <p:nvSpPr>
          <p:cNvPr id="19" name="Shape 17"/>
          <p:cNvSpPr/>
          <p:nvPr/>
        </p:nvSpPr>
        <p:spPr>
          <a:xfrm>
            <a:off x="3762756" y="2359152"/>
            <a:ext cx="777240" cy="950976"/>
          </a:xfrm>
          <a:prstGeom prst="roundRect">
            <a:avLst>
              <a:gd name="adj" fmla="val 14118"/>
            </a:avLst>
          </a:prstGeom>
          <a:solidFill>
            <a:srgbClr val="4FA3C4"/>
          </a:solidFill>
          <a:ln w="12700">
            <a:solidFill>
              <a:srgbClr val="6FBBD6"/>
            </a:solidFill>
            <a:prstDash val="solid"/>
          </a:ln>
        </p:spPr>
      </p:sp>
      <p:sp>
        <p:nvSpPr>
          <p:cNvPr id="20" name="Shape 18"/>
          <p:cNvSpPr/>
          <p:nvPr/>
        </p:nvSpPr>
        <p:spPr>
          <a:xfrm>
            <a:off x="4018788" y="2212848"/>
            <a:ext cx="265176" cy="182880"/>
          </a:xfrm>
          <a:prstGeom prst="roundRect">
            <a:avLst>
              <a:gd name="adj" fmla="val 25000"/>
            </a:avLst>
          </a:prstGeom>
          <a:solidFill>
            <a:srgbClr val="1F6F8B"/>
          </a:solidFill>
          <a:ln w="12700">
            <a:solidFill>
              <a:srgbClr val="1F6F8B"/>
            </a:solidFill>
            <a:prstDash val="solid"/>
          </a:ln>
        </p:spPr>
      </p:sp>
      <p:sp>
        <p:nvSpPr>
          <p:cNvPr id="21" name="Shape 19"/>
          <p:cNvSpPr/>
          <p:nvPr/>
        </p:nvSpPr>
        <p:spPr>
          <a:xfrm>
            <a:off x="3808476" y="2761488"/>
            <a:ext cx="685800" cy="256032"/>
          </a:xfrm>
          <a:prstGeom prst="rect">
            <a:avLst/>
          </a:prstGeom>
          <a:solidFill>
            <a:srgbClr val="FFFFFF">
              <a:alpha val="28000"/>
            </a:srgbClr>
          </a:solidFill>
          <a:ln w="12700">
            <a:solidFill>
              <a:srgbClr val="FFFFFF">
                <a:alpha val="28000"/>
              </a:srgbClr>
            </a:solidFill>
            <a:prstDash val="solid"/>
          </a:ln>
        </p:spPr>
      </p:sp>
      <p:sp>
        <p:nvSpPr>
          <p:cNvPr id="22" name="Shape 20"/>
          <p:cNvSpPr/>
          <p:nvPr/>
        </p:nvSpPr>
        <p:spPr>
          <a:xfrm>
            <a:off x="3671316" y="2121408"/>
            <a:ext cx="960120" cy="1280160"/>
          </a:xfrm>
          <a:prstGeom prst="rect">
            <a:avLst/>
          </a:prstGeom>
          <a:solidFill>
            <a:srgbClr val="02C39A">
              <a:alpha val="8000"/>
            </a:srgbClr>
          </a:solidFill>
          <a:ln w="19050">
            <a:solidFill>
              <a:srgbClr val="02C39A"/>
            </a:solidFill>
            <a:prstDash val="solid"/>
          </a:ln>
        </p:spPr>
      </p:sp>
      <p:sp>
        <p:nvSpPr>
          <p:cNvPr id="23" name="Shape 21"/>
          <p:cNvSpPr/>
          <p:nvPr/>
        </p:nvSpPr>
        <p:spPr>
          <a:xfrm>
            <a:off x="3671316" y="1920240"/>
            <a:ext cx="457200" cy="201168"/>
          </a:xfrm>
          <a:prstGeom prst="rect">
            <a:avLst/>
          </a:prstGeom>
          <a:solidFill>
            <a:srgbClr val="02C39A"/>
          </a:solidFill>
          <a:ln w="12700">
            <a:solidFill>
              <a:srgbClr val="02C39A"/>
            </a:solidFill>
            <a:prstDash val="solid"/>
          </a:ln>
        </p:spPr>
      </p:sp>
      <p:sp>
        <p:nvSpPr>
          <p:cNvPr id="24" name="Text 22"/>
          <p:cNvSpPr/>
          <p:nvPr/>
        </p:nvSpPr>
        <p:spPr>
          <a:xfrm>
            <a:off x="3671316" y="1920240"/>
            <a:ext cx="457200" cy="201168"/>
          </a:xfrm>
          <a:prstGeom prst="rect">
            <a:avLst/>
          </a:prstGeom>
          <a:noFill/>
          <a:ln/>
        </p:spPr>
        <p:txBody>
          <a:bodyPr wrap="square" lIns="0" tIns="0" rIns="0" bIns="0" rtlCol="0" anchor="ctr"/>
          <a:lstStyle/>
          <a:p>
            <a:pPr algn="ctr" indent="0" marL="0">
              <a:buNone/>
            </a:pPr>
            <a:r>
              <a:rPr lang="en-US" sz="900" b="1" dirty="0">
                <a:solidFill>
                  <a:srgbClr val="0A2540"/>
                </a:solidFill>
                <a:latin typeface="Calibri" pitchFamily="34" charset="0"/>
                <a:ea typeface="Calibri" pitchFamily="34" charset="-122"/>
                <a:cs typeface="Calibri" pitchFamily="34" charset="-120"/>
              </a:rPr>
              <a:t>3</a:t>
            </a:r>
            <a:endParaRPr lang="en-US" sz="900" dirty="0"/>
          </a:p>
        </p:txBody>
      </p:sp>
      <p:sp>
        <p:nvSpPr>
          <p:cNvPr id="25" name="Shape 23"/>
          <p:cNvSpPr/>
          <p:nvPr/>
        </p:nvSpPr>
        <p:spPr>
          <a:xfrm>
            <a:off x="5024628" y="2359152"/>
            <a:ext cx="777240" cy="950976"/>
          </a:xfrm>
          <a:prstGeom prst="roundRect">
            <a:avLst>
              <a:gd name="adj" fmla="val 14118"/>
            </a:avLst>
          </a:prstGeom>
          <a:solidFill>
            <a:srgbClr val="4FA3C4"/>
          </a:solidFill>
          <a:ln w="12700">
            <a:solidFill>
              <a:srgbClr val="6FBBD6"/>
            </a:solidFill>
            <a:prstDash val="solid"/>
          </a:ln>
        </p:spPr>
      </p:sp>
      <p:sp>
        <p:nvSpPr>
          <p:cNvPr id="26" name="Shape 24"/>
          <p:cNvSpPr/>
          <p:nvPr/>
        </p:nvSpPr>
        <p:spPr>
          <a:xfrm>
            <a:off x="5280660" y="2212848"/>
            <a:ext cx="265176" cy="182880"/>
          </a:xfrm>
          <a:prstGeom prst="roundRect">
            <a:avLst>
              <a:gd name="adj" fmla="val 25000"/>
            </a:avLst>
          </a:prstGeom>
          <a:solidFill>
            <a:srgbClr val="1F6F8B"/>
          </a:solidFill>
          <a:ln w="12700">
            <a:solidFill>
              <a:srgbClr val="1F6F8B"/>
            </a:solidFill>
            <a:prstDash val="solid"/>
          </a:ln>
        </p:spPr>
      </p:sp>
      <p:sp>
        <p:nvSpPr>
          <p:cNvPr id="27" name="Shape 25"/>
          <p:cNvSpPr/>
          <p:nvPr/>
        </p:nvSpPr>
        <p:spPr>
          <a:xfrm>
            <a:off x="5070348" y="2761488"/>
            <a:ext cx="685800" cy="256032"/>
          </a:xfrm>
          <a:prstGeom prst="rect">
            <a:avLst/>
          </a:prstGeom>
          <a:solidFill>
            <a:srgbClr val="FFFFFF">
              <a:alpha val="28000"/>
            </a:srgbClr>
          </a:solidFill>
          <a:ln w="12700">
            <a:solidFill>
              <a:srgbClr val="FFFFFF">
                <a:alpha val="28000"/>
              </a:srgbClr>
            </a:solidFill>
            <a:prstDash val="solid"/>
          </a:ln>
        </p:spPr>
      </p:sp>
      <p:sp>
        <p:nvSpPr>
          <p:cNvPr id="28" name="Shape 26"/>
          <p:cNvSpPr/>
          <p:nvPr/>
        </p:nvSpPr>
        <p:spPr>
          <a:xfrm>
            <a:off x="4933188" y="2121408"/>
            <a:ext cx="960120" cy="1280160"/>
          </a:xfrm>
          <a:prstGeom prst="rect">
            <a:avLst/>
          </a:prstGeom>
          <a:solidFill>
            <a:srgbClr val="02C39A">
              <a:alpha val="8000"/>
            </a:srgbClr>
          </a:solidFill>
          <a:ln w="19050">
            <a:solidFill>
              <a:srgbClr val="02C39A"/>
            </a:solidFill>
            <a:prstDash val="solid"/>
          </a:ln>
        </p:spPr>
      </p:sp>
      <p:sp>
        <p:nvSpPr>
          <p:cNvPr id="29" name="Shape 27"/>
          <p:cNvSpPr/>
          <p:nvPr/>
        </p:nvSpPr>
        <p:spPr>
          <a:xfrm>
            <a:off x="4933188" y="1920240"/>
            <a:ext cx="457200" cy="201168"/>
          </a:xfrm>
          <a:prstGeom prst="rect">
            <a:avLst/>
          </a:prstGeom>
          <a:solidFill>
            <a:srgbClr val="02C39A"/>
          </a:solidFill>
          <a:ln w="12700">
            <a:solidFill>
              <a:srgbClr val="02C39A"/>
            </a:solidFill>
            <a:prstDash val="solid"/>
          </a:ln>
        </p:spPr>
      </p:sp>
      <p:sp>
        <p:nvSpPr>
          <p:cNvPr id="30" name="Text 28"/>
          <p:cNvSpPr/>
          <p:nvPr/>
        </p:nvSpPr>
        <p:spPr>
          <a:xfrm>
            <a:off x="4933188" y="1920240"/>
            <a:ext cx="457200" cy="201168"/>
          </a:xfrm>
          <a:prstGeom prst="rect">
            <a:avLst/>
          </a:prstGeom>
          <a:noFill/>
          <a:ln/>
        </p:spPr>
        <p:txBody>
          <a:bodyPr wrap="square" lIns="0" tIns="0" rIns="0" bIns="0" rtlCol="0" anchor="ctr"/>
          <a:lstStyle/>
          <a:p>
            <a:pPr algn="ctr" indent="0" marL="0">
              <a:buNone/>
            </a:pPr>
            <a:r>
              <a:rPr lang="en-US" sz="900" b="1" dirty="0">
                <a:solidFill>
                  <a:srgbClr val="0A2540"/>
                </a:solidFill>
                <a:latin typeface="Calibri" pitchFamily="34" charset="0"/>
                <a:ea typeface="Calibri" pitchFamily="34" charset="-122"/>
                <a:cs typeface="Calibri" pitchFamily="34" charset="-120"/>
              </a:rPr>
              <a:t>4</a:t>
            </a:r>
            <a:endParaRPr lang="en-US" sz="900" dirty="0"/>
          </a:p>
        </p:txBody>
      </p:sp>
      <p:sp>
        <p:nvSpPr>
          <p:cNvPr id="31" name="Shape 29"/>
          <p:cNvSpPr/>
          <p:nvPr/>
        </p:nvSpPr>
        <p:spPr>
          <a:xfrm>
            <a:off x="1239012" y="3913632"/>
            <a:ext cx="777240" cy="950976"/>
          </a:xfrm>
          <a:prstGeom prst="roundRect">
            <a:avLst>
              <a:gd name="adj" fmla="val 14118"/>
            </a:avLst>
          </a:prstGeom>
          <a:solidFill>
            <a:srgbClr val="4FA3C4"/>
          </a:solidFill>
          <a:ln w="12700">
            <a:solidFill>
              <a:srgbClr val="6FBBD6"/>
            </a:solidFill>
            <a:prstDash val="solid"/>
          </a:ln>
        </p:spPr>
      </p:sp>
      <p:sp>
        <p:nvSpPr>
          <p:cNvPr id="32" name="Shape 30"/>
          <p:cNvSpPr/>
          <p:nvPr/>
        </p:nvSpPr>
        <p:spPr>
          <a:xfrm>
            <a:off x="1495044" y="3767328"/>
            <a:ext cx="265176" cy="182880"/>
          </a:xfrm>
          <a:prstGeom prst="roundRect">
            <a:avLst>
              <a:gd name="adj" fmla="val 25000"/>
            </a:avLst>
          </a:prstGeom>
          <a:solidFill>
            <a:srgbClr val="1F6F8B"/>
          </a:solidFill>
          <a:ln w="12700">
            <a:solidFill>
              <a:srgbClr val="1F6F8B"/>
            </a:solidFill>
            <a:prstDash val="solid"/>
          </a:ln>
        </p:spPr>
      </p:sp>
      <p:sp>
        <p:nvSpPr>
          <p:cNvPr id="33" name="Shape 31"/>
          <p:cNvSpPr/>
          <p:nvPr/>
        </p:nvSpPr>
        <p:spPr>
          <a:xfrm>
            <a:off x="1284732" y="4315968"/>
            <a:ext cx="685800" cy="256032"/>
          </a:xfrm>
          <a:prstGeom prst="rect">
            <a:avLst/>
          </a:prstGeom>
          <a:solidFill>
            <a:srgbClr val="FFFFFF">
              <a:alpha val="28000"/>
            </a:srgbClr>
          </a:solidFill>
          <a:ln w="12700">
            <a:solidFill>
              <a:srgbClr val="FFFFFF">
                <a:alpha val="28000"/>
              </a:srgbClr>
            </a:solidFill>
            <a:prstDash val="solid"/>
          </a:ln>
        </p:spPr>
      </p:sp>
      <p:sp>
        <p:nvSpPr>
          <p:cNvPr id="34" name="Shape 32"/>
          <p:cNvSpPr/>
          <p:nvPr/>
        </p:nvSpPr>
        <p:spPr>
          <a:xfrm>
            <a:off x="1147572" y="3675888"/>
            <a:ext cx="960120" cy="1280160"/>
          </a:xfrm>
          <a:prstGeom prst="rect">
            <a:avLst/>
          </a:prstGeom>
          <a:solidFill>
            <a:srgbClr val="02C39A">
              <a:alpha val="8000"/>
            </a:srgbClr>
          </a:solidFill>
          <a:ln w="19050">
            <a:solidFill>
              <a:srgbClr val="02C39A"/>
            </a:solidFill>
            <a:prstDash val="solid"/>
          </a:ln>
        </p:spPr>
      </p:sp>
      <p:sp>
        <p:nvSpPr>
          <p:cNvPr id="35" name="Shape 33"/>
          <p:cNvSpPr/>
          <p:nvPr/>
        </p:nvSpPr>
        <p:spPr>
          <a:xfrm>
            <a:off x="1147572" y="3474720"/>
            <a:ext cx="457200" cy="201168"/>
          </a:xfrm>
          <a:prstGeom prst="rect">
            <a:avLst/>
          </a:prstGeom>
          <a:solidFill>
            <a:srgbClr val="02C39A"/>
          </a:solidFill>
          <a:ln w="12700">
            <a:solidFill>
              <a:srgbClr val="02C39A"/>
            </a:solidFill>
            <a:prstDash val="solid"/>
          </a:ln>
        </p:spPr>
      </p:sp>
      <p:sp>
        <p:nvSpPr>
          <p:cNvPr id="36" name="Text 34"/>
          <p:cNvSpPr/>
          <p:nvPr/>
        </p:nvSpPr>
        <p:spPr>
          <a:xfrm>
            <a:off x="1147572" y="3474720"/>
            <a:ext cx="457200" cy="201168"/>
          </a:xfrm>
          <a:prstGeom prst="rect">
            <a:avLst/>
          </a:prstGeom>
          <a:noFill/>
          <a:ln/>
        </p:spPr>
        <p:txBody>
          <a:bodyPr wrap="square" lIns="0" tIns="0" rIns="0" bIns="0" rtlCol="0" anchor="ctr"/>
          <a:lstStyle/>
          <a:p>
            <a:pPr algn="ctr" indent="0" marL="0">
              <a:buNone/>
            </a:pPr>
            <a:r>
              <a:rPr lang="en-US" sz="900" b="1" dirty="0">
                <a:solidFill>
                  <a:srgbClr val="0A2540"/>
                </a:solidFill>
                <a:latin typeface="Calibri" pitchFamily="34" charset="0"/>
                <a:ea typeface="Calibri" pitchFamily="34" charset="-122"/>
                <a:cs typeface="Calibri" pitchFamily="34" charset="-120"/>
              </a:rPr>
              <a:t>5</a:t>
            </a:r>
            <a:endParaRPr lang="en-US" sz="900" dirty="0"/>
          </a:p>
        </p:txBody>
      </p:sp>
      <p:sp>
        <p:nvSpPr>
          <p:cNvPr id="37" name="Shape 35"/>
          <p:cNvSpPr/>
          <p:nvPr/>
        </p:nvSpPr>
        <p:spPr>
          <a:xfrm>
            <a:off x="2500884" y="3913632"/>
            <a:ext cx="777240" cy="950976"/>
          </a:xfrm>
          <a:prstGeom prst="roundRect">
            <a:avLst>
              <a:gd name="adj" fmla="val 14118"/>
            </a:avLst>
          </a:prstGeom>
          <a:solidFill>
            <a:srgbClr val="4FA3C4"/>
          </a:solidFill>
          <a:ln w="12700">
            <a:solidFill>
              <a:srgbClr val="6FBBD6"/>
            </a:solidFill>
            <a:prstDash val="solid"/>
          </a:ln>
        </p:spPr>
      </p:sp>
      <p:sp>
        <p:nvSpPr>
          <p:cNvPr id="38" name="Shape 36"/>
          <p:cNvSpPr/>
          <p:nvPr/>
        </p:nvSpPr>
        <p:spPr>
          <a:xfrm>
            <a:off x="2756916" y="3767328"/>
            <a:ext cx="265176" cy="182880"/>
          </a:xfrm>
          <a:prstGeom prst="roundRect">
            <a:avLst>
              <a:gd name="adj" fmla="val 25000"/>
            </a:avLst>
          </a:prstGeom>
          <a:solidFill>
            <a:srgbClr val="1F6F8B"/>
          </a:solidFill>
          <a:ln w="12700">
            <a:solidFill>
              <a:srgbClr val="1F6F8B"/>
            </a:solidFill>
            <a:prstDash val="solid"/>
          </a:ln>
        </p:spPr>
      </p:sp>
      <p:sp>
        <p:nvSpPr>
          <p:cNvPr id="39" name="Shape 37"/>
          <p:cNvSpPr/>
          <p:nvPr/>
        </p:nvSpPr>
        <p:spPr>
          <a:xfrm>
            <a:off x="2546604" y="4315968"/>
            <a:ext cx="685800" cy="256032"/>
          </a:xfrm>
          <a:prstGeom prst="rect">
            <a:avLst/>
          </a:prstGeom>
          <a:solidFill>
            <a:srgbClr val="FFFFFF">
              <a:alpha val="28000"/>
            </a:srgbClr>
          </a:solidFill>
          <a:ln w="12700">
            <a:solidFill>
              <a:srgbClr val="FFFFFF">
                <a:alpha val="28000"/>
              </a:srgbClr>
            </a:solidFill>
            <a:prstDash val="solid"/>
          </a:ln>
        </p:spPr>
      </p:sp>
      <p:sp>
        <p:nvSpPr>
          <p:cNvPr id="40" name="Shape 38"/>
          <p:cNvSpPr/>
          <p:nvPr/>
        </p:nvSpPr>
        <p:spPr>
          <a:xfrm>
            <a:off x="2409444" y="3675888"/>
            <a:ext cx="960120" cy="1280160"/>
          </a:xfrm>
          <a:prstGeom prst="rect">
            <a:avLst/>
          </a:prstGeom>
          <a:solidFill>
            <a:srgbClr val="02C39A">
              <a:alpha val="8000"/>
            </a:srgbClr>
          </a:solidFill>
          <a:ln w="19050">
            <a:solidFill>
              <a:srgbClr val="02C39A"/>
            </a:solidFill>
            <a:prstDash val="solid"/>
          </a:ln>
        </p:spPr>
      </p:sp>
      <p:sp>
        <p:nvSpPr>
          <p:cNvPr id="41" name="Shape 39"/>
          <p:cNvSpPr/>
          <p:nvPr/>
        </p:nvSpPr>
        <p:spPr>
          <a:xfrm>
            <a:off x="2409444" y="3474720"/>
            <a:ext cx="457200" cy="201168"/>
          </a:xfrm>
          <a:prstGeom prst="rect">
            <a:avLst/>
          </a:prstGeom>
          <a:solidFill>
            <a:srgbClr val="02C39A"/>
          </a:solidFill>
          <a:ln w="12700">
            <a:solidFill>
              <a:srgbClr val="02C39A"/>
            </a:solidFill>
            <a:prstDash val="solid"/>
          </a:ln>
        </p:spPr>
      </p:sp>
      <p:sp>
        <p:nvSpPr>
          <p:cNvPr id="42" name="Text 40"/>
          <p:cNvSpPr/>
          <p:nvPr/>
        </p:nvSpPr>
        <p:spPr>
          <a:xfrm>
            <a:off x="2409444" y="3474720"/>
            <a:ext cx="457200" cy="201168"/>
          </a:xfrm>
          <a:prstGeom prst="rect">
            <a:avLst/>
          </a:prstGeom>
          <a:noFill/>
          <a:ln/>
        </p:spPr>
        <p:txBody>
          <a:bodyPr wrap="square" lIns="0" tIns="0" rIns="0" bIns="0" rtlCol="0" anchor="ctr"/>
          <a:lstStyle/>
          <a:p>
            <a:pPr algn="ctr" indent="0" marL="0">
              <a:buNone/>
            </a:pPr>
            <a:r>
              <a:rPr lang="en-US" sz="900" b="1" dirty="0">
                <a:solidFill>
                  <a:srgbClr val="0A2540"/>
                </a:solidFill>
                <a:latin typeface="Calibri" pitchFamily="34" charset="0"/>
                <a:ea typeface="Calibri" pitchFamily="34" charset="-122"/>
                <a:cs typeface="Calibri" pitchFamily="34" charset="-120"/>
              </a:rPr>
              <a:t>6</a:t>
            </a:r>
            <a:endParaRPr lang="en-US" sz="900" dirty="0"/>
          </a:p>
        </p:txBody>
      </p:sp>
      <p:sp>
        <p:nvSpPr>
          <p:cNvPr id="43" name="Shape 41"/>
          <p:cNvSpPr/>
          <p:nvPr/>
        </p:nvSpPr>
        <p:spPr>
          <a:xfrm>
            <a:off x="3762756" y="3913632"/>
            <a:ext cx="777240" cy="950976"/>
          </a:xfrm>
          <a:prstGeom prst="roundRect">
            <a:avLst>
              <a:gd name="adj" fmla="val 14118"/>
            </a:avLst>
          </a:prstGeom>
          <a:solidFill>
            <a:srgbClr val="4FA3C4"/>
          </a:solidFill>
          <a:ln w="12700">
            <a:solidFill>
              <a:srgbClr val="6FBBD6"/>
            </a:solidFill>
            <a:prstDash val="solid"/>
          </a:ln>
        </p:spPr>
      </p:sp>
      <p:sp>
        <p:nvSpPr>
          <p:cNvPr id="44" name="Shape 42"/>
          <p:cNvSpPr/>
          <p:nvPr/>
        </p:nvSpPr>
        <p:spPr>
          <a:xfrm>
            <a:off x="4018788" y="3767328"/>
            <a:ext cx="265176" cy="182880"/>
          </a:xfrm>
          <a:prstGeom prst="roundRect">
            <a:avLst>
              <a:gd name="adj" fmla="val 25000"/>
            </a:avLst>
          </a:prstGeom>
          <a:solidFill>
            <a:srgbClr val="1F6F8B"/>
          </a:solidFill>
          <a:ln w="12700">
            <a:solidFill>
              <a:srgbClr val="1F6F8B"/>
            </a:solidFill>
            <a:prstDash val="solid"/>
          </a:ln>
        </p:spPr>
      </p:sp>
      <p:sp>
        <p:nvSpPr>
          <p:cNvPr id="45" name="Shape 43"/>
          <p:cNvSpPr/>
          <p:nvPr/>
        </p:nvSpPr>
        <p:spPr>
          <a:xfrm>
            <a:off x="3808476" y="4315968"/>
            <a:ext cx="685800" cy="256032"/>
          </a:xfrm>
          <a:prstGeom prst="rect">
            <a:avLst/>
          </a:prstGeom>
          <a:solidFill>
            <a:srgbClr val="FFFFFF">
              <a:alpha val="28000"/>
            </a:srgbClr>
          </a:solidFill>
          <a:ln w="12700">
            <a:solidFill>
              <a:srgbClr val="FFFFFF">
                <a:alpha val="28000"/>
              </a:srgbClr>
            </a:solidFill>
            <a:prstDash val="solid"/>
          </a:ln>
        </p:spPr>
      </p:sp>
      <p:sp>
        <p:nvSpPr>
          <p:cNvPr id="46" name="Shape 44"/>
          <p:cNvSpPr/>
          <p:nvPr/>
        </p:nvSpPr>
        <p:spPr>
          <a:xfrm>
            <a:off x="3671316" y="3675888"/>
            <a:ext cx="960120" cy="1280160"/>
          </a:xfrm>
          <a:prstGeom prst="rect">
            <a:avLst/>
          </a:prstGeom>
          <a:solidFill>
            <a:srgbClr val="02C39A">
              <a:alpha val="8000"/>
            </a:srgbClr>
          </a:solidFill>
          <a:ln w="19050">
            <a:solidFill>
              <a:srgbClr val="02C39A"/>
            </a:solidFill>
            <a:prstDash val="solid"/>
          </a:ln>
        </p:spPr>
      </p:sp>
      <p:sp>
        <p:nvSpPr>
          <p:cNvPr id="47" name="Shape 45"/>
          <p:cNvSpPr/>
          <p:nvPr/>
        </p:nvSpPr>
        <p:spPr>
          <a:xfrm>
            <a:off x="3671316" y="3474720"/>
            <a:ext cx="457200" cy="201168"/>
          </a:xfrm>
          <a:prstGeom prst="rect">
            <a:avLst/>
          </a:prstGeom>
          <a:solidFill>
            <a:srgbClr val="02C39A"/>
          </a:solidFill>
          <a:ln w="12700">
            <a:solidFill>
              <a:srgbClr val="02C39A"/>
            </a:solidFill>
            <a:prstDash val="solid"/>
          </a:ln>
        </p:spPr>
      </p:sp>
      <p:sp>
        <p:nvSpPr>
          <p:cNvPr id="48" name="Text 46"/>
          <p:cNvSpPr/>
          <p:nvPr/>
        </p:nvSpPr>
        <p:spPr>
          <a:xfrm>
            <a:off x="3671316" y="3474720"/>
            <a:ext cx="457200" cy="201168"/>
          </a:xfrm>
          <a:prstGeom prst="rect">
            <a:avLst/>
          </a:prstGeom>
          <a:noFill/>
          <a:ln/>
        </p:spPr>
        <p:txBody>
          <a:bodyPr wrap="square" lIns="0" tIns="0" rIns="0" bIns="0" rtlCol="0" anchor="ctr"/>
          <a:lstStyle/>
          <a:p>
            <a:pPr algn="ctr" indent="0" marL="0">
              <a:buNone/>
            </a:pPr>
            <a:r>
              <a:rPr lang="en-US" sz="900" b="1" dirty="0">
                <a:solidFill>
                  <a:srgbClr val="0A2540"/>
                </a:solidFill>
                <a:latin typeface="Calibri" pitchFamily="34" charset="0"/>
                <a:ea typeface="Calibri" pitchFamily="34" charset="-122"/>
                <a:cs typeface="Calibri" pitchFamily="34" charset="-120"/>
              </a:rPr>
              <a:t>7</a:t>
            </a:r>
            <a:endParaRPr lang="en-US" sz="900" dirty="0"/>
          </a:p>
        </p:txBody>
      </p:sp>
      <p:sp>
        <p:nvSpPr>
          <p:cNvPr id="49" name="Shape 47"/>
          <p:cNvSpPr/>
          <p:nvPr/>
        </p:nvSpPr>
        <p:spPr>
          <a:xfrm>
            <a:off x="5024628" y="3913632"/>
            <a:ext cx="777240" cy="950976"/>
          </a:xfrm>
          <a:prstGeom prst="roundRect">
            <a:avLst>
              <a:gd name="adj" fmla="val 14118"/>
            </a:avLst>
          </a:prstGeom>
          <a:solidFill>
            <a:srgbClr val="4FA3C4"/>
          </a:solidFill>
          <a:ln w="12700">
            <a:solidFill>
              <a:srgbClr val="6FBBD6"/>
            </a:solidFill>
            <a:prstDash val="solid"/>
          </a:ln>
        </p:spPr>
      </p:sp>
      <p:sp>
        <p:nvSpPr>
          <p:cNvPr id="50" name="Shape 48"/>
          <p:cNvSpPr/>
          <p:nvPr/>
        </p:nvSpPr>
        <p:spPr>
          <a:xfrm>
            <a:off x="5280660" y="3767328"/>
            <a:ext cx="265176" cy="182880"/>
          </a:xfrm>
          <a:prstGeom prst="roundRect">
            <a:avLst>
              <a:gd name="adj" fmla="val 25000"/>
            </a:avLst>
          </a:prstGeom>
          <a:solidFill>
            <a:srgbClr val="1F6F8B"/>
          </a:solidFill>
          <a:ln w="12700">
            <a:solidFill>
              <a:srgbClr val="1F6F8B"/>
            </a:solidFill>
            <a:prstDash val="solid"/>
          </a:ln>
        </p:spPr>
      </p:sp>
      <p:sp>
        <p:nvSpPr>
          <p:cNvPr id="51" name="Shape 49"/>
          <p:cNvSpPr/>
          <p:nvPr/>
        </p:nvSpPr>
        <p:spPr>
          <a:xfrm>
            <a:off x="5070348" y="4315968"/>
            <a:ext cx="685800" cy="256032"/>
          </a:xfrm>
          <a:prstGeom prst="rect">
            <a:avLst/>
          </a:prstGeom>
          <a:solidFill>
            <a:srgbClr val="FFFFFF">
              <a:alpha val="28000"/>
            </a:srgbClr>
          </a:solidFill>
          <a:ln w="12700">
            <a:solidFill>
              <a:srgbClr val="FFFFFF">
                <a:alpha val="28000"/>
              </a:srgbClr>
            </a:solidFill>
            <a:prstDash val="solid"/>
          </a:ln>
        </p:spPr>
      </p:sp>
      <p:sp>
        <p:nvSpPr>
          <p:cNvPr id="52" name="Shape 50"/>
          <p:cNvSpPr/>
          <p:nvPr/>
        </p:nvSpPr>
        <p:spPr>
          <a:xfrm>
            <a:off x="4933188" y="3675888"/>
            <a:ext cx="960120" cy="1280160"/>
          </a:xfrm>
          <a:prstGeom prst="rect">
            <a:avLst/>
          </a:prstGeom>
          <a:solidFill>
            <a:srgbClr val="02C39A">
              <a:alpha val="8000"/>
            </a:srgbClr>
          </a:solidFill>
          <a:ln w="19050">
            <a:solidFill>
              <a:srgbClr val="02C39A"/>
            </a:solidFill>
            <a:prstDash val="solid"/>
          </a:ln>
        </p:spPr>
      </p:sp>
      <p:sp>
        <p:nvSpPr>
          <p:cNvPr id="53" name="Shape 51"/>
          <p:cNvSpPr/>
          <p:nvPr/>
        </p:nvSpPr>
        <p:spPr>
          <a:xfrm>
            <a:off x="4933188" y="3474720"/>
            <a:ext cx="457200" cy="201168"/>
          </a:xfrm>
          <a:prstGeom prst="rect">
            <a:avLst/>
          </a:prstGeom>
          <a:solidFill>
            <a:srgbClr val="02C39A"/>
          </a:solidFill>
          <a:ln w="12700">
            <a:solidFill>
              <a:srgbClr val="02C39A"/>
            </a:solidFill>
            <a:prstDash val="solid"/>
          </a:ln>
        </p:spPr>
      </p:sp>
      <p:sp>
        <p:nvSpPr>
          <p:cNvPr id="54" name="Text 52"/>
          <p:cNvSpPr/>
          <p:nvPr/>
        </p:nvSpPr>
        <p:spPr>
          <a:xfrm>
            <a:off x="4933188" y="3474720"/>
            <a:ext cx="457200" cy="201168"/>
          </a:xfrm>
          <a:prstGeom prst="rect">
            <a:avLst/>
          </a:prstGeom>
          <a:noFill/>
          <a:ln/>
        </p:spPr>
        <p:txBody>
          <a:bodyPr wrap="square" lIns="0" tIns="0" rIns="0" bIns="0" rtlCol="0" anchor="ctr"/>
          <a:lstStyle/>
          <a:p>
            <a:pPr algn="ctr" indent="0" marL="0">
              <a:buNone/>
            </a:pPr>
            <a:r>
              <a:rPr lang="en-US" sz="900" b="1" dirty="0">
                <a:solidFill>
                  <a:srgbClr val="0A2540"/>
                </a:solidFill>
                <a:latin typeface="Calibri" pitchFamily="34" charset="0"/>
                <a:ea typeface="Calibri" pitchFamily="34" charset="-122"/>
                <a:cs typeface="Calibri" pitchFamily="34" charset="-120"/>
              </a:rPr>
              <a:t>8</a:t>
            </a:r>
            <a:endParaRPr lang="en-US" sz="900" dirty="0"/>
          </a:p>
        </p:txBody>
      </p:sp>
      <p:sp>
        <p:nvSpPr>
          <p:cNvPr id="55" name="Shape 53"/>
          <p:cNvSpPr/>
          <p:nvPr/>
        </p:nvSpPr>
        <p:spPr>
          <a:xfrm>
            <a:off x="896112" y="5093208"/>
            <a:ext cx="2834640" cy="384048"/>
          </a:xfrm>
          <a:prstGeom prst="roundRect">
            <a:avLst>
              <a:gd name="adj" fmla="val 16667"/>
            </a:avLst>
          </a:prstGeom>
          <a:solidFill>
            <a:srgbClr val="02C39A"/>
          </a:solidFill>
          <a:ln w="12700">
            <a:solidFill>
              <a:srgbClr val="02C39A"/>
            </a:solidFill>
            <a:prstDash val="solid"/>
          </a:ln>
        </p:spPr>
      </p:sp>
      <p:sp>
        <p:nvSpPr>
          <p:cNvPr id="56" name="Text 54"/>
          <p:cNvSpPr/>
          <p:nvPr/>
        </p:nvSpPr>
        <p:spPr>
          <a:xfrm>
            <a:off x="896112" y="5093208"/>
            <a:ext cx="2834640" cy="384048"/>
          </a:xfrm>
          <a:prstGeom prst="rect">
            <a:avLst/>
          </a:prstGeom>
          <a:noFill/>
          <a:ln/>
        </p:spPr>
        <p:txBody>
          <a:bodyPr wrap="square" lIns="0" tIns="0" rIns="0" bIns="0" rtlCol="0" anchor="ctr"/>
          <a:lstStyle/>
          <a:p>
            <a:pPr algn="ctr" indent="0" marL="0">
              <a:buNone/>
            </a:pPr>
            <a:r>
              <a:rPr lang="en-US" sz="1200" b="1" dirty="0">
                <a:solidFill>
                  <a:srgbClr val="0A2540"/>
                </a:solidFill>
                <a:latin typeface="Calibri" pitchFamily="34" charset="0"/>
                <a:ea typeface="Calibri" pitchFamily="34" charset="-122"/>
                <a:cs typeface="Calibri" pitchFamily="34" charset="-120"/>
              </a:rPr>
              <a:t>8 containers detected</a:t>
            </a:r>
            <a:endParaRPr lang="en-US" sz="1200" dirty="0"/>
          </a:p>
        </p:txBody>
      </p:sp>
      <p:sp>
        <p:nvSpPr>
          <p:cNvPr id="57" name="Text 55"/>
          <p:cNvSpPr/>
          <p:nvPr/>
        </p:nvSpPr>
        <p:spPr>
          <a:xfrm>
            <a:off x="3840480" y="5093208"/>
            <a:ext cx="2377440" cy="384048"/>
          </a:xfrm>
          <a:prstGeom prst="rect">
            <a:avLst/>
          </a:prstGeom>
          <a:noFill/>
          <a:ln/>
        </p:spPr>
        <p:txBody>
          <a:bodyPr wrap="square" lIns="0" tIns="0" rIns="0" bIns="0" rtlCol="0" anchor="ctr"/>
          <a:lstStyle/>
          <a:p>
            <a:pPr algn="r" indent="0" marL="0">
              <a:buNone/>
            </a:pPr>
            <a:r>
              <a:rPr lang="en-US" sz="1050" dirty="0">
                <a:solidFill>
                  <a:srgbClr val="8ECAE6"/>
                </a:solidFill>
                <a:latin typeface="Calibri" pitchFamily="34" charset="0"/>
                <a:ea typeface="Calibri" pitchFamily="34" charset="-122"/>
                <a:cs typeface="Calibri" pitchFamily="34" charset="-120"/>
              </a:rPr>
              <a:t>Single photo · counted automatically</a:t>
            </a:r>
            <a:endParaRPr lang="en-US" sz="1050" dirty="0"/>
          </a:p>
        </p:txBody>
      </p:sp>
      <p:sp>
        <p:nvSpPr>
          <p:cNvPr id="58" name="Text 56"/>
          <p:cNvSpPr/>
          <p:nvPr/>
        </p:nvSpPr>
        <p:spPr>
          <a:xfrm>
            <a:off x="6720840" y="1920240"/>
            <a:ext cx="502920" cy="274320"/>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01</a:t>
            </a:r>
            <a:endParaRPr lang="en-US" sz="1700" dirty="0"/>
          </a:p>
        </p:txBody>
      </p:sp>
      <p:sp>
        <p:nvSpPr>
          <p:cNvPr id="59" name="Text 57"/>
          <p:cNvSpPr/>
          <p:nvPr/>
        </p:nvSpPr>
        <p:spPr>
          <a:xfrm>
            <a:off x="7269480" y="1911096"/>
            <a:ext cx="4297680" cy="274320"/>
          </a:xfrm>
          <a:prstGeom prst="rect">
            <a:avLst/>
          </a:prstGeom>
          <a:noFill/>
          <a:ln/>
        </p:spPr>
        <p:txBody>
          <a:bodyPr wrap="square" lIns="0" tIns="0" rIns="0" bIns="0" rtlCol="0" anchor="ctr"/>
          <a:lstStyle/>
          <a:p>
            <a:pPr indent="0" marL="0">
              <a:buNone/>
            </a:pPr>
            <a:r>
              <a:rPr lang="en-US" sz="1450" b="1" dirty="0">
                <a:solidFill>
                  <a:srgbClr val="17303F"/>
                </a:solidFill>
                <a:latin typeface="Calibri" pitchFamily="34" charset="0"/>
                <a:ea typeface="Calibri" pitchFamily="34" charset="-122"/>
                <a:cs typeface="Calibri" pitchFamily="34" charset="-120"/>
              </a:rPr>
              <a:t>Snap one photo of the load</a:t>
            </a:r>
            <a:endParaRPr lang="en-US" sz="1450" dirty="0"/>
          </a:p>
        </p:txBody>
      </p:sp>
      <p:sp>
        <p:nvSpPr>
          <p:cNvPr id="60" name="Text 58"/>
          <p:cNvSpPr/>
          <p:nvPr/>
        </p:nvSpPr>
        <p:spPr>
          <a:xfrm>
            <a:off x="7269480" y="2203704"/>
            <a:ext cx="4251960" cy="411480"/>
          </a:xfrm>
          <a:prstGeom prst="rect">
            <a:avLst/>
          </a:prstGeom>
          <a:noFill/>
          <a:ln/>
        </p:spPr>
        <p:txBody>
          <a:bodyPr wrap="square" lIns="0" tIns="0" rIns="0" bIns="0" rtlCol="0" anchor="ctr"/>
          <a:lstStyle/>
          <a:p>
            <a:pPr indent="0" marL="0">
              <a:lnSpc>
                <a:spcPts val="1500"/>
              </a:lnSpc>
              <a:buNone/>
            </a:pPr>
            <a:r>
              <a:rPr lang="en-US" sz="1150" dirty="0">
                <a:solidFill>
                  <a:srgbClr val="5C7080"/>
                </a:solidFill>
                <a:latin typeface="Calibri" pitchFamily="34" charset="0"/>
                <a:ea typeface="Calibri" pitchFamily="34" charset="-122"/>
                <a:cs typeface="Calibri" pitchFamily="34" charset="-120"/>
              </a:rPr>
              <a:t>The rider or operator points the phone at the containers.</a:t>
            </a:r>
            <a:endParaRPr lang="en-US" sz="1150" dirty="0"/>
          </a:p>
        </p:txBody>
      </p:sp>
      <p:sp>
        <p:nvSpPr>
          <p:cNvPr id="61" name="Text 59"/>
          <p:cNvSpPr/>
          <p:nvPr/>
        </p:nvSpPr>
        <p:spPr>
          <a:xfrm>
            <a:off x="6720840" y="2761488"/>
            <a:ext cx="502920" cy="274320"/>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02</a:t>
            </a:r>
            <a:endParaRPr lang="en-US" sz="1700" dirty="0"/>
          </a:p>
        </p:txBody>
      </p:sp>
      <p:sp>
        <p:nvSpPr>
          <p:cNvPr id="62" name="Text 60"/>
          <p:cNvSpPr/>
          <p:nvPr/>
        </p:nvSpPr>
        <p:spPr>
          <a:xfrm>
            <a:off x="7269480" y="2752344"/>
            <a:ext cx="4297680" cy="274320"/>
          </a:xfrm>
          <a:prstGeom prst="rect">
            <a:avLst/>
          </a:prstGeom>
          <a:noFill/>
          <a:ln/>
        </p:spPr>
        <p:txBody>
          <a:bodyPr wrap="square" lIns="0" tIns="0" rIns="0" bIns="0" rtlCol="0" anchor="ctr"/>
          <a:lstStyle/>
          <a:p>
            <a:pPr indent="0" marL="0">
              <a:buNone/>
            </a:pPr>
            <a:r>
              <a:rPr lang="en-US" sz="1450" b="1" dirty="0">
                <a:solidFill>
                  <a:srgbClr val="17303F"/>
                </a:solidFill>
                <a:latin typeface="Calibri" pitchFamily="34" charset="0"/>
                <a:ea typeface="Calibri" pitchFamily="34" charset="-122"/>
                <a:cs typeface="Calibri" pitchFamily="34" charset="-120"/>
              </a:rPr>
              <a:t>The model detects and counts</a:t>
            </a:r>
            <a:endParaRPr lang="en-US" sz="1450" dirty="0"/>
          </a:p>
        </p:txBody>
      </p:sp>
      <p:sp>
        <p:nvSpPr>
          <p:cNvPr id="63" name="Text 61"/>
          <p:cNvSpPr/>
          <p:nvPr/>
        </p:nvSpPr>
        <p:spPr>
          <a:xfrm>
            <a:off x="7269480" y="3044952"/>
            <a:ext cx="4251960" cy="411480"/>
          </a:xfrm>
          <a:prstGeom prst="rect">
            <a:avLst/>
          </a:prstGeom>
          <a:noFill/>
          <a:ln/>
        </p:spPr>
        <p:txBody>
          <a:bodyPr wrap="square" lIns="0" tIns="0" rIns="0" bIns="0" rtlCol="0" anchor="ctr"/>
          <a:lstStyle/>
          <a:p>
            <a:pPr indent="0" marL="0">
              <a:lnSpc>
                <a:spcPts val="1500"/>
              </a:lnSpc>
              <a:buNone/>
            </a:pPr>
            <a:r>
              <a:rPr lang="en-US" sz="1150" dirty="0">
                <a:solidFill>
                  <a:srgbClr val="5C7080"/>
                </a:solidFill>
                <a:latin typeface="Calibri" pitchFamily="34" charset="0"/>
                <a:ea typeface="Calibri" pitchFamily="34" charset="-122"/>
                <a:cs typeface="Calibri" pitchFamily="34" charset="-120"/>
              </a:rPr>
              <a:t>Each container is boxed and tallied, including stacked rows.</a:t>
            </a:r>
            <a:endParaRPr lang="en-US" sz="1150" dirty="0"/>
          </a:p>
        </p:txBody>
      </p:sp>
      <p:sp>
        <p:nvSpPr>
          <p:cNvPr id="64" name="Text 62"/>
          <p:cNvSpPr/>
          <p:nvPr/>
        </p:nvSpPr>
        <p:spPr>
          <a:xfrm>
            <a:off x="6720840" y="3602736"/>
            <a:ext cx="502920" cy="274320"/>
          </a:xfrm>
          <a:prstGeom prst="rect">
            <a:avLst/>
          </a:prstGeom>
          <a:noFill/>
          <a:ln/>
        </p:spPr>
        <p:txBody>
          <a:bodyPr wrap="square" lIns="0" tIns="0" rIns="0" bIns="0" rtlCol="0" anchor="ctr"/>
          <a:lstStyle/>
          <a:p>
            <a:pPr indent="0" marL="0">
              <a:buNone/>
            </a:pPr>
            <a:r>
              <a:rPr lang="en-US" sz="1700" b="1" dirty="0">
                <a:solidFill>
                  <a:srgbClr val="02C39A"/>
                </a:solidFill>
                <a:latin typeface="Cambria" pitchFamily="34" charset="0"/>
                <a:ea typeface="Cambria" pitchFamily="34" charset="-122"/>
                <a:cs typeface="Cambria" pitchFamily="34" charset="-120"/>
              </a:rPr>
              <a:t>03</a:t>
            </a:r>
            <a:endParaRPr lang="en-US" sz="1700" dirty="0"/>
          </a:p>
        </p:txBody>
      </p:sp>
      <p:sp>
        <p:nvSpPr>
          <p:cNvPr id="65" name="Text 63"/>
          <p:cNvSpPr/>
          <p:nvPr/>
        </p:nvSpPr>
        <p:spPr>
          <a:xfrm>
            <a:off x="7269480" y="3593592"/>
            <a:ext cx="4297680" cy="274320"/>
          </a:xfrm>
          <a:prstGeom prst="rect">
            <a:avLst/>
          </a:prstGeom>
          <a:noFill/>
          <a:ln/>
        </p:spPr>
        <p:txBody>
          <a:bodyPr wrap="square" lIns="0" tIns="0" rIns="0" bIns="0" rtlCol="0" anchor="ctr"/>
          <a:lstStyle/>
          <a:p>
            <a:pPr indent="0" marL="0">
              <a:buNone/>
            </a:pPr>
            <a:r>
              <a:rPr lang="en-US" sz="1450" b="1" dirty="0">
                <a:solidFill>
                  <a:srgbClr val="17303F"/>
                </a:solidFill>
                <a:latin typeface="Calibri" pitchFamily="34" charset="0"/>
                <a:ea typeface="Calibri" pitchFamily="34" charset="-122"/>
                <a:cs typeface="Calibri" pitchFamily="34" charset="-120"/>
              </a:rPr>
              <a:t>The bill is computed instantly</a:t>
            </a:r>
            <a:endParaRPr lang="en-US" sz="1450" dirty="0"/>
          </a:p>
        </p:txBody>
      </p:sp>
      <p:sp>
        <p:nvSpPr>
          <p:cNvPr id="66" name="Text 64"/>
          <p:cNvSpPr/>
          <p:nvPr/>
        </p:nvSpPr>
        <p:spPr>
          <a:xfrm>
            <a:off x="7269480" y="3886200"/>
            <a:ext cx="4251960" cy="411480"/>
          </a:xfrm>
          <a:prstGeom prst="rect">
            <a:avLst/>
          </a:prstGeom>
          <a:noFill/>
          <a:ln/>
        </p:spPr>
        <p:txBody>
          <a:bodyPr wrap="square" lIns="0" tIns="0" rIns="0" bIns="0" rtlCol="0" anchor="ctr"/>
          <a:lstStyle/>
          <a:p>
            <a:pPr indent="0" marL="0">
              <a:lnSpc>
                <a:spcPts val="1500"/>
              </a:lnSpc>
              <a:buNone/>
            </a:pPr>
            <a:r>
              <a:rPr lang="en-US" sz="1150" dirty="0">
                <a:solidFill>
                  <a:srgbClr val="5C7080"/>
                </a:solidFill>
                <a:latin typeface="Calibri" pitchFamily="34" charset="0"/>
                <a:ea typeface="Calibri" pitchFamily="34" charset="-122"/>
                <a:cs typeface="Calibri" pitchFamily="34" charset="-120"/>
              </a:rPr>
              <a:t>Count × saved price = total, posted straight into the POS.</a:t>
            </a:r>
            <a:endParaRPr lang="en-US" sz="1150" dirty="0"/>
          </a:p>
        </p:txBody>
      </p:sp>
      <p:sp>
        <p:nvSpPr>
          <p:cNvPr id="67" name="Shape 65"/>
          <p:cNvSpPr/>
          <p:nvPr/>
        </p:nvSpPr>
        <p:spPr>
          <a:xfrm>
            <a:off x="6720840" y="4572000"/>
            <a:ext cx="4846320" cy="1280160"/>
          </a:xfrm>
          <a:prstGeom prst="roundRect">
            <a:avLst>
              <a:gd name="adj" fmla="val 6429"/>
            </a:avLst>
          </a:prstGeom>
          <a:solidFill>
            <a:srgbClr val="F1F7FA"/>
          </a:solidFill>
          <a:ln w="12700">
            <a:solidFill>
              <a:srgbClr val="D9E6EE"/>
            </a:solidFill>
            <a:prstDash val="solid"/>
          </a:ln>
          <a:effectLst>
            <a:outerShdw sx="100000" sy="100000" kx="0" ky="0" algn="bl" rotWithShape="0" blurRad="127000" dist="25400" dir="5400000">
              <a:srgbClr val="9FB4C2">
                <a:alpha val="35000"/>
              </a:srgbClr>
            </a:outerShdw>
          </a:effectLst>
        </p:spPr>
      </p:sp>
      <p:sp>
        <p:nvSpPr>
          <p:cNvPr id="68" name="Text 66"/>
          <p:cNvSpPr/>
          <p:nvPr/>
        </p:nvSpPr>
        <p:spPr>
          <a:xfrm>
            <a:off x="6949440" y="4663440"/>
            <a:ext cx="2743200" cy="219456"/>
          </a:xfrm>
          <a:prstGeom prst="rect">
            <a:avLst/>
          </a:prstGeom>
          <a:noFill/>
          <a:ln/>
        </p:spPr>
        <p:txBody>
          <a:bodyPr wrap="square" lIns="0" tIns="0" rIns="0" bIns="0" rtlCol="0" anchor="ctr"/>
          <a:lstStyle/>
          <a:p>
            <a:pPr indent="0" marL="0">
              <a:buNone/>
            </a:pPr>
            <a:r>
              <a:rPr lang="en-US" sz="900" b="1" spc="150" kern="0" dirty="0">
                <a:solidFill>
                  <a:srgbClr val="1C7293"/>
                </a:solidFill>
                <a:latin typeface="Calibri" pitchFamily="34" charset="0"/>
                <a:ea typeface="Calibri" pitchFamily="34" charset="-122"/>
                <a:cs typeface="Calibri" pitchFamily="34" charset="-120"/>
              </a:rPr>
              <a:t>AUTO-GENERATED BILL</a:t>
            </a:r>
            <a:endParaRPr lang="en-US" sz="900" dirty="0"/>
          </a:p>
        </p:txBody>
      </p:sp>
      <p:sp>
        <p:nvSpPr>
          <p:cNvPr id="69" name="Text 67"/>
          <p:cNvSpPr/>
          <p:nvPr/>
        </p:nvSpPr>
        <p:spPr>
          <a:xfrm>
            <a:off x="6949440" y="4919472"/>
            <a:ext cx="2926080" cy="219456"/>
          </a:xfrm>
          <a:prstGeom prst="rect">
            <a:avLst/>
          </a:prstGeom>
          <a:noFill/>
          <a:ln/>
        </p:spPr>
        <p:txBody>
          <a:bodyPr wrap="square" lIns="0" tIns="0" rIns="0" bIns="0" rtlCol="0" anchor="ctr"/>
          <a:lstStyle/>
          <a:p>
            <a:pPr indent="0" marL="0">
              <a:buNone/>
            </a:pPr>
            <a:r>
              <a:rPr lang="en-US" sz="1100" dirty="0">
                <a:solidFill>
                  <a:srgbClr val="5C7080"/>
                </a:solidFill>
                <a:latin typeface="Calibri" pitchFamily="34" charset="0"/>
                <a:ea typeface="Calibri" pitchFamily="34" charset="-122"/>
                <a:cs typeface="Calibri" pitchFamily="34" charset="-120"/>
              </a:rPr>
              <a:t>8 containers refilled</a:t>
            </a:r>
            <a:endParaRPr lang="en-US" sz="1100" dirty="0"/>
          </a:p>
        </p:txBody>
      </p:sp>
      <p:sp>
        <p:nvSpPr>
          <p:cNvPr id="70" name="Text 68"/>
          <p:cNvSpPr/>
          <p:nvPr/>
        </p:nvSpPr>
        <p:spPr>
          <a:xfrm>
            <a:off x="9692640" y="4919472"/>
            <a:ext cx="1645920" cy="219456"/>
          </a:xfrm>
          <a:prstGeom prst="rect">
            <a:avLst/>
          </a:prstGeom>
          <a:noFill/>
          <a:ln/>
        </p:spPr>
        <p:txBody>
          <a:bodyPr wrap="square" lIns="0" tIns="0" rIns="0" bIns="0" rtlCol="0" anchor="ctr"/>
          <a:lstStyle/>
          <a:p>
            <a:pPr algn="r" indent="0" marL="0">
              <a:buNone/>
            </a:pPr>
            <a:r>
              <a:rPr lang="en-US" sz="1100" dirty="0">
                <a:solidFill>
                  <a:srgbClr val="17303F"/>
                </a:solidFill>
                <a:latin typeface="Calibri" pitchFamily="34" charset="0"/>
                <a:ea typeface="Calibri" pitchFamily="34" charset="-122"/>
                <a:cs typeface="Calibri" pitchFamily="34" charset="-120"/>
              </a:rPr>
              <a:t>PHP 200.00</a:t>
            </a:r>
            <a:endParaRPr lang="en-US" sz="1100" dirty="0"/>
          </a:p>
        </p:txBody>
      </p:sp>
      <p:sp>
        <p:nvSpPr>
          <p:cNvPr id="71" name="Text 69"/>
          <p:cNvSpPr/>
          <p:nvPr/>
        </p:nvSpPr>
        <p:spPr>
          <a:xfrm>
            <a:off x="6949440" y="5148072"/>
            <a:ext cx="2926080" cy="219456"/>
          </a:xfrm>
          <a:prstGeom prst="rect">
            <a:avLst/>
          </a:prstGeom>
          <a:noFill/>
          <a:ln/>
        </p:spPr>
        <p:txBody>
          <a:bodyPr wrap="square" lIns="0" tIns="0" rIns="0" bIns="0" rtlCol="0" anchor="ctr"/>
          <a:lstStyle/>
          <a:p>
            <a:pPr indent="0" marL="0">
              <a:buNone/>
            </a:pPr>
            <a:r>
              <a:rPr lang="en-US" sz="1100" dirty="0">
                <a:solidFill>
                  <a:srgbClr val="5C7080"/>
                </a:solidFill>
                <a:latin typeface="Calibri" pitchFamily="34" charset="0"/>
                <a:ea typeface="Calibri" pitchFamily="34" charset="-122"/>
                <a:cs typeface="Calibri" pitchFamily="34" charset="-120"/>
              </a:rPr>
              <a:t>Delivery fee</a:t>
            </a:r>
            <a:endParaRPr lang="en-US" sz="1100" dirty="0"/>
          </a:p>
        </p:txBody>
      </p:sp>
      <p:sp>
        <p:nvSpPr>
          <p:cNvPr id="72" name="Text 70"/>
          <p:cNvSpPr/>
          <p:nvPr/>
        </p:nvSpPr>
        <p:spPr>
          <a:xfrm>
            <a:off x="9692640" y="5148072"/>
            <a:ext cx="1645920" cy="219456"/>
          </a:xfrm>
          <a:prstGeom prst="rect">
            <a:avLst/>
          </a:prstGeom>
          <a:noFill/>
          <a:ln/>
        </p:spPr>
        <p:txBody>
          <a:bodyPr wrap="square" lIns="0" tIns="0" rIns="0" bIns="0" rtlCol="0" anchor="ctr"/>
          <a:lstStyle/>
          <a:p>
            <a:pPr algn="r" indent="0" marL="0">
              <a:buNone/>
            </a:pPr>
            <a:r>
              <a:rPr lang="en-US" sz="1100" dirty="0">
                <a:solidFill>
                  <a:srgbClr val="17303F"/>
                </a:solidFill>
                <a:latin typeface="Calibri" pitchFamily="34" charset="0"/>
                <a:ea typeface="Calibri" pitchFamily="34" charset="-122"/>
                <a:cs typeface="Calibri" pitchFamily="34" charset="-120"/>
              </a:rPr>
              <a:t>PHP 30.00</a:t>
            </a:r>
            <a:endParaRPr lang="en-US" sz="1100" dirty="0"/>
          </a:p>
        </p:txBody>
      </p:sp>
      <p:sp>
        <p:nvSpPr>
          <p:cNvPr id="73" name="Shape 71"/>
          <p:cNvSpPr/>
          <p:nvPr/>
        </p:nvSpPr>
        <p:spPr>
          <a:xfrm>
            <a:off x="6949440" y="5394960"/>
            <a:ext cx="4389120" cy="18288"/>
          </a:xfrm>
          <a:prstGeom prst="rect">
            <a:avLst/>
          </a:prstGeom>
          <a:solidFill>
            <a:srgbClr val="C9D9E3"/>
          </a:solidFill>
          <a:ln w="12700">
            <a:solidFill>
              <a:srgbClr val="C9D9E3"/>
            </a:solidFill>
            <a:prstDash val="solid"/>
          </a:ln>
        </p:spPr>
      </p:sp>
      <p:sp>
        <p:nvSpPr>
          <p:cNvPr id="74" name="Text 72"/>
          <p:cNvSpPr/>
          <p:nvPr/>
        </p:nvSpPr>
        <p:spPr>
          <a:xfrm>
            <a:off x="6949440" y="5468112"/>
            <a:ext cx="2286000" cy="292608"/>
          </a:xfrm>
          <a:prstGeom prst="rect">
            <a:avLst/>
          </a:prstGeom>
          <a:noFill/>
          <a:ln/>
        </p:spPr>
        <p:txBody>
          <a:bodyPr wrap="square" lIns="0" tIns="0" rIns="0" bIns="0" rtlCol="0" anchor="ctr"/>
          <a:lstStyle/>
          <a:p>
            <a:pPr indent="0" marL="0">
              <a:buNone/>
            </a:pPr>
            <a:r>
              <a:rPr lang="en-US" sz="1200" b="1" dirty="0">
                <a:solidFill>
                  <a:srgbClr val="17303F"/>
                </a:solidFill>
                <a:latin typeface="Calibri" pitchFamily="34" charset="0"/>
                <a:ea typeface="Calibri" pitchFamily="34" charset="-122"/>
                <a:cs typeface="Calibri" pitchFamily="34" charset="-120"/>
              </a:rPr>
              <a:t>TOTAL DUE</a:t>
            </a:r>
            <a:endParaRPr lang="en-US" sz="1200" dirty="0"/>
          </a:p>
        </p:txBody>
      </p:sp>
      <p:sp>
        <p:nvSpPr>
          <p:cNvPr id="75" name="Text 73"/>
          <p:cNvSpPr/>
          <p:nvPr/>
        </p:nvSpPr>
        <p:spPr>
          <a:xfrm>
            <a:off x="9144000" y="5449824"/>
            <a:ext cx="2194560" cy="329184"/>
          </a:xfrm>
          <a:prstGeom prst="rect">
            <a:avLst/>
          </a:prstGeom>
          <a:noFill/>
          <a:ln/>
        </p:spPr>
        <p:txBody>
          <a:bodyPr wrap="square" lIns="0" tIns="0" rIns="0" bIns="0" rtlCol="0" anchor="ctr"/>
          <a:lstStyle/>
          <a:p>
            <a:pPr algn="r" indent="0" marL="0">
              <a:buNone/>
            </a:pPr>
            <a:r>
              <a:rPr lang="en-US" sz="1800" b="1" dirty="0">
                <a:solidFill>
                  <a:srgbClr val="065A82"/>
                </a:solidFill>
                <a:latin typeface="Cambria" pitchFamily="34" charset="0"/>
                <a:ea typeface="Cambria" pitchFamily="34" charset="-122"/>
                <a:cs typeface="Cambria" pitchFamily="34" charset="-120"/>
              </a:rPr>
              <a:t>PHP 230.00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7FA"/>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FEATURE 05</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Proof of Delivery &amp; Smart Receipts</a:t>
            </a:r>
            <a:endParaRPr lang="en-US" sz="3400" dirty="0"/>
          </a:p>
        </p:txBody>
      </p:sp>
      <p:sp>
        <p:nvSpPr>
          <p:cNvPr id="4" name="Text 2"/>
          <p:cNvSpPr/>
          <p:nvPr/>
        </p:nvSpPr>
        <p:spPr>
          <a:xfrm>
            <a:off x="640080" y="1371600"/>
            <a:ext cx="10058400" cy="320040"/>
          </a:xfrm>
          <a:prstGeom prst="rect">
            <a:avLst/>
          </a:prstGeom>
          <a:noFill/>
          <a:ln/>
        </p:spPr>
        <p:txBody>
          <a:bodyPr wrap="square" lIns="0" tIns="0" rIns="0" bIns="0" rtlCol="0" anchor="ctr"/>
          <a:lstStyle/>
          <a:p>
            <a:pPr indent="0" marL="0">
              <a:buNone/>
            </a:pPr>
            <a:r>
              <a:rPr lang="en-US" sz="1400" dirty="0">
                <a:solidFill>
                  <a:srgbClr val="5C7080"/>
                </a:solidFill>
                <a:latin typeface="Calibri" pitchFamily="34" charset="0"/>
                <a:ea typeface="Calibri" pitchFamily="34" charset="-122"/>
                <a:cs typeface="Calibri" pitchFamily="34" charset="-120"/>
              </a:rPr>
              <a:t>The delivery photo becomes the receipt — printed on the spot and sent to the customer, worded by payment status.</a:t>
            </a:r>
            <a:endParaRPr lang="en-US" sz="1400" dirty="0"/>
          </a:p>
        </p:txBody>
      </p:sp>
      <p:sp>
        <p:nvSpPr>
          <p:cNvPr id="5" name="Shape 3"/>
          <p:cNvSpPr/>
          <p:nvPr/>
        </p:nvSpPr>
        <p:spPr>
          <a:xfrm>
            <a:off x="640080" y="1874520"/>
            <a:ext cx="3200400" cy="4069080"/>
          </a:xfrm>
          <a:prstGeom prst="roundRect">
            <a:avLst>
              <a:gd name="adj" fmla="val 2286"/>
            </a:avLst>
          </a:prstGeom>
          <a:solidFill>
            <a:srgbClr val="FFFFFF"/>
          </a:solidFill>
          <a:ln w="12700">
            <a:solidFill>
              <a:srgbClr val="DCE7EE"/>
            </a:solidFill>
            <a:prstDash val="solid"/>
          </a:ln>
          <a:effectLst>
            <a:outerShdw sx="100000" sy="100000" kx="0" ky="0" algn="bl" rotWithShape="0" blurRad="127000" dist="25400" dir="5400000">
              <a:srgbClr val="9FB4C2">
                <a:alpha val="35000"/>
              </a:srgbClr>
            </a:outerShdw>
          </a:effectLst>
        </p:spPr>
      </p:sp>
      <p:sp>
        <p:nvSpPr>
          <p:cNvPr id="6" name="Shape 4"/>
          <p:cNvSpPr/>
          <p:nvPr/>
        </p:nvSpPr>
        <p:spPr>
          <a:xfrm>
            <a:off x="640080" y="1874520"/>
            <a:ext cx="3200400" cy="566928"/>
          </a:xfrm>
          <a:prstGeom prst="roundRect">
            <a:avLst>
              <a:gd name="adj" fmla="val 12903"/>
            </a:avLst>
          </a:prstGeom>
          <a:solidFill>
            <a:srgbClr val="065A82"/>
          </a:solidFill>
          <a:ln w="12700">
            <a:solidFill>
              <a:srgbClr val="065A82"/>
            </a:solidFill>
            <a:prstDash val="solid"/>
          </a:ln>
        </p:spPr>
      </p:sp>
      <p:sp>
        <p:nvSpPr>
          <p:cNvPr id="7" name="Text 5"/>
          <p:cNvSpPr/>
          <p:nvPr/>
        </p:nvSpPr>
        <p:spPr>
          <a:xfrm>
            <a:off x="841248" y="1929384"/>
            <a:ext cx="219456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LG Nature's Water</a:t>
            </a:r>
            <a:endParaRPr lang="en-US" sz="1250" dirty="0"/>
          </a:p>
        </p:txBody>
      </p:sp>
      <p:sp>
        <p:nvSpPr>
          <p:cNvPr id="8" name="Text 6"/>
          <p:cNvSpPr/>
          <p:nvPr/>
        </p:nvSpPr>
        <p:spPr>
          <a:xfrm>
            <a:off x="841248" y="2167128"/>
            <a:ext cx="2194560" cy="201168"/>
          </a:xfrm>
          <a:prstGeom prst="rect">
            <a:avLst/>
          </a:prstGeom>
          <a:noFill/>
          <a:ln/>
        </p:spPr>
        <p:txBody>
          <a:bodyPr wrap="square" lIns="0" tIns="0" rIns="0" bIns="0" rtlCol="0" anchor="ctr"/>
          <a:lstStyle/>
          <a:p>
            <a:pPr indent="0" marL="0">
              <a:buNone/>
            </a:pPr>
            <a:r>
              <a:rPr lang="en-US" sz="850" spc="150" kern="0" dirty="0">
                <a:solidFill>
                  <a:srgbClr val="8ECAE6"/>
                </a:solidFill>
                <a:latin typeface="Calibri" pitchFamily="34" charset="0"/>
                <a:ea typeface="Calibri" pitchFamily="34" charset="-122"/>
                <a:cs typeface="Calibri" pitchFamily="34" charset="-120"/>
              </a:rPr>
              <a:t>DELIVERY RECEIPT</a:t>
            </a:r>
            <a:endParaRPr lang="en-US" sz="850" dirty="0"/>
          </a:p>
        </p:txBody>
      </p:sp>
      <p:sp>
        <p:nvSpPr>
          <p:cNvPr id="9" name="Text 7"/>
          <p:cNvSpPr/>
          <p:nvPr/>
        </p:nvSpPr>
        <p:spPr>
          <a:xfrm>
            <a:off x="2926080" y="2002536"/>
            <a:ext cx="777240" cy="274320"/>
          </a:xfrm>
          <a:prstGeom prst="rect">
            <a:avLst/>
          </a:prstGeom>
          <a:noFill/>
          <a:ln/>
        </p:spPr>
        <p:txBody>
          <a:bodyPr wrap="square" lIns="0" tIns="0" rIns="0" bIns="0" rtlCol="0" anchor="ctr"/>
          <a:lstStyle/>
          <a:p>
            <a:pPr algn="r" indent="0" marL="0">
              <a:buNone/>
            </a:pPr>
            <a:r>
              <a:rPr lang="en-US" sz="1100" b="1" dirty="0">
                <a:solidFill>
                  <a:srgbClr val="FFFFFF"/>
                </a:solidFill>
                <a:latin typeface="Calibri" pitchFamily="34" charset="0"/>
                <a:ea typeface="Calibri" pitchFamily="34" charset="-122"/>
                <a:cs typeface="Calibri" pitchFamily="34" charset="-120"/>
              </a:rPr>
              <a:t>#1042</a:t>
            </a:r>
            <a:endParaRPr lang="en-US" sz="1100" dirty="0"/>
          </a:p>
        </p:txBody>
      </p:sp>
      <p:sp>
        <p:nvSpPr>
          <p:cNvPr id="10" name="Text 8"/>
          <p:cNvSpPr/>
          <p:nvPr/>
        </p:nvSpPr>
        <p:spPr>
          <a:xfrm>
            <a:off x="841248" y="2532888"/>
            <a:ext cx="2743200" cy="201168"/>
          </a:xfrm>
          <a:prstGeom prst="rect">
            <a:avLst/>
          </a:prstGeom>
          <a:noFill/>
          <a:ln/>
        </p:spPr>
        <p:txBody>
          <a:bodyPr wrap="square" lIns="0" tIns="0" rIns="0" bIns="0" rtlCol="0" anchor="ctr"/>
          <a:lstStyle/>
          <a:p>
            <a:pPr indent="0" marL="0">
              <a:buNone/>
            </a:pPr>
            <a:r>
              <a:rPr lang="en-US" sz="950" dirty="0">
                <a:solidFill>
                  <a:srgbClr val="5C7080"/>
                </a:solidFill>
                <a:latin typeface="Calibri" pitchFamily="34" charset="0"/>
                <a:ea typeface="Calibri" pitchFamily="34" charset="-122"/>
                <a:cs typeface="Calibri" pitchFamily="34" charset="-120"/>
              </a:rPr>
              <a:t>Aug 20, 2026  ·  Rider: J. Cruz</a:t>
            </a:r>
            <a:endParaRPr lang="en-US" sz="950" dirty="0"/>
          </a:p>
        </p:txBody>
      </p:sp>
      <p:sp>
        <p:nvSpPr>
          <p:cNvPr id="11" name="Shape 9"/>
          <p:cNvSpPr/>
          <p:nvPr/>
        </p:nvSpPr>
        <p:spPr>
          <a:xfrm>
            <a:off x="841248" y="2788920"/>
            <a:ext cx="2798064" cy="777240"/>
          </a:xfrm>
          <a:prstGeom prst="roundRect">
            <a:avLst>
              <a:gd name="adj" fmla="val 7059"/>
            </a:avLst>
          </a:prstGeom>
          <a:solidFill>
            <a:srgbClr val="13293D"/>
          </a:solidFill>
          <a:ln w="12700">
            <a:solidFill>
              <a:srgbClr val="13293D"/>
            </a:solidFill>
            <a:prstDash val="solid"/>
          </a:ln>
        </p:spPr>
      </p:sp>
      <p:sp>
        <p:nvSpPr>
          <p:cNvPr id="12" name="Shape 10"/>
          <p:cNvSpPr/>
          <p:nvPr/>
        </p:nvSpPr>
        <p:spPr>
          <a:xfrm>
            <a:off x="987552" y="2953512"/>
            <a:ext cx="292608" cy="457200"/>
          </a:xfrm>
          <a:prstGeom prst="roundRect">
            <a:avLst>
              <a:gd name="adj" fmla="val 18750"/>
            </a:avLst>
          </a:prstGeom>
          <a:solidFill>
            <a:srgbClr val="4FA3C4"/>
          </a:solidFill>
          <a:ln w="9525">
            <a:solidFill>
              <a:srgbClr val="02C39A"/>
            </a:solidFill>
            <a:prstDash val="solid"/>
          </a:ln>
        </p:spPr>
      </p:sp>
      <p:sp>
        <p:nvSpPr>
          <p:cNvPr id="13" name="Shape 11"/>
          <p:cNvSpPr/>
          <p:nvPr/>
        </p:nvSpPr>
        <p:spPr>
          <a:xfrm>
            <a:off x="1536192" y="2953512"/>
            <a:ext cx="292608" cy="457200"/>
          </a:xfrm>
          <a:prstGeom prst="roundRect">
            <a:avLst>
              <a:gd name="adj" fmla="val 18750"/>
            </a:avLst>
          </a:prstGeom>
          <a:solidFill>
            <a:srgbClr val="4FA3C4"/>
          </a:solidFill>
          <a:ln w="9525">
            <a:solidFill>
              <a:srgbClr val="02C39A"/>
            </a:solidFill>
            <a:prstDash val="solid"/>
          </a:ln>
        </p:spPr>
      </p:sp>
      <p:sp>
        <p:nvSpPr>
          <p:cNvPr id="14" name="Shape 12"/>
          <p:cNvSpPr/>
          <p:nvPr/>
        </p:nvSpPr>
        <p:spPr>
          <a:xfrm>
            <a:off x="2084832" y="2953512"/>
            <a:ext cx="292608" cy="457200"/>
          </a:xfrm>
          <a:prstGeom prst="roundRect">
            <a:avLst>
              <a:gd name="adj" fmla="val 18750"/>
            </a:avLst>
          </a:prstGeom>
          <a:solidFill>
            <a:srgbClr val="4FA3C4"/>
          </a:solidFill>
          <a:ln w="9525">
            <a:solidFill>
              <a:srgbClr val="02C39A"/>
            </a:solidFill>
            <a:prstDash val="solid"/>
          </a:ln>
        </p:spPr>
      </p:sp>
      <p:sp>
        <p:nvSpPr>
          <p:cNvPr id="15" name="Shape 13"/>
          <p:cNvSpPr/>
          <p:nvPr/>
        </p:nvSpPr>
        <p:spPr>
          <a:xfrm>
            <a:off x="2852928" y="3026664"/>
            <a:ext cx="777240" cy="292608"/>
          </a:xfrm>
          <a:prstGeom prst="roundRect">
            <a:avLst>
              <a:gd name="adj" fmla="val 15625"/>
            </a:avLst>
          </a:prstGeom>
          <a:solidFill>
            <a:srgbClr val="02C39A"/>
          </a:solidFill>
          <a:ln w="12700">
            <a:solidFill>
              <a:srgbClr val="02C39A"/>
            </a:solidFill>
            <a:prstDash val="solid"/>
          </a:ln>
        </p:spPr>
      </p:sp>
      <p:sp>
        <p:nvSpPr>
          <p:cNvPr id="16" name="Text 14"/>
          <p:cNvSpPr/>
          <p:nvPr/>
        </p:nvSpPr>
        <p:spPr>
          <a:xfrm>
            <a:off x="2852928" y="3026664"/>
            <a:ext cx="777240" cy="292608"/>
          </a:xfrm>
          <a:prstGeom prst="rect">
            <a:avLst/>
          </a:prstGeom>
          <a:noFill/>
          <a:ln/>
        </p:spPr>
        <p:txBody>
          <a:bodyPr wrap="square" lIns="0" tIns="0" rIns="0" bIns="0" rtlCol="0" anchor="ctr"/>
          <a:lstStyle/>
          <a:p>
            <a:pPr algn="ctr" indent="0" marL="0">
              <a:buNone/>
            </a:pPr>
            <a:r>
              <a:rPr lang="en-US" sz="800" b="1" dirty="0">
                <a:solidFill>
                  <a:srgbClr val="0A2540"/>
                </a:solidFill>
                <a:latin typeface="Calibri" pitchFamily="34" charset="0"/>
                <a:ea typeface="Calibri" pitchFamily="34" charset="-122"/>
                <a:cs typeface="Calibri" pitchFamily="34" charset="-120"/>
              </a:rPr>
              <a:t>8 counted</a:t>
            </a:r>
            <a:endParaRPr lang="en-US" sz="800" dirty="0"/>
          </a:p>
        </p:txBody>
      </p:sp>
      <p:sp>
        <p:nvSpPr>
          <p:cNvPr id="17" name="Text 15"/>
          <p:cNvSpPr/>
          <p:nvPr/>
        </p:nvSpPr>
        <p:spPr>
          <a:xfrm>
            <a:off x="841248" y="3703320"/>
            <a:ext cx="1828800" cy="21945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8 containers refilled</a:t>
            </a:r>
            <a:endParaRPr lang="en-US" sz="1050" dirty="0"/>
          </a:p>
        </p:txBody>
      </p:sp>
      <p:sp>
        <p:nvSpPr>
          <p:cNvPr id="18" name="Text 16"/>
          <p:cNvSpPr/>
          <p:nvPr/>
        </p:nvSpPr>
        <p:spPr>
          <a:xfrm>
            <a:off x="2560320" y="3703320"/>
            <a:ext cx="1078992" cy="219456"/>
          </a:xfrm>
          <a:prstGeom prst="rect">
            <a:avLst/>
          </a:prstGeom>
          <a:noFill/>
          <a:ln/>
        </p:spPr>
        <p:txBody>
          <a:bodyPr wrap="square" lIns="0" tIns="0" rIns="0" bIns="0" rtlCol="0" anchor="ctr"/>
          <a:lstStyle/>
          <a:p>
            <a:pPr algn="r" indent="0" marL="0">
              <a:buNone/>
            </a:pPr>
            <a:r>
              <a:rPr lang="en-US" sz="1050" dirty="0">
                <a:solidFill>
                  <a:srgbClr val="17303F"/>
                </a:solidFill>
                <a:latin typeface="Calibri" pitchFamily="34" charset="0"/>
                <a:ea typeface="Calibri" pitchFamily="34" charset="-122"/>
                <a:cs typeface="Calibri" pitchFamily="34" charset="-120"/>
              </a:rPr>
              <a:t>200.00</a:t>
            </a:r>
            <a:endParaRPr lang="en-US" sz="1050" dirty="0"/>
          </a:p>
        </p:txBody>
      </p:sp>
      <p:sp>
        <p:nvSpPr>
          <p:cNvPr id="19" name="Text 17"/>
          <p:cNvSpPr/>
          <p:nvPr/>
        </p:nvSpPr>
        <p:spPr>
          <a:xfrm>
            <a:off x="841248" y="3941064"/>
            <a:ext cx="1828800" cy="21945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Delivery fee</a:t>
            </a:r>
            <a:endParaRPr lang="en-US" sz="1050" dirty="0"/>
          </a:p>
        </p:txBody>
      </p:sp>
      <p:sp>
        <p:nvSpPr>
          <p:cNvPr id="20" name="Text 18"/>
          <p:cNvSpPr/>
          <p:nvPr/>
        </p:nvSpPr>
        <p:spPr>
          <a:xfrm>
            <a:off x="2560320" y="3941064"/>
            <a:ext cx="1078992" cy="219456"/>
          </a:xfrm>
          <a:prstGeom prst="rect">
            <a:avLst/>
          </a:prstGeom>
          <a:noFill/>
          <a:ln/>
        </p:spPr>
        <p:txBody>
          <a:bodyPr wrap="square" lIns="0" tIns="0" rIns="0" bIns="0" rtlCol="0" anchor="ctr"/>
          <a:lstStyle/>
          <a:p>
            <a:pPr algn="r" indent="0" marL="0">
              <a:buNone/>
            </a:pPr>
            <a:r>
              <a:rPr lang="en-US" sz="1050" dirty="0">
                <a:solidFill>
                  <a:srgbClr val="17303F"/>
                </a:solidFill>
                <a:latin typeface="Calibri" pitchFamily="34" charset="0"/>
                <a:ea typeface="Calibri" pitchFamily="34" charset="-122"/>
                <a:cs typeface="Calibri" pitchFamily="34" charset="-120"/>
              </a:rPr>
              <a:t>30.00</a:t>
            </a:r>
            <a:endParaRPr lang="en-US" sz="1050" dirty="0"/>
          </a:p>
        </p:txBody>
      </p:sp>
      <p:sp>
        <p:nvSpPr>
          <p:cNvPr id="21" name="Shape 19"/>
          <p:cNvSpPr/>
          <p:nvPr/>
        </p:nvSpPr>
        <p:spPr>
          <a:xfrm>
            <a:off x="841248" y="4251960"/>
            <a:ext cx="2798064" cy="18288"/>
          </a:xfrm>
          <a:prstGeom prst="rect">
            <a:avLst/>
          </a:prstGeom>
          <a:solidFill>
            <a:srgbClr val="D3DEE6"/>
          </a:solidFill>
          <a:ln w="12700">
            <a:solidFill>
              <a:srgbClr val="D3DEE6"/>
            </a:solidFill>
            <a:prstDash val="solid"/>
          </a:ln>
        </p:spPr>
      </p:sp>
      <p:sp>
        <p:nvSpPr>
          <p:cNvPr id="22" name="Text 20"/>
          <p:cNvSpPr/>
          <p:nvPr/>
        </p:nvSpPr>
        <p:spPr>
          <a:xfrm>
            <a:off x="841248" y="4343400"/>
            <a:ext cx="1645920" cy="237744"/>
          </a:xfrm>
          <a:prstGeom prst="rect">
            <a:avLst/>
          </a:prstGeom>
          <a:noFill/>
          <a:ln/>
        </p:spPr>
        <p:txBody>
          <a:bodyPr wrap="square" lIns="0" tIns="0" rIns="0" bIns="0" rtlCol="0" anchor="ctr"/>
          <a:lstStyle/>
          <a:p>
            <a:pPr indent="0" marL="0">
              <a:buNone/>
            </a:pPr>
            <a:r>
              <a:rPr lang="en-US" sz="1050" b="1" dirty="0">
                <a:solidFill>
                  <a:srgbClr val="17303F"/>
                </a:solidFill>
                <a:latin typeface="Calibri" pitchFamily="34" charset="0"/>
                <a:ea typeface="Calibri" pitchFamily="34" charset="-122"/>
                <a:cs typeface="Calibri" pitchFamily="34" charset="-120"/>
              </a:rPr>
              <a:t>TOTAL</a:t>
            </a:r>
            <a:endParaRPr lang="en-US" sz="1050" dirty="0"/>
          </a:p>
        </p:txBody>
      </p:sp>
      <p:sp>
        <p:nvSpPr>
          <p:cNvPr id="23" name="Text 21"/>
          <p:cNvSpPr/>
          <p:nvPr/>
        </p:nvSpPr>
        <p:spPr>
          <a:xfrm>
            <a:off x="2377440" y="4343400"/>
            <a:ext cx="1261872" cy="237744"/>
          </a:xfrm>
          <a:prstGeom prst="rect">
            <a:avLst/>
          </a:prstGeom>
          <a:noFill/>
          <a:ln/>
        </p:spPr>
        <p:txBody>
          <a:bodyPr wrap="square" lIns="0" tIns="0" rIns="0" bIns="0" rtlCol="0" anchor="ctr"/>
          <a:lstStyle/>
          <a:p>
            <a:pPr algn="r" indent="0" marL="0">
              <a:buNone/>
            </a:pPr>
            <a:r>
              <a:rPr lang="en-US" sz="1100" b="1" dirty="0">
                <a:solidFill>
                  <a:srgbClr val="17303F"/>
                </a:solidFill>
                <a:latin typeface="Calibri" pitchFamily="34" charset="0"/>
                <a:ea typeface="Calibri" pitchFamily="34" charset="-122"/>
                <a:cs typeface="Calibri" pitchFamily="34" charset="-120"/>
              </a:rPr>
              <a:t>PHP 230.00</a:t>
            </a:r>
            <a:endParaRPr lang="en-US" sz="1100" dirty="0"/>
          </a:p>
        </p:txBody>
      </p:sp>
      <p:sp>
        <p:nvSpPr>
          <p:cNvPr id="24" name="Text 22"/>
          <p:cNvSpPr/>
          <p:nvPr/>
        </p:nvSpPr>
        <p:spPr>
          <a:xfrm>
            <a:off x="841248" y="4599432"/>
            <a:ext cx="1645920" cy="237744"/>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Amount paid</a:t>
            </a:r>
            <a:endParaRPr lang="en-US" sz="1050" dirty="0"/>
          </a:p>
        </p:txBody>
      </p:sp>
      <p:sp>
        <p:nvSpPr>
          <p:cNvPr id="25" name="Text 23"/>
          <p:cNvSpPr/>
          <p:nvPr/>
        </p:nvSpPr>
        <p:spPr>
          <a:xfrm>
            <a:off x="2377440" y="4599432"/>
            <a:ext cx="1261872" cy="237744"/>
          </a:xfrm>
          <a:prstGeom prst="rect">
            <a:avLst/>
          </a:prstGeom>
          <a:noFill/>
          <a:ln/>
        </p:spPr>
        <p:txBody>
          <a:bodyPr wrap="square" lIns="0" tIns="0" rIns="0" bIns="0" rtlCol="0" anchor="ctr"/>
          <a:lstStyle/>
          <a:p>
            <a:pPr algn="r" indent="0" marL="0">
              <a:buNone/>
            </a:pPr>
            <a:r>
              <a:rPr lang="en-US" sz="1100" dirty="0">
                <a:solidFill>
                  <a:srgbClr val="5C7080"/>
                </a:solidFill>
                <a:latin typeface="Calibri" pitchFamily="34" charset="0"/>
                <a:ea typeface="Calibri" pitchFamily="34" charset="-122"/>
                <a:cs typeface="Calibri" pitchFamily="34" charset="-120"/>
              </a:rPr>
              <a:t>PHP 130.00</a:t>
            </a:r>
            <a:endParaRPr lang="en-US" sz="1100" dirty="0"/>
          </a:p>
        </p:txBody>
      </p:sp>
      <p:sp>
        <p:nvSpPr>
          <p:cNvPr id="26" name="Text 24"/>
          <p:cNvSpPr/>
          <p:nvPr/>
        </p:nvSpPr>
        <p:spPr>
          <a:xfrm>
            <a:off x="841248" y="4855464"/>
            <a:ext cx="1645920" cy="237744"/>
          </a:xfrm>
          <a:prstGeom prst="rect">
            <a:avLst/>
          </a:prstGeom>
          <a:noFill/>
          <a:ln/>
        </p:spPr>
        <p:txBody>
          <a:bodyPr wrap="square" lIns="0" tIns="0" rIns="0" bIns="0" rtlCol="0" anchor="ctr"/>
          <a:lstStyle/>
          <a:p>
            <a:pPr indent="0" marL="0">
              <a:buNone/>
            </a:pPr>
            <a:r>
              <a:rPr lang="en-US" sz="1050" b="1" dirty="0">
                <a:solidFill>
                  <a:srgbClr val="C9453D"/>
                </a:solidFill>
                <a:latin typeface="Calibri" pitchFamily="34" charset="0"/>
                <a:ea typeface="Calibri" pitchFamily="34" charset="-122"/>
                <a:cs typeface="Calibri" pitchFamily="34" charset="-120"/>
              </a:rPr>
              <a:t>Balance due</a:t>
            </a:r>
            <a:endParaRPr lang="en-US" sz="1050" dirty="0"/>
          </a:p>
        </p:txBody>
      </p:sp>
      <p:sp>
        <p:nvSpPr>
          <p:cNvPr id="27" name="Text 25"/>
          <p:cNvSpPr/>
          <p:nvPr/>
        </p:nvSpPr>
        <p:spPr>
          <a:xfrm>
            <a:off x="2377440" y="4855464"/>
            <a:ext cx="1261872" cy="237744"/>
          </a:xfrm>
          <a:prstGeom prst="rect">
            <a:avLst/>
          </a:prstGeom>
          <a:noFill/>
          <a:ln/>
        </p:spPr>
        <p:txBody>
          <a:bodyPr wrap="square" lIns="0" tIns="0" rIns="0" bIns="0" rtlCol="0" anchor="ctr"/>
          <a:lstStyle/>
          <a:p>
            <a:pPr algn="r" indent="0" marL="0">
              <a:buNone/>
            </a:pPr>
            <a:r>
              <a:rPr lang="en-US" sz="1100" b="1" dirty="0">
                <a:solidFill>
                  <a:srgbClr val="C9453D"/>
                </a:solidFill>
                <a:latin typeface="Calibri" pitchFamily="34" charset="0"/>
                <a:ea typeface="Calibri" pitchFamily="34" charset="-122"/>
                <a:cs typeface="Calibri" pitchFamily="34" charset="-120"/>
              </a:rPr>
              <a:t>PHP 100.00</a:t>
            </a:r>
            <a:endParaRPr lang="en-US" sz="1100" dirty="0"/>
          </a:p>
        </p:txBody>
      </p:sp>
      <p:sp>
        <p:nvSpPr>
          <p:cNvPr id="28" name="Shape 26"/>
          <p:cNvSpPr/>
          <p:nvPr/>
        </p:nvSpPr>
        <p:spPr>
          <a:xfrm>
            <a:off x="841248" y="5184648"/>
            <a:ext cx="2798064" cy="365760"/>
          </a:xfrm>
          <a:prstGeom prst="roundRect">
            <a:avLst>
              <a:gd name="adj" fmla="val 17500"/>
            </a:avLst>
          </a:prstGeom>
          <a:solidFill>
            <a:srgbClr val="FDF1DC"/>
          </a:solidFill>
          <a:ln w="12700">
            <a:solidFill>
              <a:srgbClr val="E8A33D"/>
            </a:solidFill>
            <a:prstDash val="solid"/>
          </a:ln>
        </p:spPr>
      </p:sp>
      <p:sp>
        <p:nvSpPr>
          <p:cNvPr id="29" name="Text 27"/>
          <p:cNvSpPr/>
          <p:nvPr/>
        </p:nvSpPr>
        <p:spPr>
          <a:xfrm>
            <a:off x="841248" y="5184648"/>
            <a:ext cx="2798064" cy="365760"/>
          </a:xfrm>
          <a:prstGeom prst="rect">
            <a:avLst/>
          </a:prstGeom>
          <a:noFill/>
          <a:ln/>
        </p:spPr>
        <p:txBody>
          <a:bodyPr wrap="square" lIns="0" tIns="0" rIns="0" bIns="0" rtlCol="0" anchor="ctr"/>
          <a:lstStyle/>
          <a:p>
            <a:pPr algn="ctr" indent="0" marL="0">
              <a:buNone/>
            </a:pPr>
            <a:r>
              <a:rPr lang="en-US" sz="1100" b="1" dirty="0">
                <a:solidFill>
                  <a:srgbClr val="8A5A0B"/>
                </a:solidFill>
                <a:latin typeface="Calibri" pitchFamily="34" charset="0"/>
                <a:ea typeface="Calibri" pitchFamily="34" charset="-122"/>
                <a:cs typeface="Calibri" pitchFamily="34" charset="-120"/>
              </a:rPr>
              <a:t>PARTIALLY PAID</a:t>
            </a:r>
            <a:endParaRPr lang="en-US" sz="1100" dirty="0"/>
          </a:p>
        </p:txBody>
      </p:sp>
      <p:sp>
        <p:nvSpPr>
          <p:cNvPr id="30" name="Text 28"/>
          <p:cNvSpPr/>
          <p:nvPr/>
        </p:nvSpPr>
        <p:spPr>
          <a:xfrm>
            <a:off x="841248" y="5586984"/>
            <a:ext cx="2798064" cy="219456"/>
          </a:xfrm>
          <a:prstGeom prst="rect">
            <a:avLst/>
          </a:prstGeom>
          <a:noFill/>
          <a:ln/>
        </p:spPr>
        <p:txBody>
          <a:bodyPr wrap="square" lIns="0" tIns="0" rIns="0" bIns="0" rtlCol="0" anchor="ctr"/>
          <a:lstStyle/>
          <a:p>
            <a:pPr algn="ctr" indent="0" marL="0">
              <a:buNone/>
            </a:pPr>
            <a:r>
              <a:rPr lang="en-US" sz="850" i="1" dirty="0">
                <a:solidFill>
                  <a:srgbClr val="5C7080"/>
                </a:solidFill>
                <a:latin typeface="Calibri" pitchFamily="34" charset="0"/>
                <a:ea typeface="Calibri" pitchFamily="34" charset="-122"/>
                <a:cs typeface="Calibri" pitchFamily="34" charset="-120"/>
              </a:rPr>
              <a:t>Printed on the spot  ·  copy sent to the app</a:t>
            </a:r>
            <a:endParaRPr lang="en-US" sz="850" dirty="0"/>
          </a:p>
        </p:txBody>
      </p:sp>
      <p:sp>
        <p:nvSpPr>
          <p:cNvPr id="31" name="Shape 29"/>
          <p:cNvSpPr/>
          <p:nvPr/>
        </p:nvSpPr>
        <p:spPr>
          <a:xfrm>
            <a:off x="4206240" y="1874520"/>
            <a:ext cx="1689354" cy="841248"/>
          </a:xfrm>
          <a:prstGeom prst="roundRect">
            <a:avLst>
              <a:gd name="adj" fmla="val 8696"/>
            </a:avLst>
          </a:prstGeom>
          <a:solidFill>
            <a:srgbClr val="FFFFFF"/>
          </a:solidFill>
          <a:ln w="12700">
            <a:solidFill>
              <a:srgbClr val="DCE7EE"/>
            </a:solidFill>
            <a:prstDash val="solid"/>
          </a:ln>
          <a:effectLst>
            <a:outerShdw sx="100000" sy="100000" kx="0" ky="0" algn="bl" rotWithShape="0" blurRad="127000" dist="25400" dir="5400000">
              <a:srgbClr val="9FB4C2">
                <a:alpha val="35000"/>
              </a:srgbClr>
            </a:outerShdw>
          </a:effectLst>
        </p:spPr>
      </p:sp>
      <p:sp>
        <p:nvSpPr>
          <p:cNvPr id="32" name="Shape 30"/>
          <p:cNvSpPr/>
          <p:nvPr/>
        </p:nvSpPr>
        <p:spPr>
          <a:xfrm>
            <a:off x="4352544" y="2066544"/>
            <a:ext cx="457200" cy="457200"/>
          </a:xfrm>
          <a:prstGeom prst="ellipse">
            <a:avLst/>
          </a:prstGeom>
          <a:solidFill>
            <a:srgbClr val="065A82"/>
          </a:solidFill>
          <a:ln w="12700">
            <a:solidFill>
              <a:srgbClr val="065A82"/>
            </a:solidFill>
            <a:prstDash val="solid"/>
          </a:ln>
        </p:spPr>
      </p:sp>
      <p:pic>
        <p:nvPicPr>
          <p:cNvPr id="33" name="Image 0" descr="preencoded.png">    </p:cNvPr>
          <p:cNvPicPr>
            <a:picLocks noChangeAspect="1"/>
          </p:cNvPicPr>
          <p:nvPr/>
        </p:nvPicPr>
        <p:blipFill>
          <a:blip r:embed="rId1"/>
          <a:stretch>
            <a:fillRect/>
          </a:stretch>
        </p:blipFill>
        <p:spPr>
          <a:xfrm>
            <a:off x="4471416" y="2185416"/>
            <a:ext cx="219456" cy="219456"/>
          </a:xfrm>
          <a:prstGeom prst="rect">
            <a:avLst/>
          </a:prstGeom>
        </p:spPr>
      </p:pic>
      <p:sp>
        <p:nvSpPr>
          <p:cNvPr id="34" name="Text 31"/>
          <p:cNvSpPr/>
          <p:nvPr/>
        </p:nvSpPr>
        <p:spPr>
          <a:xfrm>
            <a:off x="4882896" y="1874520"/>
            <a:ext cx="902970" cy="841248"/>
          </a:xfrm>
          <a:prstGeom prst="rect">
            <a:avLst/>
          </a:prstGeom>
          <a:noFill/>
          <a:ln/>
        </p:spPr>
        <p:txBody>
          <a:bodyPr wrap="square" lIns="0" tIns="0" rIns="0" bIns="0" rtlCol="0" anchor="ctr"/>
          <a:lstStyle/>
          <a:p>
            <a:pPr indent="0" marL="0">
              <a:buNone/>
            </a:pPr>
            <a:r>
              <a:rPr lang="en-US" sz="1150" b="1" dirty="0">
                <a:solidFill>
                  <a:srgbClr val="17303F"/>
                </a:solidFill>
                <a:latin typeface="Calibri" pitchFamily="34" charset="0"/>
                <a:ea typeface="Calibri" pitchFamily="34" charset="-122"/>
                <a:cs typeface="Calibri" pitchFamily="34" charset="-120"/>
              </a:rPr>
              <a:t>Delivery photo</a:t>
            </a:r>
            <a:endParaRPr lang="en-US" sz="1150" dirty="0"/>
          </a:p>
        </p:txBody>
      </p:sp>
      <p:sp>
        <p:nvSpPr>
          <p:cNvPr id="35" name="Shape 32"/>
          <p:cNvSpPr/>
          <p:nvPr/>
        </p:nvSpPr>
        <p:spPr>
          <a:xfrm>
            <a:off x="5936742" y="2231136"/>
            <a:ext cx="118872" cy="146304"/>
          </a:xfrm>
          <a:prstGeom prst="rightArrow">
            <a:avLst/>
          </a:prstGeom>
          <a:solidFill>
            <a:srgbClr val="AFC2CE"/>
          </a:solidFill>
          <a:ln w="12700">
            <a:solidFill>
              <a:srgbClr val="AFC2CE"/>
            </a:solidFill>
            <a:prstDash val="solid"/>
          </a:ln>
        </p:spPr>
      </p:sp>
      <p:sp>
        <p:nvSpPr>
          <p:cNvPr id="36" name="Shape 33"/>
          <p:cNvSpPr/>
          <p:nvPr/>
        </p:nvSpPr>
        <p:spPr>
          <a:xfrm>
            <a:off x="6096762" y="1874520"/>
            <a:ext cx="1689354" cy="841248"/>
          </a:xfrm>
          <a:prstGeom prst="roundRect">
            <a:avLst>
              <a:gd name="adj" fmla="val 8696"/>
            </a:avLst>
          </a:prstGeom>
          <a:solidFill>
            <a:srgbClr val="FFFFFF"/>
          </a:solidFill>
          <a:ln w="12700">
            <a:solidFill>
              <a:srgbClr val="DCE7EE"/>
            </a:solidFill>
            <a:prstDash val="solid"/>
          </a:ln>
          <a:effectLst>
            <a:outerShdw sx="100000" sy="100000" kx="0" ky="0" algn="bl" rotWithShape="0" blurRad="127000" dist="25400" dir="5400000">
              <a:srgbClr val="9FB4C2">
                <a:alpha val="35000"/>
              </a:srgbClr>
            </a:outerShdw>
          </a:effectLst>
        </p:spPr>
      </p:sp>
      <p:sp>
        <p:nvSpPr>
          <p:cNvPr id="37" name="Shape 34"/>
          <p:cNvSpPr/>
          <p:nvPr/>
        </p:nvSpPr>
        <p:spPr>
          <a:xfrm>
            <a:off x="6243066" y="2066544"/>
            <a:ext cx="457200" cy="457200"/>
          </a:xfrm>
          <a:prstGeom prst="ellipse">
            <a:avLst/>
          </a:prstGeom>
          <a:solidFill>
            <a:srgbClr val="065A82"/>
          </a:solidFill>
          <a:ln w="12700">
            <a:solidFill>
              <a:srgbClr val="065A82"/>
            </a:solidFill>
            <a:prstDash val="solid"/>
          </a:ln>
        </p:spPr>
      </p:sp>
      <p:pic>
        <p:nvPicPr>
          <p:cNvPr id="38" name="Image 1" descr="preencoded.png">    </p:cNvPr>
          <p:cNvPicPr>
            <a:picLocks noChangeAspect="1"/>
          </p:cNvPicPr>
          <p:nvPr/>
        </p:nvPicPr>
        <p:blipFill>
          <a:blip r:embed="rId2"/>
          <a:stretch>
            <a:fillRect/>
          </a:stretch>
        </p:blipFill>
        <p:spPr>
          <a:xfrm>
            <a:off x="6361938" y="2185416"/>
            <a:ext cx="219456" cy="219456"/>
          </a:xfrm>
          <a:prstGeom prst="rect">
            <a:avLst/>
          </a:prstGeom>
        </p:spPr>
      </p:pic>
      <p:sp>
        <p:nvSpPr>
          <p:cNvPr id="39" name="Text 35"/>
          <p:cNvSpPr/>
          <p:nvPr/>
        </p:nvSpPr>
        <p:spPr>
          <a:xfrm>
            <a:off x="6773418" y="1874520"/>
            <a:ext cx="902970" cy="841248"/>
          </a:xfrm>
          <a:prstGeom prst="rect">
            <a:avLst/>
          </a:prstGeom>
          <a:noFill/>
          <a:ln/>
        </p:spPr>
        <p:txBody>
          <a:bodyPr wrap="square" lIns="0" tIns="0" rIns="0" bIns="0" rtlCol="0" anchor="ctr"/>
          <a:lstStyle/>
          <a:p>
            <a:pPr indent="0" marL="0">
              <a:buNone/>
            </a:pPr>
            <a:r>
              <a:rPr lang="en-US" sz="1150" b="1" dirty="0">
                <a:solidFill>
                  <a:srgbClr val="17303F"/>
                </a:solidFill>
                <a:latin typeface="Calibri" pitchFamily="34" charset="0"/>
                <a:ea typeface="Calibri" pitchFamily="34" charset="-122"/>
                <a:cs typeface="Calibri" pitchFamily="34" charset="-120"/>
              </a:rPr>
              <a:t>Count verified</a:t>
            </a:r>
            <a:endParaRPr lang="en-US" sz="1150" dirty="0"/>
          </a:p>
        </p:txBody>
      </p:sp>
      <p:sp>
        <p:nvSpPr>
          <p:cNvPr id="40" name="Shape 36"/>
          <p:cNvSpPr/>
          <p:nvPr/>
        </p:nvSpPr>
        <p:spPr>
          <a:xfrm>
            <a:off x="7827264" y="2231136"/>
            <a:ext cx="118872" cy="146304"/>
          </a:xfrm>
          <a:prstGeom prst="rightArrow">
            <a:avLst/>
          </a:prstGeom>
          <a:solidFill>
            <a:srgbClr val="AFC2CE"/>
          </a:solidFill>
          <a:ln w="12700">
            <a:solidFill>
              <a:srgbClr val="AFC2CE"/>
            </a:solidFill>
            <a:prstDash val="solid"/>
          </a:ln>
        </p:spPr>
      </p:sp>
      <p:sp>
        <p:nvSpPr>
          <p:cNvPr id="41" name="Shape 37"/>
          <p:cNvSpPr/>
          <p:nvPr/>
        </p:nvSpPr>
        <p:spPr>
          <a:xfrm>
            <a:off x="7987284" y="1874520"/>
            <a:ext cx="1689354" cy="841248"/>
          </a:xfrm>
          <a:prstGeom prst="roundRect">
            <a:avLst>
              <a:gd name="adj" fmla="val 8696"/>
            </a:avLst>
          </a:prstGeom>
          <a:solidFill>
            <a:srgbClr val="FFFFFF"/>
          </a:solidFill>
          <a:ln w="12700">
            <a:solidFill>
              <a:srgbClr val="DCE7EE"/>
            </a:solidFill>
            <a:prstDash val="solid"/>
          </a:ln>
          <a:effectLst>
            <a:outerShdw sx="100000" sy="100000" kx="0" ky="0" algn="bl" rotWithShape="0" blurRad="127000" dist="25400" dir="5400000">
              <a:srgbClr val="9FB4C2">
                <a:alpha val="35000"/>
              </a:srgbClr>
            </a:outerShdw>
          </a:effectLst>
        </p:spPr>
      </p:sp>
      <p:sp>
        <p:nvSpPr>
          <p:cNvPr id="42" name="Shape 38"/>
          <p:cNvSpPr/>
          <p:nvPr/>
        </p:nvSpPr>
        <p:spPr>
          <a:xfrm>
            <a:off x="8133588" y="2066544"/>
            <a:ext cx="457200" cy="457200"/>
          </a:xfrm>
          <a:prstGeom prst="ellipse">
            <a:avLst/>
          </a:prstGeom>
          <a:solidFill>
            <a:srgbClr val="065A82"/>
          </a:solidFill>
          <a:ln w="12700">
            <a:solidFill>
              <a:srgbClr val="065A82"/>
            </a:solidFill>
            <a:prstDash val="solid"/>
          </a:ln>
        </p:spPr>
      </p:sp>
      <p:pic>
        <p:nvPicPr>
          <p:cNvPr id="43" name="Image 2" descr="preencoded.png">    </p:cNvPr>
          <p:cNvPicPr>
            <a:picLocks noChangeAspect="1"/>
          </p:cNvPicPr>
          <p:nvPr/>
        </p:nvPicPr>
        <p:blipFill>
          <a:blip r:embed="rId3"/>
          <a:stretch>
            <a:fillRect/>
          </a:stretch>
        </p:blipFill>
        <p:spPr>
          <a:xfrm>
            <a:off x="8252460" y="2185416"/>
            <a:ext cx="219456" cy="219456"/>
          </a:xfrm>
          <a:prstGeom prst="rect">
            <a:avLst/>
          </a:prstGeom>
        </p:spPr>
      </p:pic>
      <p:sp>
        <p:nvSpPr>
          <p:cNvPr id="44" name="Text 39"/>
          <p:cNvSpPr/>
          <p:nvPr/>
        </p:nvSpPr>
        <p:spPr>
          <a:xfrm>
            <a:off x="8663940" y="1874520"/>
            <a:ext cx="902970" cy="841248"/>
          </a:xfrm>
          <a:prstGeom prst="rect">
            <a:avLst/>
          </a:prstGeom>
          <a:noFill/>
          <a:ln/>
        </p:spPr>
        <p:txBody>
          <a:bodyPr wrap="square" lIns="0" tIns="0" rIns="0" bIns="0" rtlCol="0" anchor="ctr"/>
          <a:lstStyle/>
          <a:p>
            <a:pPr indent="0" marL="0">
              <a:buNone/>
            </a:pPr>
            <a:r>
              <a:rPr lang="en-US" sz="1150" b="1" dirty="0">
                <a:solidFill>
                  <a:srgbClr val="17303F"/>
                </a:solidFill>
                <a:latin typeface="Calibri" pitchFamily="34" charset="0"/>
                <a:ea typeface="Calibri" pitchFamily="34" charset="-122"/>
                <a:cs typeface="Calibri" pitchFamily="34" charset="-120"/>
              </a:rPr>
              <a:t>Receipt generated</a:t>
            </a:r>
            <a:endParaRPr lang="en-US" sz="1150" dirty="0"/>
          </a:p>
        </p:txBody>
      </p:sp>
      <p:sp>
        <p:nvSpPr>
          <p:cNvPr id="45" name="Shape 40"/>
          <p:cNvSpPr/>
          <p:nvPr/>
        </p:nvSpPr>
        <p:spPr>
          <a:xfrm>
            <a:off x="9717786" y="2231136"/>
            <a:ext cx="118872" cy="146304"/>
          </a:xfrm>
          <a:prstGeom prst="rightArrow">
            <a:avLst/>
          </a:prstGeom>
          <a:solidFill>
            <a:srgbClr val="AFC2CE"/>
          </a:solidFill>
          <a:ln w="12700">
            <a:solidFill>
              <a:srgbClr val="AFC2CE"/>
            </a:solidFill>
            <a:prstDash val="solid"/>
          </a:ln>
        </p:spPr>
      </p:sp>
      <p:sp>
        <p:nvSpPr>
          <p:cNvPr id="46" name="Shape 41"/>
          <p:cNvSpPr/>
          <p:nvPr/>
        </p:nvSpPr>
        <p:spPr>
          <a:xfrm>
            <a:off x="9877806" y="1874520"/>
            <a:ext cx="1689354" cy="841248"/>
          </a:xfrm>
          <a:prstGeom prst="roundRect">
            <a:avLst>
              <a:gd name="adj" fmla="val 8696"/>
            </a:avLst>
          </a:prstGeom>
          <a:solidFill>
            <a:srgbClr val="FFFFFF"/>
          </a:solidFill>
          <a:ln w="12700">
            <a:solidFill>
              <a:srgbClr val="DCE7EE"/>
            </a:solidFill>
            <a:prstDash val="solid"/>
          </a:ln>
          <a:effectLst>
            <a:outerShdw sx="100000" sy="100000" kx="0" ky="0" algn="bl" rotWithShape="0" blurRad="127000" dist="25400" dir="5400000">
              <a:srgbClr val="9FB4C2">
                <a:alpha val="35000"/>
              </a:srgbClr>
            </a:outerShdw>
          </a:effectLst>
        </p:spPr>
      </p:sp>
      <p:sp>
        <p:nvSpPr>
          <p:cNvPr id="47" name="Shape 42"/>
          <p:cNvSpPr/>
          <p:nvPr/>
        </p:nvSpPr>
        <p:spPr>
          <a:xfrm>
            <a:off x="10024110" y="2066544"/>
            <a:ext cx="457200" cy="457200"/>
          </a:xfrm>
          <a:prstGeom prst="ellipse">
            <a:avLst/>
          </a:prstGeom>
          <a:solidFill>
            <a:srgbClr val="065A82"/>
          </a:solidFill>
          <a:ln w="12700">
            <a:solidFill>
              <a:srgbClr val="065A82"/>
            </a:solidFill>
            <a:prstDash val="solid"/>
          </a:ln>
        </p:spPr>
      </p:sp>
      <p:pic>
        <p:nvPicPr>
          <p:cNvPr id="48" name="Image 3" descr="preencoded.png">    </p:cNvPr>
          <p:cNvPicPr>
            <a:picLocks noChangeAspect="1"/>
          </p:cNvPicPr>
          <p:nvPr/>
        </p:nvPicPr>
        <p:blipFill>
          <a:blip r:embed="rId4"/>
          <a:stretch>
            <a:fillRect/>
          </a:stretch>
        </p:blipFill>
        <p:spPr>
          <a:xfrm>
            <a:off x="10142982" y="2185416"/>
            <a:ext cx="219456" cy="219456"/>
          </a:xfrm>
          <a:prstGeom prst="rect">
            <a:avLst/>
          </a:prstGeom>
        </p:spPr>
      </p:pic>
      <p:sp>
        <p:nvSpPr>
          <p:cNvPr id="49" name="Text 43"/>
          <p:cNvSpPr/>
          <p:nvPr/>
        </p:nvSpPr>
        <p:spPr>
          <a:xfrm>
            <a:off x="10554462" y="1874520"/>
            <a:ext cx="902970" cy="841248"/>
          </a:xfrm>
          <a:prstGeom prst="rect">
            <a:avLst/>
          </a:prstGeom>
          <a:noFill/>
          <a:ln/>
        </p:spPr>
        <p:txBody>
          <a:bodyPr wrap="square" lIns="0" tIns="0" rIns="0" bIns="0" rtlCol="0" anchor="ctr"/>
          <a:lstStyle/>
          <a:p>
            <a:pPr indent="0" marL="0">
              <a:buNone/>
            </a:pPr>
            <a:r>
              <a:rPr lang="en-US" sz="1150" b="1" dirty="0">
                <a:solidFill>
                  <a:srgbClr val="17303F"/>
                </a:solidFill>
                <a:latin typeface="Calibri" pitchFamily="34" charset="0"/>
                <a:ea typeface="Calibri" pitchFamily="34" charset="-122"/>
                <a:cs typeface="Calibri" pitchFamily="34" charset="-120"/>
              </a:rPr>
              <a:t>Printed or sent</a:t>
            </a:r>
            <a:endParaRPr lang="en-US" sz="1150" dirty="0"/>
          </a:p>
        </p:txBody>
      </p:sp>
      <p:sp>
        <p:nvSpPr>
          <p:cNvPr id="50" name="Text 44"/>
          <p:cNvSpPr/>
          <p:nvPr/>
        </p:nvSpPr>
        <p:spPr>
          <a:xfrm>
            <a:off x="4206240" y="2907792"/>
            <a:ext cx="5486400" cy="256032"/>
          </a:xfrm>
          <a:prstGeom prst="rect">
            <a:avLst/>
          </a:prstGeom>
          <a:noFill/>
          <a:ln/>
        </p:spPr>
        <p:txBody>
          <a:bodyPr wrap="square" lIns="0" tIns="0" rIns="0" bIns="0" rtlCol="0" anchor="ctr"/>
          <a:lstStyle/>
          <a:p>
            <a:pPr indent="0" marL="0">
              <a:buNone/>
            </a:pPr>
            <a:r>
              <a:rPr lang="en-US" sz="1050" b="1" spc="180" kern="0" dirty="0">
                <a:solidFill>
                  <a:srgbClr val="1C7293"/>
                </a:solidFill>
                <a:latin typeface="Calibri" pitchFamily="34" charset="0"/>
                <a:ea typeface="Calibri" pitchFamily="34" charset="-122"/>
                <a:cs typeface="Calibri" pitchFamily="34" charset="-120"/>
              </a:rPr>
              <a:t>THE RECEIPT ADAPTS TO THE PAYMENT STATE</a:t>
            </a:r>
            <a:endParaRPr lang="en-US" sz="1050" dirty="0"/>
          </a:p>
        </p:txBody>
      </p:sp>
      <p:sp>
        <p:nvSpPr>
          <p:cNvPr id="51" name="Shape 45"/>
          <p:cNvSpPr/>
          <p:nvPr/>
        </p:nvSpPr>
        <p:spPr>
          <a:xfrm>
            <a:off x="4206240" y="3246120"/>
            <a:ext cx="7360920" cy="603504"/>
          </a:xfrm>
          <a:prstGeom prst="roundRect">
            <a:avLst>
              <a:gd name="adj" fmla="val 10606"/>
            </a:avLst>
          </a:prstGeom>
          <a:solidFill>
            <a:srgbClr val="FFFFFF"/>
          </a:solidFill>
          <a:ln w="12700">
            <a:solidFill>
              <a:srgbClr val="E1EAF0"/>
            </a:solidFill>
            <a:prstDash val="solid"/>
          </a:ln>
        </p:spPr>
      </p:sp>
      <p:sp>
        <p:nvSpPr>
          <p:cNvPr id="52" name="Shape 46"/>
          <p:cNvSpPr/>
          <p:nvPr/>
        </p:nvSpPr>
        <p:spPr>
          <a:xfrm>
            <a:off x="4334256" y="3374136"/>
            <a:ext cx="1234440" cy="347472"/>
          </a:xfrm>
          <a:prstGeom prst="roundRect">
            <a:avLst>
              <a:gd name="adj" fmla="val 18421"/>
            </a:avLst>
          </a:prstGeom>
          <a:solidFill>
            <a:srgbClr val="02C39A"/>
          </a:solidFill>
          <a:ln w="12700">
            <a:solidFill>
              <a:srgbClr val="02C39A"/>
            </a:solidFill>
            <a:prstDash val="solid"/>
          </a:ln>
        </p:spPr>
      </p:sp>
      <p:sp>
        <p:nvSpPr>
          <p:cNvPr id="53" name="Text 47"/>
          <p:cNvSpPr/>
          <p:nvPr/>
        </p:nvSpPr>
        <p:spPr>
          <a:xfrm>
            <a:off x="4334256" y="3374136"/>
            <a:ext cx="1234440" cy="347472"/>
          </a:xfrm>
          <a:prstGeom prst="rect">
            <a:avLst/>
          </a:prstGeom>
          <a:noFill/>
          <a:ln/>
        </p:spPr>
        <p:txBody>
          <a:bodyPr wrap="square" lIns="0" tIns="0" rIns="0" bIns="0" rtlCol="0" anchor="ctr"/>
          <a:lstStyle/>
          <a:p>
            <a:pPr algn="ctr" indent="0" marL="0">
              <a:buNone/>
            </a:pPr>
            <a:r>
              <a:rPr lang="en-US" sz="950" b="1" dirty="0">
                <a:solidFill>
                  <a:srgbClr val="0A2540"/>
                </a:solidFill>
                <a:latin typeface="Calibri" pitchFamily="34" charset="0"/>
                <a:ea typeface="Calibri" pitchFamily="34" charset="-122"/>
                <a:cs typeface="Calibri" pitchFamily="34" charset="-120"/>
              </a:rPr>
              <a:t>PAID</a:t>
            </a:r>
            <a:endParaRPr lang="en-US" sz="950" dirty="0"/>
          </a:p>
        </p:txBody>
      </p:sp>
      <p:sp>
        <p:nvSpPr>
          <p:cNvPr id="54" name="Text 48"/>
          <p:cNvSpPr/>
          <p:nvPr/>
        </p:nvSpPr>
        <p:spPr>
          <a:xfrm>
            <a:off x="5724144" y="3246120"/>
            <a:ext cx="5696712" cy="603504"/>
          </a:xfrm>
          <a:prstGeom prst="rect">
            <a:avLst/>
          </a:prstGeom>
          <a:noFill/>
          <a:ln/>
        </p:spPr>
        <p:txBody>
          <a:bodyPr wrap="square" lIns="0" tIns="0" rIns="0" bIns="0" rtlCol="0" anchor="ctr"/>
          <a:lstStyle/>
          <a:p>
            <a:pPr indent="0" marL="0">
              <a:buNone/>
            </a:pPr>
            <a:r>
              <a:rPr lang="en-US" sz="1150" dirty="0">
                <a:solidFill>
                  <a:srgbClr val="5C7080"/>
                </a:solidFill>
                <a:latin typeface="Calibri" pitchFamily="34" charset="0"/>
                <a:ea typeface="Calibri" pitchFamily="34" charset="-122"/>
                <a:cs typeface="Calibri" pitchFamily="34" charset="-120"/>
              </a:rPr>
              <a:t>Cash settled at the door. The receipt prints on the spot and the sale closes in the POS.</a:t>
            </a:r>
            <a:endParaRPr lang="en-US" sz="1150" dirty="0"/>
          </a:p>
        </p:txBody>
      </p:sp>
      <p:sp>
        <p:nvSpPr>
          <p:cNvPr id="55" name="Shape 49"/>
          <p:cNvSpPr/>
          <p:nvPr/>
        </p:nvSpPr>
        <p:spPr>
          <a:xfrm>
            <a:off x="4206240" y="3959352"/>
            <a:ext cx="7360920" cy="603504"/>
          </a:xfrm>
          <a:prstGeom prst="roundRect">
            <a:avLst>
              <a:gd name="adj" fmla="val 10606"/>
            </a:avLst>
          </a:prstGeom>
          <a:solidFill>
            <a:srgbClr val="FFFFFF"/>
          </a:solidFill>
          <a:ln w="12700">
            <a:solidFill>
              <a:srgbClr val="E1EAF0"/>
            </a:solidFill>
            <a:prstDash val="solid"/>
          </a:ln>
        </p:spPr>
      </p:sp>
      <p:sp>
        <p:nvSpPr>
          <p:cNvPr id="56" name="Shape 50"/>
          <p:cNvSpPr/>
          <p:nvPr/>
        </p:nvSpPr>
        <p:spPr>
          <a:xfrm>
            <a:off x="4334256" y="4087368"/>
            <a:ext cx="1234440" cy="347472"/>
          </a:xfrm>
          <a:prstGeom prst="roundRect">
            <a:avLst>
              <a:gd name="adj" fmla="val 18421"/>
            </a:avLst>
          </a:prstGeom>
          <a:solidFill>
            <a:srgbClr val="065A82"/>
          </a:solidFill>
          <a:ln w="12700">
            <a:solidFill>
              <a:srgbClr val="065A82"/>
            </a:solidFill>
            <a:prstDash val="solid"/>
          </a:ln>
        </p:spPr>
      </p:sp>
      <p:sp>
        <p:nvSpPr>
          <p:cNvPr id="57" name="Text 51"/>
          <p:cNvSpPr/>
          <p:nvPr/>
        </p:nvSpPr>
        <p:spPr>
          <a:xfrm>
            <a:off x="4334256" y="4087368"/>
            <a:ext cx="123444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E-PAYMENT</a:t>
            </a:r>
            <a:endParaRPr lang="en-US" sz="950" dirty="0"/>
          </a:p>
        </p:txBody>
      </p:sp>
      <p:sp>
        <p:nvSpPr>
          <p:cNvPr id="58" name="Text 52"/>
          <p:cNvSpPr/>
          <p:nvPr/>
        </p:nvSpPr>
        <p:spPr>
          <a:xfrm>
            <a:off x="5724144" y="3959352"/>
            <a:ext cx="5696712" cy="603504"/>
          </a:xfrm>
          <a:prstGeom prst="rect">
            <a:avLst/>
          </a:prstGeom>
          <a:noFill/>
          <a:ln/>
        </p:spPr>
        <p:txBody>
          <a:bodyPr wrap="square" lIns="0" tIns="0" rIns="0" bIns="0" rtlCol="0" anchor="ctr"/>
          <a:lstStyle/>
          <a:p>
            <a:pPr indent="0" marL="0">
              <a:buNone/>
            </a:pPr>
            <a:r>
              <a:rPr lang="en-US" sz="1150" dirty="0">
                <a:solidFill>
                  <a:srgbClr val="5C7080"/>
                </a:solidFill>
                <a:latin typeface="Calibri" pitchFamily="34" charset="0"/>
                <a:ea typeface="Calibri" pitchFamily="34" charset="-122"/>
                <a:cs typeface="Calibri" pitchFamily="34" charset="-120"/>
              </a:rPr>
              <a:t>GCash or Maya reference is attached, and a digital copy is sent to the app and SMS.</a:t>
            </a:r>
            <a:endParaRPr lang="en-US" sz="1150" dirty="0"/>
          </a:p>
        </p:txBody>
      </p:sp>
      <p:sp>
        <p:nvSpPr>
          <p:cNvPr id="59" name="Shape 53"/>
          <p:cNvSpPr/>
          <p:nvPr/>
        </p:nvSpPr>
        <p:spPr>
          <a:xfrm>
            <a:off x="4206240" y="4672584"/>
            <a:ext cx="7360920" cy="603504"/>
          </a:xfrm>
          <a:prstGeom prst="roundRect">
            <a:avLst>
              <a:gd name="adj" fmla="val 10606"/>
            </a:avLst>
          </a:prstGeom>
          <a:solidFill>
            <a:srgbClr val="FFFFFF"/>
          </a:solidFill>
          <a:ln w="12700">
            <a:solidFill>
              <a:srgbClr val="E1EAF0"/>
            </a:solidFill>
            <a:prstDash val="solid"/>
          </a:ln>
        </p:spPr>
      </p:sp>
      <p:sp>
        <p:nvSpPr>
          <p:cNvPr id="60" name="Shape 54"/>
          <p:cNvSpPr/>
          <p:nvPr/>
        </p:nvSpPr>
        <p:spPr>
          <a:xfrm>
            <a:off x="4334256" y="4800600"/>
            <a:ext cx="1234440" cy="347472"/>
          </a:xfrm>
          <a:prstGeom prst="roundRect">
            <a:avLst>
              <a:gd name="adj" fmla="val 18421"/>
            </a:avLst>
          </a:prstGeom>
          <a:solidFill>
            <a:srgbClr val="E8A33D"/>
          </a:solidFill>
          <a:ln w="12700">
            <a:solidFill>
              <a:srgbClr val="E8A33D"/>
            </a:solidFill>
            <a:prstDash val="solid"/>
          </a:ln>
        </p:spPr>
      </p:sp>
      <p:sp>
        <p:nvSpPr>
          <p:cNvPr id="61" name="Text 55"/>
          <p:cNvSpPr/>
          <p:nvPr/>
        </p:nvSpPr>
        <p:spPr>
          <a:xfrm>
            <a:off x="4334256" y="4800600"/>
            <a:ext cx="1234440" cy="347472"/>
          </a:xfrm>
          <a:prstGeom prst="rect">
            <a:avLst/>
          </a:prstGeom>
          <a:noFill/>
          <a:ln/>
        </p:spPr>
        <p:txBody>
          <a:bodyPr wrap="square" lIns="0" tIns="0" rIns="0" bIns="0" rtlCol="0" anchor="ctr"/>
          <a:lstStyle/>
          <a:p>
            <a:pPr algn="ctr" indent="0" marL="0">
              <a:buNone/>
            </a:pPr>
            <a:r>
              <a:rPr lang="en-US" sz="950" b="1" dirty="0">
                <a:solidFill>
                  <a:srgbClr val="0A2540"/>
                </a:solidFill>
                <a:latin typeface="Calibri" pitchFamily="34" charset="0"/>
                <a:ea typeface="Calibri" pitchFamily="34" charset="-122"/>
                <a:cs typeface="Calibri" pitchFamily="34" charset="-120"/>
              </a:rPr>
              <a:t>PARTIAL</a:t>
            </a:r>
            <a:endParaRPr lang="en-US" sz="950" dirty="0"/>
          </a:p>
        </p:txBody>
      </p:sp>
      <p:sp>
        <p:nvSpPr>
          <p:cNvPr id="62" name="Text 56"/>
          <p:cNvSpPr/>
          <p:nvPr/>
        </p:nvSpPr>
        <p:spPr>
          <a:xfrm>
            <a:off x="5724144" y="4672584"/>
            <a:ext cx="5696712" cy="603504"/>
          </a:xfrm>
          <a:prstGeom prst="rect">
            <a:avLst/>
          </a:prstGeom>
          <a:noFill/>
          <a:ln/>
        </p:spPr>
        <p:txBody>
          <a:bodyPr wrap="square" lIns="0" tIns="0" rIns="0" bIns="0" rtlCol="0" anchor="ctr"/>
          <a:lstStyle/>
          <a:p>
            <a:pPr indent="0" marL="0">
              <a:buNone/>
            </a:pPr>
            <a:r>
              <a:rPr lang="en-US" sz="1150" dirty="0">
                <a:solidFill>
                  <a:srgbClr val="5C7080"/>
                </a:solidFill>
                <a:latin typeface="Calibri" pitchFamily="34" charset="0"/>
                <a:ea typeface="Calibri" pitchFamily="34" charset="-122"/>
                <a:cs typeface="Calibri" pitchFamily="34" charset="-120"/>
              </a:rPr>
              <a:t>Amount paid and balance both appear; the balance carries to the customer's account.</a:t>
            </a:r>
            <a:endParaRPr lang="en-US" sz="1150" dirty="0"/>
          </a:p>
        </p:txBody>
      </p:sp>
      <p:sp>
        <p:nvSpPr>
          <p:cNvPr id="63" name="Shape 57"/>
          <p:cNvSpPr/>
          <p:nvPr/>
        </p:nvSpPr>
        <p:spPr>
          <a:xfrm>
            <a:off x="4206240" y="5385816"/>
            <a:ext cx="7360920" cy="603504"/>
          </a:xfrm>
          <a:prstGeom prst="roundRect">
            <a:avLst>
              <a:gd name="adj" fmla="val 10606"/>
            </a:avLst>
          </a:prstGeom>
          <a:solidFill>
            <a:srgbClr val="FFFFFF"/>
          </a:solidFill>
          <a:ln w="12700">
            <a:solidFill>
              <a:srgbClr val="E1EAF0"/>
            </a:solidFill>
            <a:prstDash val="solid"/>
          </a:ln>
        </p:spPr>
      </p:sp>
      <p:sp>
        <p:nvSpPr>
          <p:cNvPr id="64" name="Shape 58"/>
          <p:cNvSpPr/>
          <p:nvPr/>
        </p:nvSpPr>
        <p:spPr>
          <a:xfrm>
            <a:off x="4334256" y="5513832"/>
            <a:ext cx="1234440" cy="347472"/>
          </a:xfrm>
          <a:prstGeom prst="roundRect">
            <a:avLst>
              <a:gd name="adj" fmla="val 18421"/>
            </a:avLst>
          </a:prstGeom>
          <a:solidFill>
            <a:srgbClr val="C9453D"/>
          </a:solidFill>
          <a:ln w="12700">
            <a:solidFill>
              <a:srgbClr val="C9453D"/>
            </a:solidFill>
            <a:prstDash val="solid"/>
          </a:ln>
        </p:spPr>
      </p:sp>
      <p:sp>
        <p:nvSpPr>
          <p:cNvPr id="65" name="Text 59"/>
          <p:cNvSpPr/>
          <p:nvPr/>
        </p:nvSpPr>
        <p:spPr>
          <a:xfrm>
            <a:off x="4334256" y="5513832"/>
            <a:ext cx="1234440"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UNPAID</a:t>
            </a:r>
            <a:endParaRPr lang="en-US" sz="950" dirty="0"/>
          </a:p>
        </p:txBody>
      </p:sp>
      <p:sp>
        <p:nvSpPr>
          <p:cNvPr id="66" name="Text 60"/>
          <p:cNvSpPr/>
          <p:nvPr/>
        </p:nvSpPr>
        <p:spPr>
          <a:xfrm>
            <a:off x="5724144" y="5385816"/>
            <a:ext cx="5696712" cy="603504"/>
          </a:xfrm>
          <a:prstGeom prst="rect">
            <a:avLst/>
          </a:prstGeom>
          <a:noFill/>
          <a:ln/>
        </p:spPr>
        <p:txBody>
          <a:bodyPr wrap="square" lIns="0" tIns="0" rIns="0" bIns="0" rtlCol="0" anchor="ctr"/>
          <a:lstStyle/>
          <a:p>
            <a:pPr indent="0" marL="0">
              <a:buNone/>
            </a:pPr>
            <a:r>
              <a:rPr lang="en-US" sz="1150" dirty="0">
                <a:solidFill>
                  <a:srgbClr val="5C7080"/>
                </a:solidFill>
                <a:latin typeface="Calibri" pitchFamily="34" charset="0"/>
                <a:ea typeface="Calibri" pitchFamily="34" charset="-122"/>
                <a:cs typeface="Calibri" pitchFamily="34" charset="-120"/>
              </a:rPr>
              <a:t>Issued as a charge slip with a due date and flagged on the next scheduled delivery.</a:t>
            </a:r>
            <a:endParaRPr lang="en-US" sz="1150" dirty="0"/>
          </a:p>
        </p:txBody>
      </p:sp>
      <p:sp>
        <p:nvSpPr>
          <p:cNvPr id="67" name="Text 61"/>
          <p:cNvSpPr/>
          <p:nvPr/>
        </p:nvSpPr>
        <p:spPr>
          <a:xfrm>
            <a:off x="4206240" y="6144768"/>
            <a:ext cx="7360920" cy="256032"/>
          </a:xfrm>
          <a:prstGeom prst="rect">
            <a:avLst/>
          </a:prstGeom>
          <a:noFill/>
          <a:ln/>
        </p:spPr>
        <p:txBody>
          <a:bodyPr wrap="square" lIns="0" tIns="0" rIns="0" bIns="0" rtlCol="0" anchor="ctr"/>
          <a:lstStyle/>
          <a:p>
            <a:pPr indent="0" marL="0">
              <a:buNone/>
            </a:pPr>
            <a:r>
              <a:rPr lang="en-US" sz="1050" i="1" dirty="0">
                <a:solidFill>
                  <a:srgbClr val="1C7293"/>
                </a:solidFill>
                <a:latin typeface="Calibri" pitchFamily="34" charset="0"/>
                <a:ea typeface="Calibri" pitchFamily="34" charset="-122"/>
                <a:cs typeface="Calibri" pitchFamily="34" charset="-120"/>
              </a:rPr>
              <a:t>Prints to a Bluetooth thermal printer, or sends the same receipt by SMS, email or in-app.</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FEATURE 06</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Invoice on Count, Receipt on Delivery</a:t>
            </a:r>
            <a:endParaRPr lang="en-US" sz="3400" dirty="0"/>
          </a:p>
        </p:txBody>
      </p:sp>
      <p:sp>
        <p:nvSpPr>
          <p:cNvPr id="4" name="Text 2"/>
          <p:cNvSpPr/>
          <p:nvPr/>
        </p:nvSpPr>
        <p:spPr>
          <a:xfrm>
            <a:off x="640080" y="1371600"/>
            <a:ext cx="10515600" cy="320040"/>
          </a:xfrm>
          <a:prstGeom prst="rect">
            <a:avLst/>
          </a:prstGeom>
          <a:noFill/>
          <a:ln/>
        </p:spPr>
        <p:txBody>
          <a:bodyPr wrap="square" lIns="0" tIns="0" rIns="0" bIns="0" rtlCol="0" anchor="ctr"/>
          <a:lstStyle/>
          <a:p>
            <a:pPr indent="0" marL="0">
              <a:buNone/>
            </a:pPr>
            <a:r>
              <a:rPr lang="en-US" sz="1350" dirty="0">
                <a:solidFill>
                  <a:srgbClr val="5C7080"/>
                </a:solidFill>
                <a:latin typeface="Calibri" pitchFamily="34" charset="0"/>
                <a:ea typeface="Calibri" pitchFamily="34" charset="-122"/>
                <a:cs typeface="Calibri" pitchFamily="34" charset="-120"/>
              </a:rPr>
              <a:t>The photo count produces the invoice before the rider leaves; the delivery produces the receipt. Same count, two documents.</a:t>
            </a:r>
            <a:endParaRPr lang="en-US" sz="1350" dirty="0"/>
          </a:p>
        </p:txBody>
      </p:sp>
      <p:sp>
        <p:nvSpPr>
          <p:cNvPr id="5" name="Shape 3"/>
          <p:cNvSpPr/>
          <p:nvPr/>
        </p:nvSpPr>
        <p:spPr>
          <a:xfrm>
            <a:off x="640080" y="1828800"/>
            <a:ext cx="2569464" cy="713232"/>
          </a:xfrm>
          <a:prstGeom prst="roundRect">
            <a:avLst>
              <a:gd name="adj" fmla="val 10256"/>
            </a:avLst>
          </a:prstGeom>
          <a:solidFill>
            <a:srgbClr val="F1F7FA"/>
          </a:solidFill>
          <a:ln w="12700">
            <a:solidFill>
              <a:srgbClr val="DCE7EE"/>
            </a:solidFill>
            <a:prstDash val="solid"/>
          </a:ln>
        </p:spPr>
      </p:sp>
      <p:sp>
        <p:nvSpPr>
          <p:cNvPr id="6" name="Shape 4"/>
          <p:cNvSpPr/>
          <p:nvPr/>
        </p:nvSpPr>
        <p:spPr>
          <a:xfrm>
            <a:off x="804672" y="1984248"/>
            <a:ext cx="402336" cy="402336"/>
          </a:xfrm>
          <a:prstGeom prst="ellipse">
            <a:avLst/>
          </a:prstGeom>
          <a:solidFill>
            <a:srgbClr val="065A82"/>
          </a:solidFill>
          <a:ln w="12700">
            <a:solidFill>
              <a:srgbClr val="065A82"/>
            </a:solidFill>
            <a:prstDash val="solid"/>
          </a:ln>
        </p:spPr>
      </p:sp>
      <p:pic>
        <p:nvPicPr>
          <p:cNvPr id="7" name="Image 0" descr="preencoded.png">    </p:cNvPr>
          <p:cNvPicPr>
            <a:picLocks noChangeAspect="1"/>
          </p:cNvPicPr>
          <p:nvPr/>
        </p:nvPicPr>
        <p:blipFill>
          <a:blip r:embed="rId1"/>
          <a:stretch>
            <a:fillRect/>
          </a:stretch>
        </p:blipFill>
        <p:spPr>
          <a:xfrm>
            <a:off x="909279" y="2088855"/>
            <a:ext cx="193121" cy="193121"/>
          </a:xfrm>
          <a:prstGeom prst="rect">
            <a:avLst/>
          </a:prstGeom>
        </p:spPr>
      </p:pic>
      <p:sp>
        <p:nvSpPr>
          <p:cNvPr id="8" name="Text 5"/>
          <p:cNvSpPr/>
          <p:nvPr/>
        </p:nvSpPr>
        <p:spPr>
          <a:xfrm>
            <a:off x="1316736" y="1828800"/>
            <a:ext cx="1783080" cy="713232"/>
          </a:xfrm>
          <a:prstGeom prst="rect">
            <a:avLst/>
          </a:prstGeom>
          <a:noFill/>
          <a:ln/>
        </p:spPr>
        <p:txBody>
          <a:bodyPr wrap="square" lIns="0" tIns="0" rIns="0" bIns="0" rtlCol="0" anchor="ctr"/>
          <a:lstStyle/>
          <a:p>
            <a:pPr indent="0" marL="0">
              <a:buNone/>
            </a:pPr>
            <a:r>
              <a:rPr lang="en-US" sz="1200" b="1" dirty="0">
                <a:solidFill>
                  <a:srgbClr val="17303F"/>
                </a:solidFill>
                <a:latin typeface="Calibri" pitchFamily="34" charset="0"/>
                <a:ea typeface="Calibri" pitchFamily="34" charset="-122"/>
                <a:cs typeface="Calibri" pitchFamily="34" charset="-120"/>
              </a:rPr>
              <a:t>Photo taken</a:t>
            </a:r>
            <a:endParaRPr lang="en-US" sz="1200" dirty="0"/>
          </a:p>
        </p:txBody>
      </p:sp>
      <p:sp>
        <p:nvSpPr>
          <p:cNvPr id="9" name="Shape 6"/>
          <p:cNvSpPr/>
          <p:nvPr/>
        </p:nvSpPr>
        <p:spPr>
          <a:xfrm>
            <a:off x="3250692" y="2112264"/>
            <a:ext cx="118872" cy="146304"/>
          </a:xfrm>
          <a:prstGeom prst="rightArrow">
            <a:avLst/>
          </a:prstGeom>
          <a:solidFill>
            <a:srgbClr val="AFC2CE"/>
          </a:solidFill>
          <a:ln w="12700">
            <a:solidFill>
              <a:srgbClr val="AFC2CE"/>
            </a:solidFill>
            <a:prstDash val="solid"/>
          </a:ln>
        </p:spPr>
      </p:sp>
      <p:sp>
        <p:nvSpPr>
          <p:cNvPr id="10" name="Shape 7"/>
          <p:cNvSpPr/>
          <p:nvPr/>
        </p:nvSpPr>
        <p:spPr>
          <a:xfrm>
            <a:off x="3410712" y="1828800"/>
            <a:ext cx="2569464" cy="713232"/>
          </a:xfrm>
          <a:prstGeom prst="roundRect">
            <a:avLst>
              <a:gd name="adj" fmla="val 10256"/>
            </a:avLst>
          </a:prstGeom>
          <a:solidFill>
            <a:srgbClr val="065A82"/>
          </a:solidFill>
          <a:ln w="12700">
            <a:solidFill>
              <a:srgbClr val="065A82"/>
            </a:solidFill>
            <a:prstDash val="solid"/>
          </a:ln>
        </p:spPr>
      </p:sp>
      <p:sp>
        <p:nvSpPr>
          <p:cNvPr id="11" name="Shape 8"/>
          <p:cNvSpPr/>
          <p:nvPr/>
        </p:nvSpPr>
        <p:spPr>
          <a:xfrm>
            <a:off x="3575304" y="1984248"/>
            <a:ext cx="402336" cy="402336"/>
          </a:xfrm>
          <a:prstGeom prst="ellipse">
            <a:avLst/>
          </a:prstGeom>
          <a:solidFill>
            <a:srgbClr val="02C39A"/>
          </a:solidFill>
          <a:ln w="12700">
            <a:solidFill>
              <a:srgbClr val="02C39A"/>
            </a:solidFill>
            <a:prstDash val="solid"/>
          </a:ln>
        </p:spPr>
      </p:sp>
      <p:pic>
        <p:nvPicPr>
          <p:cNvPr id="12" name="Image 1" descr="preencoded.png">    </p:cNvPr>
          <p:cNvPicPr>
            <a:picLocks noChangeAspect="1"/>
          </p:cNvPicPr>
          <p:nvPr/>
        </p:nvPicPr>
        <p:blipFill>
          <a:blip r:embed="rId2"/>
          <a:stretch>
            <a:fillRect/>
          </a:stretch>
        </p:blipFill>
        <p:spPr>
          <a:xfrm>
            <a:off x="3679911" y="2088855"/>
            <a:ext cx="193121" cy="193121"/>
          </a:xfrm>
          <a:prstGeom prst="rect">
            <a:avLst/>
          </a:prstGeom>
        </p:spPr>
      </p:pic>
      <p:sp>
        <p:nvSpPr>
          <p:cNvPr id="13" name="Text 9"/>
          <p:cNvSpPr/>
          <p:nvPr/>
        </p:nvSpPr>
        <p:spPr>
          <a:xfrm>
            <a:off x="4087368" y="1828800"/>
            <a:ext cx="1783080"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Invoice generated</a:t>
            </a:r>
            <a:endParaRPr lang="en-US" sz="1200" dirty="0"/>
          </a:p>
        </p:txBody>
      </p:sp>
      <p:sp>
        <p:nvSpPr>
          <p:cNvPr id="14" name="Shape 10"/>
          <p:cNvSpPr/>
          <p:nvPr/>
        </p:nvSpPr>
        <p:spPr>
          <a:xfrm>
            <a:off x="6021324" y="2112264"/>
            <a:ext cx="118872" cy="146304"/>
          </a:xfrm>
          <a:prstGeom prst="rightArrow">
            <a:avLst/>
          </a:prstGeom>
          <a:solidFill>
            <a:srgbClr val="AFC2CE"/>
          </a:solidFill>
          <a:ln w="12700">
            <a:solidFill>
              <a:srgbClr val="AFC2CE"/>
            </a:solidFill>
            <a:prstDash val="solid"/>
          </a:ln>
        </p:spPr>
      </p:sp>
      <p:sp>
        <p:nvSpPr>
          <p:cNvPr id="15" name="Shape 11"/>
          <p:cNvSpPr/>
          <p:nvPr/>
        </p:nvSpPr>
        <p:spPr>
          <a:xfrm>
            <a:off x="6181344" y="1828800"/>
            <a:ext cx="2569464" cy="713232"/>
          </a:xfrm>
          <a:prstGeom prst="roundRect">
            <a:avLst>
              <a:gd name="adj" fmla="val 10256"/>
            </a:avLst>
          </a:prstGeom>
          <a:solidFill>
            <a:srgbClr val="F1F7FA"/>
          </a:solidFill>
          <a:ln w="12700">
            <a:solidFill>
              <a:srgbClr val="DCE7EE"/>
            </a:solidFill>
            <a:prstDash val="solid"/>
          </a:ln>
        </p:spPr>
      </p:sp>
      <p:sp>
        <p:nvSpPr>
          <p:cNvPr id="16" name="Shape 12"/>
          <p:cNvSpPr/>
          <p:nvPr/>
        </p:nvSpPr>
        <p:spPr>
          <a:xfrm>
            <a:off x="6345936" y="1984248"/>
            <a:ext cx="402336" cy="402336"/>
          </a:xfrm>
          <a:prstGeom prst="ellipse">
            <a:avLst/>
          </a:prstGeom>
          <a:solidFill>
            <a:srgbClr val="065A82"/>
          </a:solidFill>
          <a:ln w="12700">
            <a:solidFill>
              <a:srgbClr val="065A82"/>
            </a:solidFill>
            <a:prstDash val="solid"/>
          </a:ln>
        </p:spPr>
      </p:sp>
      <p:pic>
        <p:nvPicPr>
          <p:cNvPr id="17" name="Image 2" descr="preencoded.png">    </p:cNvPr>
          <p:cNvPicPr>
            <a:picLocks noChangeAspect="1"/>
          </p:cNvPicPr>
          <p:nvPr/>
        </p:nvPicPr>
        <p:blipFill>
          <a:blip r:embed="rId3"/>
          <a:stretch>
            <a:fillRect/>
          </a:stretch>
        </p:blipFill>
        <p:spPr>
          <a:xfrm>
            <a:off x="6450543" y="2088855"/>
            <a:ext cx="193121" cy="193121"/>
          </a:xfrm>
          <a:prstGeom prst="rect">
            <a:avLst/>
          </a:prstGeom>
        </p:spPr>
      </p:pic>
      <p:sp>
        <p:nvSpPr>
          <p:cNvPr id="18" name="Text 13"/>
          <p:cNvSpPr/>
          <p:nvPr/>
        </p:nvSpPr>
        <p:spPr>
          <a:xfrm>
            <a:off x="6858000" y="1828800"/>
            <a:ext cx="1783080" cy="713232"/>
          </a:xfrm>
          <a:prstGeom prst="rect">
            <a:avLst/>
          </a:prstGeom>
          <a:noFill/>
          <a:ln/>
        </p:spPr>
        <p:txBody>
          <a:bodyPr wrap="square" lIns="0" tIns="0" rIns="0" bIns="0" rtlCol="0" anchor="ctr"/>
          <a:lstStyle/>
          <a:p>
            <a:pPr indent="0" marL="0">
              <a:buNone/>
            </a:pPr>
            <a:r>
              <a:rPr lang="en-US" sz="1200" b="1" dirty="0">
                <a:solidFill>
                  <a:srgbClr val="17303F"/>
                </a:solidFill>
                <a:latin typeface="Calibri" pitchFamily="34" charset="0"/>
                <a:ea typeface="Calibri" pitchFamily="34" charset="-122"/>
                <a:cs typeface="Calibri" pitchFamily="34" charset="-120"/>
              </a:rPr>
              <a:t>Out for delivery</a:t>
            </a:r>
            <a:endParaRPr lang="en-US" sz="1200" dirty="0"/>
          </a:p>
        </p:txBody>
      </p:sp>
      <p:sp>
        <p:nvSpPr>
          <p:cNvPr id="19" name="Shape 14"/>
          <p:cNvSpPr/>
          <p:nvPr/>
        </p:nvSpPr>
        <p:spPr>
          <a:xfrm>
            <a:off x="8791956" y="2112264"/>
            <a:ext cx="118872" cy="146304"/>
          </a:xfrm>
          <a:prstGeom prst="rightArrow">
            <a:avLst/>
          </a:prstGeom>
          <a:solidFill>
            <a:srgbClr val="AFC2CE"/>
          </a:solidFill>
          <a:ln w="12700">
            <a:solidFill>
              <a:srgbClr val="AFC2CE"/>
            </a:solidFill>
            <a:prstDash val="solid"/>
          </a:ln>
        </p:spPr>
      </p:sp>
      <p:sp>
        <p:nvSpPr>
          <p:cNvPr id="20" name="Shape 15"/>
          <p:cNvSpPr/>
          <p:nvPr/>
        </p:nvSpPr>
        <p:spPr>
          <a:xfrm>
            <a:off x="8951976" y="1828800"/>
            <a:ext cx="2569464" cy="713232"/>
          </a:xfrm>
          <a:prstGeom prst="roundRect">
            <a:avLst>
              <a:gd name="adj" fmla="val 10256"/>
            </a:avLst>
          </a:prstGeom>
          <a:solidFill>
            <a:srgbClr val="065A82"/>
          </a:solidFill>
          <a:ln w="12700">
            <a:solidFill>
              <a:srgbClr val="065A82"/>
            </a:solidFill>
            <a:prstDash val="solid"/>
          </a:ln>
        </p:spPr>
      </p:sp>
      <p:sp>
        <p:nvSpPr>
          <p:cNvPr id="21" name="Shape 16"/>
          <p:cNvSpPr/>
          <p:nvPr/>
        </p:nvSpPr>
        <p:spPr>
          <a:xfrm>
            <a:off x="9116568" y="1984248"/>
            <a:ext cx="402336" cy="402336"/>
          </a:xfrm>
          <a:prstGeom prst="ellipse">
            <a:avLst/>
          </a:prstGeom>
          <a:solidFill>
            <a:srgbClr val="02C39A"/>
          </a:solidFill>
          <a:ln w="12700">
            <a:solidFill>
              <a:srgbClr val="02C39A"/>
            </a:solidFill>
            <a:prstDash val="solid"/>
          </a:ln>
        </p:spPr>
      </p:sp>
      <p:pic>
        <p:nvPicPr>
          <p:cNvPr id="22" name="Image 3" descr="preencoded.png">    </p:cNvPr>
          <p:cNvPicPr>
            <a:picLocks noChangeAspect="1"/>
          </p:cNvPicPr>
          <p:nvPr/>
        </p:nvPicPr>
        <p:blipFill>
          <a:blip r:embed="rId4"/>
          <a:stretch>
            <a:fillRect/>
          </a:stretch>
        </p:blipFill>
        <p:spPr>
          <a:xfrm>
            <a:off x="9221175" y="2088855"/>
            <a:ext cx="193121" cy="193121"/>
          </a:xfrm>
          <a:prstGeom prst="rect">
            <a:avLst/>
          </a:prstGeom>
        </p:spPr>
      </p:pic>
      <p:sp>
        <p:nvSpPr>
          <p:cNvPr id="23" name="Text 17"/>
          <p:cNvSpPr/>
          <p:nvPr/>
        </p:nvSpPr>
        <p:spPr>
          <a:xfrm>
            <a:off x="9628632" y="1828800"/>
            <a:ext cx="1783080"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Receipt issued</a:t>
            </a:r>
            <a:endParaRPr lang="en-US" sz="1200" dirty="0"/>
          </a:p>
        </p:txBody>
      </p:sp>
      <p:sp>
        <p:nvSpPr>
          <p:cNvPr id="24" name="Shape 18"/>
          <p:cNvSpPr/>
          <p:nvPr/>
        </p:nvSpPr>
        <p:spPr>
          <a:xfrm>
            <a:off x="640080" y="2834640"/>
            <a:ext cx="3291840" cy="3063240"/>
          </a:xfrm>
          <a:prstGeom prst="roundRect">
            <a:avLst>
              <a:gd name="adj" fmla="val 2388"/>
            </a:avLst>
          </a:prstGeom>
          <a:solidFill>
            <a:srgbClr val="FFFFFF"/>
          </a:solidFill>
          <a:ln w="12700">
            <a:solidFill>
              <a:srgbClr val="DCE7EE"/>
            </a:solidFill>
            <a:prstDash val="solid"/>
          </a:ln>
          <a:effectLst>
            <a:outerShdw sx="100000" sy="100000" kx="0" ky="0" algn="bl" rotWithShape="0" blurRad="127000" dist="25400" dir="5400000">
              <a:srgbClr val="9FB4C2">
                <a:alpha val="35000"/>
              </a:srgbClr>
            </a:outerShdw>
          </a:effectLst>
        </p:spPr>
      </p:sp>
      <p:sp>
        <p:nvSpPr>
          <p:cNvPr id="25" name="Shape 19"/>
          <p:cNvSpPr/>
          <p:nvPr/>
        </p:nvSpPr>
        <p:spPr>
          <a:xfrm>
            <a:off x="640080" y="2834640"/>
            <a:ext cx="3291840" cy="530352"/>
          </a:xfrm>
          <a:prstGeom prst="roundRect">
            <a:avLst>
              <a:gd name="adj" fmla="val 13793"/>
            </a:avLst>
          </a:prstGeom>
          <a:solidFill>
            <a:srgbClr val="065A82"/>
          </a:solidFill>
          <a:ln w="12700">
            <a:solidFill>
              <a:srgbClr val="065A82"/>
            </a:solidFill>
            <a:prstDash val="solid"/>
          </a:ln>
        </p:spPr>
      </p:sp>
      <p:sp>
        <p:nvSpPr>
          <p:cNvPr id="26" name="Text 20"/>
          <p:cNvSpPr/>
          <p:nvPr/>
        </p:nvSpPr>
        <p:spPr>
          <a:xfrm>
            <a:off x="841248" y="2907792"/>
            <a:ext cx="1920240" cy="3840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INVOICE</a:t>
            </a:r>
            <a:endParaRPr lang="en-US" sz="1250" dirty="0"/>
          </a:p>
        </p:txBody>
      </p:sp>
      <p:sp>
        <p:nvSpPr>
          <p:cNvPr id="27" name="Text 21"/>
          <p:cNvSpPr/>
          <p:nvPr/>
        </p:nvSpPr>
        <p:spPr>
          <a:xfrm>
            <a:off x="2651760" y="2907792"/>
            <a:ext cx="1097280" cy="384048"/>
          </a:xfrm>
          <a:prstGeom prst="rect">
            <a:avLst/>
          </a:prstGeom>
          <a:noFill/>
          <a:ln/>
        </p:spPr>
        <p:txBody>
          <a:bodyPr wrap="square" lIns="0" tIns="0" rIns="0" bIns="0" rtlCol="0" anchor="ctr"/>
          <a:lstStyle/>
          <a:p>
            <a:pPr algn="r" indent="0" marL="0">
              <a:buNone/>
            </a:pPr>
            <a:r>
              <a:rPr lang="en-US" sz="1050" dirty="0">
                <a:solidFill>
                  <a:srgbClr val="8ECAE6"/>
                </a:solidFill>
                <a:latin typeface="Calibri" pitchFamily="34" charset="0"/>
                <a:ea typeface="Calibri" pitchFamily="34" charset="-122"/>
                <a:cs typeface="Calibri" pitchFamily="34" charset="-120"/>
              </a:rPr>
              <a:t>#INV-1042</a:t>
            </a:r>
            <a:endParaRPr lang="en-US" sz="1050" dirty="0"/>
          </a:p>
        </p:txBody>
      </p:sp>
      <p:sp>
        <p:nvSpPr>
          <p:cNvPr id="28" name="Text 22"/>
          <p:cNvSpPr/>
          <p:nvPr/>
        </p:nvSpPr>
        <p:spPr>
          <a:xfrm>
            <a:off x="841248" y="3456432"/>
            <a:ext cx="2834640" cy="201168"/>
          </a:xfrm>
          <a:prstGeom prst="rect">
            <a:avLst/>
          </a:prstGeom>
          <a:noFill/>
          <a:ln/>
        </p:spPr>
        <p:txBody>
          <a:bodyPr wrap="square" lIns="0" tIns="0" rIns="0" bIns="0" rtlCol="0" anchor="ctr"/>
          <a:lstStyle/>
          <a:p>
            <a:pPr indent="0" marL="0">
              <a:buNone/>
            </a:pPr>
            <a:r>
              <a:rPr lang="en-US" sz="950" dirty="0">
                <a:solidFill>
                  <a:srgbClr val="5C7080"/>
                </a:solidFill>
                <a:latin typeface="Calibri" pitchFamily="34" charset="0"/>
                <a:ea typeface="Calibri" pitchFamily="34" charset="-122"/>
                <a:cs typeface="Calibri" pitchFamily="34" charset="-120"/>
              </a:rPr>
              <a:t>Issued 9:42 AM  ·  before dispatch</a:t>
            </a:r>
            <a:endParaRPr lang="en-US" sz="950" dirty="0"/>
          </a:p>
        </p:txBody>
      </p:sp>
      <p:sp>
        <p:nvSpPr>
          <p:cNvPr id="29" name="Shape 23"/>
          <p:cNvSpPr/>
          <p:nvPr/>
        </p:nvSpPr>
        <p:spPr>
          <a:xfrm>
            <a:off x="841248" y="3730752"/>
            <a:ext cx="2286000" cy="292608"/>
          </a:xfrm>
          <a:prstGeom prst="roundRect">
            <a:avLst>
              <a:gd name="adj" fmla="val 18750"/>
            </a:avLst>
          </a:prstGeom>
          <a:solidFill>
            <a:srgbClr val="E4F1F7"/>
          </a:solidFill>
          <a:ln w="12700">
            <a:solidFill>
              <a:srgbClr val="E4F1F7"/>
            </a:solidFill>
            <a:prstDash val="solid"/>
          </a:ln>
        </p:spPr>
      </p:sp>
      <p:sp>
        <p:nvSpPr>
          <p:cNvPr id="30" name="Text 24"/>
          <p:cNvSpPr/>
          <p:nvPr/>
        </p:nvSpPr>
        <p:spPr>
          <a:xfrm>
            <a:off x="841248" y="3730752"/>
            <a:ext cx="2286000" cy="292608"/>
          </a:xfrm>
          <a:prstGeom prst="rect">
            <a:avLst/>
          </a:prstGeom>
          <a:noFill/>
          <a:ln/>
        </p:spPr>
        <p:txBody>
          <a:bodyPr wrap="square" lIns="0" tIns="0" rIns="0" bIns="0" rtlCol="0" anchor="ctr"/>
          <a:lstStyle/>
          <a:p>
            <a:pPr algn="ctr" indent="0" marL="0">
              <a:buNone/>
            </a:pPr>
            <a:r>
              <a:rPr lang="en-US" sz="900" b="1" dirty="0">
                <a:solidFill>
                  <a:srgbClr val="065A82"/>
                </a:solidFill>
                <a:latin typeface="Calibri" pitchFamily="34" charset="0"/>
                <a:ea typeface="Calibri" pitchFamily="34" charset="-122"/>
                <a:cs typeface="Calibri" pitchFamily="34" charset="-120"/>
              </a:rPr>
              <a:t>GENERATED FROM PHOTO COUNT</a:t>
            </a:r>
            <a:endParaRPr lang="en-US" sz="900" dirty="0"/>
          </a:p>
        </p:txBody>
      </p:sp>
      <p:sp>
        <p:nvSpPr>
          <p:cNvPr id="31" name="Text 25"/>
          <p:cNvSpPr/>
          <p:nvPr/>
        </p:nvSpPr>
        <p:spPr>
          <a:xfrm>
            <a:off x="841248" y="4187952"/>
            <a:ext cx="1920240" cy="21945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8 containers refilled</a:t>
            </a:r>
            <a:endParaRPr lang="en-US" sz="1050" dirty="0"/>
          </a:p>
        </p:txBody>
      </p:sp>
      <p:sp>
        <p:nvSpPr>
          <p:cNvPr id="32" name="Text 26"/>
          <p:cNvSpPr/>
          <p:nvPr/>
        </p:nvSpPr>
        <p:spPr>
          <a:xfrm>
            <a:off x="2606040" y="4187952"/>
            <a:ext cx="1124712" cy="219456"/>
          </a:xfrm>
          <a:prstGeom prst="rect">
            <a:avLst/>
          </a:prstGeom>
          <a:noFill/>
          <a:ln/>
        </p:spPr>
        <p:txBody>
          <a:bodyPr wrap="square" lIns="0" tIns="0" rIns="0" bIns="0" rtlCol="0" anchor="ctr"/>
          <a:lstStyle/>
          <a:p>
            <a:pPr algn="r" indent="0" marL="0">
              <a:buNone/>
            </a:pPr>
            <a:r>
              <a:rPr lang="en-US" sz="1050" dirty="0">
                <a:solidFill>
                  <a:srgbClr val="17303F"/>
                </a:solidFill>
                <a:latin typeface="Calibri" pitchFamily="34" charset="0"/>
                <a:ea typeface="Calibri" pitchFamily="34" charset="-122"/>
                <a:cs typeface="Calibri" pitchFamily="34" charset="-120"/>
              </a:rPr>
              <a:t>200.00</a:t>
            </a:r>
            <a:endParaRPr lang="en-US" sz="1050" dirty="0"/>
          </a:p>
        </p:txBody>
      </p:sp>
      <p:sp>
        <p:nvSpPr>
          <p:cNvPr id="33" name="Text 27"/>
          <p:cNvSpPr/>
          <p:nvPr/>
        </p:nvSpPr>
        <p:spPr>
          <a:xfrm>
            <a:off x="841248" y="4425696"/>
            <a:ext cx="1920240" cy="21945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Delivery fee</a:t>
            </a:r>
            <a:endParaRPr lang="en-US" sz="1050" dirty="0"/>
          </a:p>
        </p:txBody>
      </p:sp>
      <p:sp>
        <p:nvSpPr>
          <p:cNvPr id="34" name="Text 28"/>
          <p:cNvSpPr/>
          <p:nvPr/>
        </p:nvSpPr>
        <p:spPr>
          <a:xfrm>
            <a:off x="2606040" y="4425696"/>
            <a:ext cx="1124712" cy="219456"/>
          </a:xfrm>
          <a:prstGeom prst="rect">
            <a:avLst/>
          </a:prstGeom>
          <a:noFill/>
          <a:ln/>
        </p:spPr>
        <p:txBody>
          <a:bodyPr wrap="square" lIns="0" tIns="0" rIns="0" bIns="0" rtlCol="0" anchor="ctr"/>
          <a:lstStyle/>
          <a:p>
            <a:pPr algn="r" indent="0" marL="0">
              <a:buNone/>
            </a:pPr>
            <a:r>
              <a:rPr lang="en-US" sz="1050" dirty="0">
                <a:solidFill>
                  <a:srgbClr val="17303F"/>
                </a:solidFill>
                <a:latin typeface="Calibri" pitchFamily="34" charset="0"/>
                <a:ea typeface="Calibri" pitchFamily="34" charset="-122"/>
                <a:cs typeface="Calibri" pitchFamily="34" charset="-120"/>
              </a:rPr>
              <a:t>30.00</a:t>
            </a:r>
            <a:endParaRPr lang="en-US" sz="1050" dirty="0"/>
          </a:p>
        </p:txBody>
      </p:sp>
      <p:sp>
        <p:nvSpPr>
          <p:cNvPr id="35" name="Shape 29"/>
          <p:cNvSpPr/>
          <p:nvPr/>
        </p:nvSpPr>
        <p:spPr>
          <a:xfrm>
            <a:off x="841248" y="4736592"/>
            <a:ext cx="2889504" cy="18288"/>
          </a:xfrm>
          <a:prstGeom prst="rect">
            <a:avLst/>
          </a:prstGeom>
          <a:solidFill>
            <a:srgbClr val="D3DEE6"/>
          </a:solidFill>
          <a:ln w="12700">
            <a:solidFill>
              <a:srgbClr val="D3DEE6"/>
            </a:solidFill>
            <a:prstDash val="solid"/>
          </a:ln>
        </p:spPr>
      </p:sp>
      <p:sp>
        <p:nvSpPr>
          <p:cNvPr id="36" name="Text 30"/>
          <p:cNvSpPr/>
          <p:nvPr/>
        </p:nvSpPr>
        <p:spPr>
          <a:xfrm>
            <a:off x="841248" y="4846320"/>
            <a:ext cx="1554480" cy="292608"/>
          </a:xfrm>
          <a:prstGeom prst="rect">
            <a:avLst/>
          </a:prstGeom>
          <a:noFill/>
          <a:ln/>
        </p:spPr>
        <p:txBody>
          <a:bodyPr wrap="square" lIns="0" tIns="0" rIns="0" bIns="0" rtlCol="0" anchor="ctr"/>
          <a:lstStyle/>
          <a:p>
            <a:pPr indent="0" marL="0">
              <a:buNone/>
            </a:pPr>
            <a:r>
              <a:rPr lang="en-US" sz="1100" b="1" dirty="0">
                <a:solidFill>
                  <a:srgbClr val="17303F"/>
                </a:solidFill>
                <a:latin typeface="Calibri" pitchFamily="34" charset="0"/>
                <a:ea typeface="Calibri" pitchFamily="34" charset="-122"/>
                <a:cs typeface="Calibri" pitchFamily="34" charset="-120"/>
              </a:rPr>
              <a:t>AMOUNT DUE</a:t>
            </a:r>
            <a:endParaRPr lang="en-US" sz="1100" dirty="0"/>
          </a:p>
        </p:txBody>
      </p:sp>
      <p:sp>
        <p:nvSpPr>
          <p:cNvPr id="37" name="Text 31"/>
          <p:cNvSpPr/>
          <p:nvPr/>
        </p:nvSpPr>
        <p:spPr>
          <a:xfrm>
            <a:off x="2331720" y="4828032"/>
            <a:ext cx="1399032" cy="329184"/>
          </a:xfrm>
          <a:prstGeom prst="rect">
            <a:avLst/>
          </a:prstGeom>
          <a:noFill/>
          <a:ln/>
        </p:spPr>
        <p:txBody>
          <a:bodyPr wrap="square" lIns="0" tIns="0" rIns="0" bIns="0" rtlCol="0" anchor="ctr"/>
          <a:lstStyle/>
          <a:p>
            <a:pPr algn="r" indent="0" marL="0">
              <a:buNone/>
            </a:pPr>
            <a:r>
              <a:rPr lang="en-US" sz="1600" b="1" dirty="0">
                <a:solidFill>
                  <a:srgbClr val="065A82"/>
                </a:solidFill>
                <a:latin typeface="Cambria" pitchFamily="34" charset="0"/>
                <a:ea typeface="Cambria" pitchFamily="34" charset="-122"/>
                <a:cs typeface="Cambria" pitchFamily="34" charset="-120"/>
              </a:rPr>
              <a:t>PHP 230.00</a:t>
            </a:r>
            <a:endParaRPr lang="en-US" sz="1600" dirty="0"/>
          </a:p>
        </p:txBody>
      </p:sp>
      <p:sp>
        <p:nvSpPr>
          <p:cNvPr id="38" name="Shape 32"/>
          <p:cNvSpPr/>
          <p:nvPr/>
        </p:nvSpPr>
        <p:spPr>
          <a:xfrm>
            <a:off x="841248" y="5321808"/>
            <a:ext cx="2889504" cy="365760"/>
          </a:xfrm>
          <a:prstGeom prst="roundRect">
            <a:avLst>
              <a:gd name="adj" fmla="val 17500"/>
            </a:avLst>
          </a:prstGeom>
          <a:solidFill>
            <a:srgbClr val="FDF1DC"/>
          </a:solidFill>
          <a:ln w="12700">
            <a:solidFill>
              <a:srgbClr val="FDF1DC"/>
            </a:solidFill>
            <a:prstDash val="solid"/>
          </a:ln>
        </p:spPr>
      </p:sp>
      <p:sp>
        <p:nvSpPr>
          <p:cNvPr id="39" name="Text 33"/>
          <p:cNvSpPr/>
          <p:nvPr/>
        </p:nvSpPr>
        <p:spPr>
          <a:xfrm>
            <a:off x="841248" y="5321808"/>
            <a:ext cx="2889504" cy="365760"/>
          </a:xfrm>
          <a:prstGeom prst="rect">
            <a:avLst/>
          </a:prstGeom>
          <a:noFill/>
          <a:ln/>
        </p:spPr>
        <p:txBody>
          <a:bodyPr wrap="square" lIns="0" tIns="0" rIns="0" bIns="0" rtlCol="0" anchor="ctr"/>
          <a:lstStyle/>
          <a:p>
            <a:pPr algn="ctr" indent="0" marL="0">
              <a:buNone/>
            </a:pPr>
            <a:r>
              <a:rPr lang="en-US" sz="1050" b="1" dirty="0">
                <a:solidFill>
                  <a:srgbClr val="8A5A0B"/>
                </a:solidFill>
                <a:latin typeface="Calibri" pitchFamily="34" charset="0"/>
                <a:ea typeface="Calibri" pitchFamily="34" charset="-122"/>
                <a:cs typeface="Calibri" pitchFamily="34" charset="-120"/>
              </a:rPr>
              <a:t>AWAITING DELIVERY</a:t>
            </a:r>
            <a:endParaRPr lang="en-US" sz="1050" dirty="0"/>
          </a:p>
        </p:txBody>
      </p:sp>
      <p:sp>
        <p:nvSpPr>
          <p:cNvPr id="40" name="Shape 34"/>
          <p:cNvSpPr/>
          <p:nvPr/>
        </p:nvSpPr>
        <p:spPr>
          <a:xfrm>
            <a:off x="4133088" y="4206240"/>
            <a:ext cx="365760" cy="274320"/>
          </a:xfrm>
          <a:prstGeom prst="rightArrow">
            <a:avLst/>
          </a:prstGeom>
          <a:solidFill>
            <a:srgbClr val="02C39A"/>
          </a:solidFill>
          <a:ln w="12700">
            <a:solidFill>
              <a:srgbClr val="02C39A"/>
            </a:solidFill>
            <a:prstDash val="solid"/>
          </a:ln>
        </p:spPr>
      </p:sp>
      <p:sp>
        <p:nvSpPr>
          <p:cNvPr id="41" name="Text 35"/>
          <p:cNvSpPr/>
          <p:nvPr/>
        </p:nvSpPr>
        <p:spPr>
          <a:xfrm>
            <a:off x="3959352" y="4535424"/>
            <a:ext cx="777240" cy="219456"/>
          </a:xfrm>
          <a:prstGeom prst="rect">
            <a:avLst/>
          </a:prstGeom>
          <a:noFill/>
          <a:ln/>
        </p:spPr>
        <p:txBody>
          <a:bodyPr wrap="square" lIns="0" tIns="0" rIns="0" bIns="0" rtlCol="0" anchor="ctr"/>
          <a:lstStyle/>
          <a:p>
            <a:pPr algn="ctr" indent="0" marL="0">
              <a:buNone/>
            </a:pPr>
            <a:r>
              <a:rPr lang="en-US" sz="850" b="1" dirty="0">
                <a:solidFill>
                  <a:srgbClr val="1C7293"/>
                </a:solidFill>
                <a:latin typeface="Calibri" pitchFamily="34" charset="0"/>
                <a:ea typeface="Calibri" pitchFamily="34" charset="-122"/>
                <a:cs typeface="Calibri" pitchFamily="34" charset="-120"/>
              </a:rPr>
              <a:t>on delivery</a:t>
            </a:r>
            <a:endParaRPr lang="en-US" sz="850" dirty="0"/>
          </a:p>
        </p:txBody>
      </p:sp>
      <p:sp>
        <p:nvSpPr>
          <p:cNvPr id="42" name="Shape 36"/>
          <p:cNvSpPr/>
          <p:nvPr/>
        </p:nvSpPr>
        <p:spPr>
          <a:xfrm>
            <a:off x="4754880" y="2834640"/>
            <a:ext cx="3291840" cy="3063240"/>
          </a:xfrm>
          <a:prstGeom prst="roundRect">
            <a:avLst>
              <a:gd name="adj" fmla="val 2388"/>
            </a:avLst>
          </a:prstGeom>
          <a:solidFill>
            <a:srgbClr val="FFFFFF"/>
          </a:solidFill>
          <a:ln w="12700">
            <a:solidFill>
              <a:srgbClr val="DCE7EE"/>
            </a:solidFill>
            <a:prstDash val="solid"/>
          </a:ln>
          <a:effectLst>
            <a:outerShdw sx="100000" sy="100000" kx="0" ky="0" algn="bl" rotWithShape="0" blurRad="127000" dist="25400" dir="5400000">
              <a:srgbClr val="9FB4C2">
                <a:alpha val="35000"/>
              </a:srgbClr>
            </a:outerShdw>
          </a:effectLst>
        </p:spPr>
      </p:sp>
      <p:sp>
        <p:nvSpPr>
          <p:cNvPr id="43" name="Shape 37"/>
          <p:cNvSpPr/>
          <p:nvPr/>
        </p:nvSpPr>
        <p:spPr>
          <a:xfrm>
            <a:off x="4754880" y="2834640"/>
            <a:ext cx="3291840" cy="530352"/>
          </a:xfrm>
          <a:prstGeom prst="roundRect">
            <a:avLst>
              <a:gd name="adj" fmla="val 13793"/>
            </a:avLst>
          </a:prstGeom>
          <a:solidFill>
            <a:srgbClr val="02C39A"/>
          </a:solidFill>
          <a:ln w="12700">
            <a:solidFill>
              <a:srgbClr val="02C39A"/>
            </a:solidFill>
            <a:prstDash val="solid"/>
          </a:ln>
        </p:spPr>
      </p:sp>
      <p:sp>
        <p:nvSpPr>
          <p:cNvPr id="44" name="Text 38"/>
          <p:cNvSpPr/>
          <p:nvPr/>
        </p:nvSpPr>
        <p:spPr>
          <a:xfrm>
            <a:off x="4956048" y="2907792"/>
            <a:ext cx="1920240" cy="384048"/>
          </a:xfrm>
          <a:prstGeom prst="rect">
            <a:avLst/>
          </a:prstGeom>
          <a:noFill/>
          <a:ln/>
        </p:spPr>
        <p:txBody>
          <a:bodyPr wrap="square" lIns="0" tIns="0" rIns="0" bIns="0" rtlCol="0" anchor="ctr"/>
          <a:lstStyle/>
          <a:p>
            <a:pPr indent="0" marL="0">
              <a:buNone/>
            </a:pPr>
            <a:r>
              <a:rPr lang="en-US" sz="1250" b="1" dirty="0">
                <a:solidFill>
                  <a:srgbClr val="0A2540"/>
                </a:solidFill>
                <a:latin typeface="Calibri" pitchFamily="34" charset="0"/>
                <a:ea typeface="Calibri" pitchFamily="34" charset="-122"/>
                <a:cs typeface="Calibri" pitchFamily="34" charset="-120"/>
              </a:rPr>
              <a:t>OFFICIAL RECEIPT</a:t>
            </a:r>
            <a:endParaRPr lang="en-US" sz="1250" dirty="0"/>
          </a:p>
        </p:txBody>
      </p:sp>
      <p:sp>
        <p:nvSpPr>
          <p:cNvPr id="45" name="Text 39"/>
          <p:cNvSpPr/>
          <p:nvPr/>
        </p:nvSpPr>
        <p:spPr>
          <a:xfrm>
            <a:off x="6766560" y="2907792"/>
            <a:ext cx="1097280" cy="384048"/>
          </a:xfrm>
          <a:prstGeom prst="rect">
            <a:avLst/>
          </a:prstGeom>
          <a:noFill/>
          <a:ln/>
        </p:spPr>
        <p:txBody>
          <a:bodyPr wrap="square" lIns="0" tIns="0" rIns="0" bIns="0" rtlCol="0" anchor="ctr"/>
          <a:lstStyle/>
          <a:p>
            <a:pPr algn="r" indent="0" marL="0">
              <a:buNone/>
            </a:pPr>
            <a:r>
              <a:rPr lang="en-US" sz="1050" dirty="0">
                <a:solidFill>
                  <a:srgbClr val="0B3D33"/>
                </a:solidFill>
                <a:latin typeface="Calibri" pitchFamily="34" charset="0"/>
                <a:ea typeface="Calibri" pitchFamily="34" charset="-122"/>
                <a:cs typeface="Calibri" pitchFamily="34" charset="-120"/>
              </a:rPr>
              <a:t>#OR-1042</a:t>
            </a:r>
            <a:endParaRPr lang="en-US" sz="1050" dirty="0"/>
          </a:p>
        </p:txBody>
      </p:sp>
      <p:sp>
        <p:nvSpPr>
          <p:cNvPr id="46" name="Text 40"/>
          <p:cNvSpPr/>
          <p:nvPr/>
        </p:nvSpPr>
        <p:spPr>
          <a:xfrm>
            <a:off x="4956048" y="3456432"/>
            <a:ext cx="2834640" cy="201168"/>
          </a:xfrm>
          <a:prstGeom prst="rect">
            <a:avLst/>
          </a:prstGeom>
          <a:noFill/>
          <a:ln/>
        </p:spPr>
        <p:txBody>
          <a:bodyPr wrap="square" lIns="0" tIns="0" rIns="0" bIns="0" rtlCol="0" anchor="ctr"/>
          <a:lstStyle/>
          <a:p>
            <a:pPr indent="0" marL="0">
              <a:buNone/>
            </a:pPr>
            <a:r>
              <a:rPr lang="en-US" sz="950" dirty="0">
                <a:solidFill>
                  <a:srgbClr val="5C7080"/>
                </a:solidFill>
                <a:latin typeface="Calibri" pitchFamily="34" charset="0"/>
                <a:ea typeface="Calibri" pitchFamily="34" charset="-122"/>
                <a:cs typeface="Calibri" pitchFamily="34" charset="-120"/>
              </a:rPr>
              <a:t>Delivered 11:15 AM  ·  count verified</a:t>
            </a:r>
            <a:endParaRPr lang="en-US" sz="950" dirty="0"/>
          </a:p>
        </p:txBody>
      </p:sp>
      <p:sp>
        <p:nvSpPr>
          <p:cNvPr id="47" name="Shape 41"/>
          <p:cNvSpPr/>
          <p:nvPr/>
        </p:nvSpPr>
        <p:spPr>
          <a:xfrm>
            <a:off x="4956048" y="3730752"/>
            <a:ext cx="2286000" cy="292608"/>
          </a:xfrm>
          <a:prstGeom prst="roundRect">
            <a:avLst>
              <a:gd name="adj" fmla="val 18750"/>
            </a:avLst>
          </a:prstGeom>
          <a:solidFill>
            <a:srgbClr val="E4F7F2"/>
          </a:solidFill>
          <a:ln w="12700">
            <a:solidFill>
              <a:srgbClr val="E4F7F2"/>
            </a:solidFill>
            <a:prstDash val="solid"/>
          </a:ln>
        </p:spPr>
      </p:sp>
      <p:sp>
        <p:nvSpPr>
          <p:cNvPr id="48" name="Text 42"/>
          <p:cNvSpPr/>
          <p:nvPr/>
        </p:nvSpPr>
        <p:spPr>
          <a:xfrm>
            <a:off x="4956048" y="3730752"/>
            <a:ext cx="2286000" cy="292608"/>
          </a:xfrm>
          <a:prstGeom prst="rect">
            <a:avLst/>
          </a:prstGeom>
          <a:noFill/>
          <a:ln/>
        </p:spPr>
        <p:txBody>
          <a:bodyPr wrap="square" lIns="0" tIns="0" rIns="0" bIns="0" rtlCol="0" anchor="ctr"/>
          <a:lstStyle/>
          <a:p>
            <a:pPr algn="ctr" indent="0" marL="0">
              <a:buNone/>
            </a:pPr>
            <a:r>
              <a:rPr lang="en-US" sz="900" b="1" dirty="0">
                <a:solidFill>
                  <a:srgbClr val="0B3D33"/>
                </a:solidFill>
                <a:latin typeface="Calibri" pitchFamily="34" charset="0"/>
                <a:ea typeface="Calibri" pitchFamily="34" charset="-122"/>
                <a:cs typeface="Calibri" pitchFamily="34" charset="-120"/>
              </a:rPr>
              <a:t>SAME COUNT, CONFIRMED ON SITE</a:t>
            </a:r>
            <a:endParaRPr lang="en-US" sz="900" dirty="0"/>
          </a:p>
        </p:txBody>
      </p:sp>
      <p:sp>
        <p:nvSpPr>
          <p:cNvPr id="49" name="Text 43"/>
          <p:cNvSpPr/>
          <p:nvPr/>
        </p:nvSpPr>
        <p:spPr>
          <a:xfrm>
            <a:off x="4956048" y="4187952"/>
            <a:ext cx="1920240" cy="21945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8 containers refilled</a:t>
            </a:r>
            <a:endParaRPr lang="en-US" sz="1050" dirty="0"/>
          </a:p>
        </p:txBody>
      </p:sp>
      <p:sp>
        <p:nvSpPr>
          <p:cNvPr id="50" name="Text 44"/>
          <p:cNvSpPr/>
          <p:nvPr/>
        </p:nvSpPr>
        <p:spPr>
          <a:xfrm>
            <a:off x="6720840" y="4187952"/>
            <a:ext cx="1124712" cy="219456"/>
          </a:xfrm>
          <a:prstGeom prst="rect">
            <a:avLst/>
          </a:prstGeom>
          <a:noFill/>
          <a:ln/>
        </p:spPr>
        <p:txBody>
          <a:bodyPr wrap="square" lIns="0" tIns="0" rIns="0" bIns="0" rtlCol="0" anchor="ctr"/>
          <a:lstStyle/>
          <a:p>
            <a:pPr algn="r" indent="0" marL="0">
              <a:buNone/>
            </a:pPr>
            <a:r>
              <a:rPr lang="en-US" sz="1050" dirty="0">
                <a:solidFill>
                  <a:srgbClr val="17303F"/>
                </a:solidFill>
                <a:latin typeface="Calibri" pitchFamily="34" charset="0"/>
                <a:ea typeface="Calibri" pitchFamily="34" charset="-122"/>
                <a:cs typeface="Calibri" pitchFamily="34" charset="-120"/>
              </a:rPr>
              <a:t>200.00</a:t>
            </a:r>
            <a:endParaRPr lang="en-US" sz="1050" dirty="0"/>
          </a:p>
        </p:txBody>
      </p:sp>
      <p:sp>
        <p:nvSpPr>
          <p:cNvPr id="51" name="Text 45"/>
          <p:cNvSpPr/>
          <p:nvPr/>
        </p:nvSpPr>
        <p:spPr>
          <a:xfrm>
            <a:off x="4956048" y="4425696"/>
            <a:ext cx="1920240" cy="21945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Delivery fee</a:t>
            </a:r>
            <a:endParaRPr lang="en-US" sz="1050" dirty="0"/>
          </a:p>
        </p:txBody>
      </p:sp>
      <p:sp>
        <p:nvSpPr>
          <p:cNvPr id="52" name="Text 46"/>
          <p:cNvSpPr/>
          <p:nvPr/>
        </p:nvSpPr>
        <p:spPr>
          <a:xfrm>
            <a:off x="6720840" y="4425696"/>
            <a:ext cx="1124712" cy="219456"/>
          </a:xfrm>
          <a:prstGeom prst="rect">
            <a:avLst/>
          </a:prstGeom>
          <a:noFill/>
          <a:ln/>
        </p:spPr>
        <p:txBody>
          <a:bodyPr wrap="square" lIns="0" tIns="0" rIns="0" bIns="0" rtlCol="0" anchor="ctr"/>
          <a:lstStyle/>
          <a:p>
            <a:pPr algn="r" indent="0" marL="0">
              <a:buNone/>
            </a:pPr>
            <a:r>
              <a:rPr lang="en-US" sz="1050" dirty="0">
                <a:solidFill>
                  <a:srgbClr val="17303F"/>
                </a:solidFill>
                <a:latin typeface="Calibri" pitchFamily="34" charset="0"/>
                <a:ea typeface="Calibri" pitchFamily="34" charset="-122"/>
                <a:cs typeface="Calibri" pitchFamily="34" charset="-120"/>
              </a:rPr>
              <a:t>30.00</a:t>
            </a:r>
            <a:endParaRPr lang="en-US" sz="1050" dirty="0"/>
          </a:p>
        </p:txBody>
      </p:sp>
      <p:sp>
        <p:nvSpPr>
          <p:cNvPr id="53" name="Shape 47"/>
          <p:cNvSpPr/>
          <p:nvPr/>
        </p:nvSpPr>
        <p:spPr>
          <a:xfrm>
            <a:off x="4956048" y="4736592"/>
            <a:ext cx="2889504" cy="18288"/>
          </a:xfrm>
          <a:prstGeom prst="rect">
            <a:avLst/>
          </a:prstGeom>
          <a:solidFill>
            <a:srgbClr val="D3DEE6"/>
          </a:solidFill>
          <a:ln w="12700">
            <a:solidFill>
              <a:srgbClr val="D3DEE6"/>
            </a:solidFill>
            <a:prstDash val="solid"/>
          </a:ln>
        </p:spPr>
      </p:sp>
      <p:sp>
        <p:nvSpPr>
          <p:cNvPr id="54" name="Text 48"/>
          <p:cNvSpPr/>
          <p:nvPr/>
        </p:nvSpPr>
        <p:spPr>
          <a:xfrm>
            <a:off x="4956048" y="4846320"/>
            <a:ext cx="1554480" cy="292608"/>
          </a:xfrm>
          <a:prstGeom prst="rect">
            <a:avLst/>
          </a:prstGeom>
          <a:noFill/>
          <a:ln/>
        </p:spPr>
        <p:txBody>
          <a:bodyPr wrap="square" lIns="0" tIns="0" rIns="0" bIns="0" rtlCol="0" anchor="ctr"/>
          <a:lstStyle/>
          <a:p>
            <a:pPr indent="0" marL="0">
              <a:buNone/>
            </a:pPr>
            <a:r>
              <a:rPr lang="en-US" sz="1100" b="1" dirty="0">
                <a:solidFill>
                  <a:srgbClr val="17303F"/>
                </a:solidFill>
                <a:latin typeface="Calibri" pitchFamily="34" charset="0"/>
                <a:ea typeface="Calibri" pitchFamily="34" charset="-122"/>
                <a:cs typeface="Calibri" pitchFamily="34" charset="-120"/>
              </a:rPr>
              <a:t>AMOUNT PAID</a:t>
            </a:r>
            <a:endParaRPr lang="en-US" sz="1100" dirty="0"/>
          </a:p>
        </p:txBody>
      </p:sp>
      <p:sp>
        <p:nvSpPr>
          <p:cNvPr id="55" name="Text 49"/>
          <p:cNvSpPr/>
          <p:nvPr/>
        </p:nvSpPr>
        <p:spPr>
          <a:xfrm>
            <a:off x="6446520" y="4828032"/>
            <a:ext cx="1399032" cy="329184"/>
          </a:xfrm>
          <a:prstGeom prst="rect">
            <a:avLst/>
          </a:prstGeom>
          <a:noFill/>
          <a:ln/>
        </p:spPr>
        <p:txBody>
          <a:bodyPr wrap="square" lIns="0" tIns="0" rIns="0" bIns="0" rtlCol="0" anchor="ctr"/>
          <a:lstStyle/>
          <a:p>
            <a:pPr algn="r" indent="0" marL="0">
              <a:buNone/>
            </a:pPr>
            <a:r>
              <a:rPr lang="en-US" sz="1600" b="1" dirty="0">
                <a:solidFill>
                  <a:srgbClr val="0B7A5E"/>
                </a:solidFill>
                <a:latin typeface="Cambria" pitchFamily="34" charset="0"/>
                <a:ea typeface="Cambria" pitchFamily="34" charset="-122"/>
                <a:cs typeface="Cambria" pitchFamily="34" charset="-120"/>
              </a:rPr>
              <a:t>PHP 230.00</a:t>
            </a:r>
            <a:endParaRPr lang="en-US" sz="1600" dirty="0"/>
          </a:p>
        </p:txBody>
      </p:sp>
      <p:sp>
        <p:nvSpPr>
          <p:cNvPr id="56" name="Shape 50"/>
          <p:cNvSpPr/>
          <p:nvPr/>
        </p:nvSpPr>
        <p:spPr>
          <a:xfrm>
            <a:off x="4956048" y="5321808"/>
            <a:ext cx="2889504" cy="365760"/>
          </a:xfrm>
          <a:prstGeom prst="roundRect">
            <a:avLst>
              <a:gd name="adj" fmla="val 17500"/>
            </a:avLst>
          </a:prstGeom>
          <a:solidFill>
            <a:srgbClr val="E4F7F2"/>
          </a:solidFill>
          <a:ln w="12700">
            <a:solidFill>
              <a:srgbClr val="E4F7F2"/>
            </a:solidFill>
            <a:prstDash val="solid"/>
          </a:ln>
        </p:spPr>
      </p:sp>
      <p:sp>
        <p:nvSpPr>
          <p:cNvPr id="57" name="Text 51"/>
          <p:cNvSpPr/>
          <p:nvPr/>
        </p:nvSpPr>
        <p:spPr>
          <a:xfrm>
            <a:off x="4956048" y="5321808"/>
            <a:ext cx="2889504" cy="365760"/>
          </a:xfrm>
          <a:prstGeom prst="rect">
            <a:avLst/>
          </a:prstGeom>
          <a:noFill/>
          <a:ln/>
        </p:spPr>
        <p:txBody>
          <a:bodyPr wrap="square" lIns="0" tIns="0" rIns="0" bIns="0" rtlCol="0" anchor="ctr"/>
          <a:lstStyle/>
          <a:p>
            <a:pPr algn="ctr" indent="0" marL="0">
              <a:buNone/>
            </a:pPr>
            <a:r>
              <a:rPr lang="en-US" sz="1050" b="1" dirty="0">
                <a:solidFill>
                  <a:srgbClr val="0B3D33"/>
                </a:solidFill>
                <a:latin typeface="Calibri" pitchFamily="34" charset="0"/>
                <a:ea typeface="Calibri" pitchFamily="34" charset="-122"/>
                <a:cs typeface="Calibri" pitchFamily="34" charset="-120"/>
              </a:rPr>
              <a:t>PAID  ·  GCASH</a:t>
            </a:r>
            <a:endParaRPr lang="en-US" sz="1050" dirty="0"/>
          </a:p>
        </p:txBody>
      </p:sp>
      <p:sp>
        <p:nvSpPr>
          <p:cNvPr id="58" name="Text 52"/>
          <p:cNvSpPr/>
          <p:nvPr/>
        </p:nvSpPr>
        <p:spPr>
          <a:xfrm>
            <a:off x="8458200" y="2880360"/>
            <a:ext cx="3108960" cy="274320"/>
          </a:xfrm>
          <a:prstGeom prst="rect">
            <a:avLst/>
          </a:prstGeom>
          <a:noFill/>
          <a:ln/>
        </p:spPr>
        <p:txBody>
          <a:bodyPr wrap="square" lIns="0" tIns="0" rIns="0" bIns="0" rtlCol="0" anchor="ctr"/>
          <a:lstStyle/>
          <a:p>
            <a:pPr indent="0" marL="0">
              <a:buNone/>
            </a:pPr>
            <a:r>
              <a:rPr lang="en-US" sz="1400" b="1" dirty="0">
                <a:solidFill>
                  <a:srgbClr val="17303F"/>
                </a:solidFill>
                <a:latin typeface="Calibri" pitchFamily="34" charset="0"/>
                <a:ea typeface="Calibri" pitchFamily="34" charset="-122"/>
                <a:cs typeface="Calibri" pitchFamily="34" charset="-120"/>
              </a:rPr>
              <a:t>Priced before the trip</a:t>
            </a:r>
            <a:endParaRPr lang="en-US" sz="1400" dirty="0"/>
          </a:p>
        </p:txBody>
      </p:sp>
      <p:sp>
        <p:nvSpPr>
          <p:cNvPr id="59" name="Text 53"/>
          <p:cNvSpPr/>
          <p:nvPr/>
        </p:nvSpPr>
        <p:spPr>
          <a:xfrm>
            <a:off x="8458200" y="3191256"/>
            <a:ext cx="3108960" cy="658368"/>
          </a:xfrm>
          <a:prstGeom prst="rect">
            <a:avLst/>
          </a:prstGeom>
          <a:noFill/>
          <a:ln/>
        </p:spPr>
        <p:txBody>
          <a:bodyPr wrap="square" lIns="0" tIns="0" rIns="0" bIns="0" rtlCol="0" anchor="ctr"/>
          <a:lstStyle/>
          <a:p>
            <a:pPr indent="0" marL="0">
              <a:lnSpc>
                <a:spcPts val="1500"/>
              </a:lnSpc>
              <a:buNone/>
            </a:pPr>
            <a:r>
              <a:rPr lang="en-US" sz="1150" dirty="0">
                <a:solidFill>
                  <a:srgbClr val="5C7080"/>
                </a:solidFill>
                <a:latin typeface="Calibri" pitchFamily="34" charset="0"/>
                <a:ea typeface="Calibri" pitchFamily="34" charset="-122"/>
                <a:cs typeface="Calibri" pitchFamily="34" charset="-120"/>
              </a:rPr>
              <a:t>The customer sees the amount while the rider is still at the station.</a:t>
            </a:r>
            <a:endParaRPr lang="en-US" sz="1150" dirty="0"/>
          </a:p>
        </p:txBody>
      </p:sp>
      <p:sp>
        <p:nvSpPr>
          <p:cNvPr id="60" name="Text 54"/>
          <p:cNvSpPr/>
          <p:nvPr/>
        </p:nvSpPr>
        <p:spPr>
          <a:xfrm>
            <a:off x="8458200" y="3849624"/>
            <a:ext cx="3108960" cy="274320"/>
          </a:xfrm>
          <a:prstGeom prst="rect">
            <a:avLst/>
          </a:prstGeom>
          <a:noFill/>
          <a:ln/>
        </p:spPr>
        <p:txBody>
          <a:bodyPr wrap="square" lIns="0" tIns="0" rIns="0" bIns="0" rtlCol="0" anchor="ctr"/>
          <a:lstStyle/>
          <a:p>
            <a:pPr indent="0" marL="0">
              <a:buNone/>
            </a:pPr>
            <a:r>
              <a:rPr lang="en-US" sz="1400" b="1" dirty="0">
                <a:solidFill>
                  <a:srgbClr val="17303F"/>
                </a:solidFill>
                <a:latin typeface="Calibri" pitchFamily="34" charset="0"/>
                <a:ea typeface="Calibri" pitchFamily="34" charset="-122"/>
                <a:cs typeface="Calibri" pitchFamily="34" charset="-120"/>
              </a:rPr>
              <a:t>One count, two documents</a:t>
            </a:r>
            <a:endParaRPr lang="en-US" sz="1400" dirty="0"/>
          </a:p>
        </p:txBody>
      </p:sp>
      <p:sp>
        <p:nvSpPr>
          <p:cNvPr id="61" name="Text 55"/>
          <p:cNvSpPr/>
          <p:nvPr/>
        </p:nvSpPr>
        <p:spPr>
          <a:xfrm>
            <a:off x="8458200" y="4160520"/>
            <a:ext cx="3108960" cy="658368"/>
          </a:xfrm>
          <a:prstGeom prst="rect">
            <a:avLst/>
          </a:prstGeom>
          <a:noFill/>
          <a:ln/>
        </p:spPr>
        <p:txBody>
          <a:bodyPr wrap="square" lIns="0" tIns="0" rIns="0" bIns="0" rtlCol="0" anchor="ctr"/>
          <a:lstStyle/>
          <a:p>
            <a:pPr indent="0" marL="0">
              <a:lnSpc>
                <a:spcPts val="1500"/>
              </a:lnSpc>
              <a:buNone/>
            </a:pPr>
            <a:r>
              <a:rPr lang="en-US" sz="1150" dirty="0">
                <a:solidFill>
                  <a:srgbClr val="5C7080"/>
                </a:solidFill>
                <a:latin typeface="Calibri" pitchFamily="34" charset="0"/>
                <a:ea typeface="Calibri" pitchFamily="34" charset="-122"/>
                <a:cs typeface="Calibri" pitchFamily="34" charset="-120"/>
              </a:rPr>
              <a:t>Invoice and receipt are built from the same photo tally, so totals cannot drift.</a:t>
            </a:r>
            <a:endParaRPr lang="en-US" sz="1150" dirty="0"/>
          </a:p>
        </p:txBody>
      </p:sp>
      <p:sp>
        <p:nvSpPr>
          <p:cNvPr id="62" name="Text 56"/>
          <p:cNvSpPr/>
          <p:nvPr/>
        </p:nvSpPr>
        <p:spPr>
          <a:xfrm>
            <a:off x="8458200" y="4818888"/>
            <a:ext cx="3108960" cy="274320"/>
          </a:xfrm>
          <a:prstGeom prst="rect">
            <a:avLst/>
          </a:prstGeom>
          <a:noFill/>
          <a:ln/>
        </p:spPr>
        <p:txBody>
          <a:bodyPr wrap="square" lIns="0" tIns="0" rIns="0" bIns="0" rtlCol="0" anchor="ctr"/>
          <a:lstStyle/>
          <a:p>
            <a:pPr indent="0" marL="0">
              <a:buNone/>
            </a:pPr>
            <a:r>
              <a:rPr lang="en-US" sz="1400" b="1" dirty="0">
                <a:solidFill>
                  <a:srgbClr val="17303F"/>
                </a:solidFill>
                <a:latin typeface="Calibri" pitchFamily="34" charset="0"/>
                <a:ea typeface="Calibri" pitchFamily="34" charset="-122"/>
                <a:cs typeface="Calibri" pitchFamily="34" charset="-120"/>
              </a:rPr>
              <a:t>Nothing is re-encoded</a:t>
            </a:r>
            <a:endParaRPr lang="en-US" sz="1400" dirty="0"/>
          </a:p>
        </p:txBody>
      </p:sp>
      <p:sp>
        <p:nvSpPr>
          <p:cNvPr id="63" name="Text 57"/>
          <p:cNvSpPr/>
          <p:nvPr/>
        </p:nvSpPr>
        <p:spPr>
          <a:xfrm>
            <a:off x="8458200" y="5129784"/>
            <a:ext cx="3108960" cy="658368"/>
          </a:xfrm>
          <a:prstGeom prst="rect">
            <a:avLst/>
          </a:prstGeom>
          <a:noFill/>
          <a:ln/>
        </p:spPr>
        <p:txBody>
          <a:bodyPr wrap="square" lIns="0" tIns="0" rIns="0" bIns="0" rtlCol="0" anchor="ctr"/>
          <a:lstStyle/>
          <a:p>
            <a:pPr indent="0" marL="0">
              <a:lnSpc>
                <a:spcPts val="1500"/>
              </a:lnSpc>
              <a:buNone/>
            </a:pPr>
            <a:r>
              <a:rPr lang="en-US" sz="1150" dirty="0">
                <a:solidFill>
                  <a:srgbClr val="5C7080"/>
                </a:solidFill>
                <a:latin typeface="Calibri" pitchFamily="34" charset="0"/>
                <a:ea typeface="Calibri" pitchFamily="34" charset="-122"/>
                <a:cs typeface="Calibri" pitchFamily="34" charset="-120"/>
              </a:rPr>
              <a:t>Delivery only confirms the count and the payment state — no rewriting at closing.</a:t>
            </a:r>
            <a:endParaRPr lang="en-US" sz="1150" dirty="0"/>
          </a:p>
        </p:txBody>
      </p:sp>
      <p:sp>
        <p:nvSpPr>
          <p:cNvPr id="64" name="Shape 58"/>
          <p:cNvSpPr/>
          <p:nvPr/>
        </p:nvSpPr>
        <p:spPr>
          <a:xfrm>
            <a:off x="8458200" y="5897880"/>
            <a:ext cx="3108960" cy="457200"/>
          </a:xfrm>
          <a:prstGeom prst="roundRect">
            <a:avLst>
              <a:gd name="adj" fmla="val 14000"/>
            </a:avLst>
          </a:prstGeom>
          <a:solidFill>
            <a:srgbClr val="F1F7FA"/>
          </a:solidFill>
          <a:ln w="12700">
            <a:solidFill>
              <a:srgbClr val="D9E6EE"/>
            </a:solidFill>
            <a:prstDash val="solid"/>
          </a:ln>
        </p:spPr>
      </p:sp>
      <p:sp>
        <p:nvSpPr>
          <p:cNvPr id="65" name="Text 59"/>
          <p:cNvSpPr/>
          <p:nvPr/>
        </p:nvSpPr>
        <p:spPr>
          <a:xfrm>
            <a:off x="8595360" y="5897880"/>
            <a:ext cx="2880360" cy="457200"/>
          </a:xfrm>
          <a:prstGeom prst="rect">
            <a:avLst/>
          </a:prstGeom>
          <a:noFill/>
          <a:ln/>
        </p:spPr>
        <p:txBody>
          <a:bodyPr wrap="square" lIns="0" tIns="0" rIns="0" bIns="0" rtlCol="0" anchor="ctr"/>
          <a:lstStyle/>
          <a:p>
            <a:pPr indent="0" marL="0">
              <a:buNone/>
            </a:pPr>
            <a:r>
              <a:rPr lang="en-US" sz="1050" i="1" dirty="0">
                <a:solidFill>
                  <a:srgbClr val="1C7293"/>
                </a:solidFill>
                <a:latin typeface="Calibri" pitchFamily="34" charset="0"/>
                <a:ea typeface="Calibri" pitchFamily="34" charset="-122"/>
                <a:cs typeface="Calibri" pitchFamily="34" charset="-120"/>
              </a:rPr>
              <a:t>Unpaid invoices stay open in the POS.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7FA"/>
        </a:solidFill>
      </p:bgPr>
    </p:bg>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50" kern="0" dirty="0">
                <a:solidFill>
                  <a:srgbClr val="1C7293"/>
                </a:solidFill>
                <a:latin typeface="Calibri" pitchFamily="34" charset="0"/>
                <a:ea typeface="Calibri" pitchFamily="34" charset="-122"/>
                <a:cs typeface="Calibri" pitchFamily="34" charset="-120"/>
              </a:rPr>
              <a:t>EXPECTED IMPACT</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400" b="1" dirty="0">
                <a:solidFill>
                  <a:srgbClr val="17303F"/>
                </a:solidFill>
                <a:latin typeface="Cambria" pitchFamily="34" charset="0"/>
                <a:ea typeface="Cambria" pitchFamily="34" charset="-122"/>
                <a:cs typeface="Cambria" pitchFamily="34" charset="-120"/>
              </a:rPr>
              <a:t>The 40% Performance Case</a:t>
            </a:r>
            <a:endParaRPr lang="en-US" sz="3400" dirty="0"/>
          </a:p>
        </p:txBody>
      </p:sp>
      <p:sp>
        <p:nvSpPr>
          <p:cNvPr id="4" name="Shape 2"/>
          <p:cNvSpPr/>
          <p:nvPr/>
        </p:nvSpPr>
        <p:spPr>
          <a:xfrm>
            <a:off x="640080" y="1554480"/>
            <a:ext cx="3474720" cy="1417320"/>
          </a:xfrm>
          <a:prstGeom prst="roundRect">
            <a:avLst>
              <a:gd name="adj" fmla="val 5806"/>
            </a:avLst>
          </a:prstGeom>
          <a:solidFill>
            <a:srgbClr val="FFFFFF"/>
          </a:solidFill>
          <a:ln w="12700">
            <a:solidFill>
              <a:srgbClr val="E1EAF0"/>
            </a:solidFill>
            <a:prstDash val="solid"/>
          </a:ln>
          <a:effectLst>
            <a:outerShdw sx="100000" sy="100000" kx="0" ky="0" algn="bl" rotWithShape="0" blurRad="127000" dist="25400" dir="5400000">
              <a:srgbClr val="9FB4C2">
                <a:alpha val="35000"/>
              </a:srgbClr>
            </a:outerShdw>
          </a:effectLst>
        </p:spPr>
      </p:sp>
      <p:sp>
        <p:nvSpPr>
          <p:cNvPr id="5" name="Text 3"/>
          <p:cNvSpPr/>
          <p:nvPr/>
        </p:nvSpPr>
        <p:spPr>
          <a:xfrm>
            <a:off x="914400" y="1691640"/>
            <a:ext cx="2926080" cy="45720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 Time</a:t>
            </a:r>
            <a:endParaRPr lang="en-US" sz="2600" dirty="0"/>
          </a:p>
        </p:txBody>
      </p:sp>
      <p:sp>
        <p:nvSpPr>
          <p:cNvPr id="6" name="Text 4"/>
          <p:cNvSpPr/>
          <p:nvPr/>
        </p:nvSpPr>
        <p:spPr>
          <a:xfrm>
            <a:off x="914400" y="2176272"/>
            <a:ext cx="2926080" cy="274320"/>
          </a:xfrm>
          <a:prstGeom prst="rect">
            <a:avLst/>
          </a:prstGeom>
          <a:noFill/>
          <a:ln/>
        </p:spPr>
        <p:txBody>
          <a:bodyPr wrap="square" lIns="0" tIns="0" rIns="0" bIns="0" rtlCol="0" anchor="ctr"/>
          <a:lstStyle/>
          <a:p>
            <a:pPr indent="0" marL="0">
              <a:buNone/>
            </a:pPr>
            <a:r>
              <a:rPr lang="en-US" sz="1350" b="1" dirty="0">
                <a:solidFill>
                  <a:srgbClr val="17303F"/>
                </a:solidFill>
                <a:latin typeface="Calibri" pitchFamily="34" charset="0"/>
                <a:ea typeface="Calibri" pitchFamily="34" charset="-122"/>
                <a:cs typeface="Calibri" pitchFamily="34" charset="-120"/>
              </a:rPr>
              <a:t>Less time per transaction</a:t>
            </a:r>
            <a:endParaRPr lang="en-US" sz="1350" dirty="0"/>
          </a:p>
        </p:txBody>
      </p:sp>
      <p:sp>
        <p:nvSpPr>
          <p:cNvPr id="7" name="Text 5"/>
          <p:cNvSpPr/>
          <p:nvPr/>
        </p:nvSpPr>
        <p:spPr>
          <a:xfrm>
            <a:off x="914400" y="2468880"/>
            <a:ext cx="2971800" cy="365760"/>
          </a:xfrm>
          <a:prstGeom prst="rect">
            <a:avLst/>
          </a:prstGeom>
          <a:noFill/>
          <a:ln/>
        </p:spPr>
        <p:txBody>
          <a:bodyPr wrap="square" lIns="0" tIns="0" rIns="0" bIns="0" rtlCol="0" anchor="ctr"/>
          <a:lstStyle/>
          <a:p>
            <a:pPr indent="0" marL="0">
              <a:buNone/>
            </a:pPr>
            <a:r>
              <a:rPr lang="en-US" sz="1150" dirty="0">
                <a:solidFill>
                  <a:srgbClr val="5C7080"/>
                </a:solidFill>
                <a:latin typeface="Calibri" pitchFamily="34" charset="0"/>
                <a:ea typeface="Calibri" pitchFamily="34" charset="-122"/>
                <a:cs typeface="Calibri" pitchFamily="34" charset="-120"/>
              </a:rPr>
              <a:t>Tap-to-order replaces handwriting</a:t>
            </a:r>
            <a:endParaRPr lang="en-US" sz="1150" dirty="0"/>
          </a:p>
        </p:txBody>
      </p:sp>
      <p:sp>
        <p:nvSpPr>
          <p:cNvPr id="8" name="Shape 6"/>
          <p:cNvSpPr/>
          <p:nvPr/>
        </p:nvSpPr>
        <p:spPr>
          <a:xfrm>
            <a:off x="4416552" y="1554480"/>
            <a:ext cx="3474720" cy="1417320"/>
          </a:xfrm>
          <a:prstGeom prst="roundRect">
            <a:avLst>
              <a:gd name="adj" fmla="val 5806"/>
            </a:avLst>
          </a:prstGeom>
          <a:solidFill>
            <a:srgbClr val="FFFFFF"/>
          </a:solidFill>
          <a:ln w="12700">
            <a:solidFill>
              <a:srgbClr val="E1EAF0"/>
            </a:solidFill>
            <a:prstDash val="solid"/>
          </a:ln>
          <a:effectLst>
            <a:outerShdw sx="100000" sy="100000" kx="0" ky="0" algn="bl" rotWithShape="0" blurRad="127000" dist="25400" dir="5400000">
              <a:srgbClr val="9FB4C2">
                <a:alpha val="35000"/>
              </a:srgbClr>
            </a:outerShdw>
          </a:effectLst>
        </p:spPr>
      </p:sp>
      <p:sp>
        <p:nvSpPr>
          <p:cNvPr id="9" name="Text 7"/>
          <p:cNvSpPr/>
          <p:nvPr/>
        </p:nvSpPr>
        <p:spPr>
          <a:xfrm>
            <a:off x="4690872" y="1691640"/>
            <a:ext cx="2926080" cy="45720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 Errors</a:t>
            </a:r>
            <a:endParaRPr lang="en-US" sz="2600" dirty="0"/>
          </a:p>
        </p:txBody>
      </p:sp>
      <p:sp>
        <p:nvSpPr>
          <p:cNvPr id="10" name="Text 8"/>
          <p:cNvSpPr/>
          <p:nvPr/>
        </p:nvSpPr>
        <p:spPr>
          <a:xfrm>
            <a:off x="4690872" y="2176272"/>
            <a:ext cx="2926080" cy="274320"/>
          </a:xfrm>
          <a:prstGeom prst="rect">
            <a:avLst/>
          </a:prstGeom>
          <a:noFill/>
          <a:ln/>
        </p:spPr>
        <p:txBody>
          <a:bodyPr wrap="square" lIns="0" tIns="0" rIns="0" bIns="0" rtlCol="0" anchor="ctr"/>
          <a:lstStyle/>
          <a:p>
            <a:pPr indent="0" marL="0">
              <a:buNone/>
            </a:pPr>
            <a:r>
              <a:rPr lang="en-US" sz="1350" b="1" dirty="0">
                <a:solidFill>
                  <a:srgbClr val="17303F"/>
                </a:solidFill>
                <a:latin typeface="Calibri" pitchFamily="34" charset="0"/>
                <a:ea typeface="Calibri" pitchFamily="34" charset="-122"/>
                <a:cs typeface="Calibri" pitchFamily="34" charset="-120"/>
              </a:rPr>
              <a:t>Fewer calculation errors</a:t>
            </a:r>
            <a:endParaRPr lang="en-US" sz="1350" dirty="0"/>
          </a:p>
        </p:txBody>
      </p:sp>
      <p:sp>
        <p:nvSpPr>
          <p:cNvPr id="11" name="Text 9"/>
          <p:cNvSpPr/>
          <p:nvPr/>
        </p:nvSpPr>
        <p:spPr>
          <a:xfrm>
            <a:off x="4690872" y="2468880"/>
            <a:ext cx="2971800" cy="365760"/>
          </a:xfrm>
          <a:prstGeom prst="rect">
            <a:avLst/>
          </a:prstGeom>
          <a:noFill/>
          <a:ln/>
        </p:spPr>
        <p:txBody>
          <a:bodyPr wrap="square" lIns="0" tIns="0" rIns="0" bIns="0" rtlCol="0" anchor="ctr"/>
          <a:lstStyle/>
          <a:p>
            <a:pPr indent="0" marL="0">
              <a:buNone/>
            </a:pPr>
            <a:r>
              <a:rPr lang="en-US" sz="1150" dirty="0">
                <a:solidFill>
                  <a:srgbClr val="5C7080"/>
                </a:solidFill>
                <a:latin typeface="Calibri" pitchFamily="34" charset="0"/>
                <a:ea typeface="Calibri" pitchFamily="34" charset="-122"/>
                <a:cs typeface="Calibri" pitchFamily="34" charset="-120"/>
              </a:rPr>
              <a:t>Totals are computed by the POS</a:t>
            </a:r>
            <a:endParaRPr lang="en-US" sz="1150" dirty="0"/>
          </a:p>
        </p:txBody>
      </p:sp>
      <p:sp>
        <p:nvSpPr>
          <p:cNvPr id="12" name="Shape 10"/>
          <p:cNvSpPr/>
          <p:nvPr/>
        </p:nvSpPr>
        <p:spPr>
          <a:xfrm>
            <a:off x="8193024" y="1554480"/>
            <a:ext cx="3474720" cy="1417320"/>
          </a:xfrm>
          <a:prstGeom prst="roundRect">
            <a:avLst>
              <a:gd name="adj" fmla="val 5806"/>
            </a:avLst>
          </a:prstGeom>
          <a:solidFill>
            <a:srgbClr val="FFFFFF"/>
          </a:solidFill>
          <a:ln w="12700">
            <a:solidFill>
              <a:srgbClr val="E1EAF0"/>
            </a:solidFill>
            <a:prstDash val="solid"/>
          </a:ln>
          <a:effectLst>
            <a:outerShdw sx="100000" sy="100000" kx="0" ky="0" algn="bl" rotWithShape="0" blurRad="127000" dist="25400" dir="5400000">
              <a:srgbClr val="9FB4C2">
                <a:alpha val="35000"/>
              </a:srgbClr>
            </a:outerShdw>
          </a:effectLst>
        </p:spPr>
      </p:sp>
      <p:sp>
        <p:nvSpPr>
          <p:cNvPr id="13" name="Text 11"/>
          <p:cNvSpPr/>
          <p:nvPr/>
        </p:nvSpPr>
        <p:spPr>
          <a:xfrm>
            <a:off x="8467344" y="1691640"/>
            <a:ext cx="2926080" cy="457200"/>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 Trips</a:t>
            </a:r>
            <a:endParaRPr lang="en-US" sz="2600" dirty="0"/>
          </a:p>
        </p:txBody>
      </p:sp>
      <p:sp>
        <p:nvSpPr>
          <p:cNvPr id="14" name="Text 12"/>
          <p:cNvSpPr/>
          <p:nvPr/>
        </p:nvSpPr>
        <p:spPr>
          <a:xfrm>
            <a:off x="8467344" y="2176272"/>
            <a:ext cx="2926080" cy="274320"/>
          </a:xfrm>
          <a:prstGeom prst="rect">
            <a:avLst/>
          </a:prstGeom>
          <a:noFill/>
          <a:ln/>
        </p:spPr>
        <p:txBody>
          <a:bodyPr wrap="square" lIns="0" tIns="0" rIns="0" bIns="0" rtlCol="0" anchor="ctr"/>
          <a:lstStyle/>
          <a:p>
            <a:pPr indent="0" marL="0">
              <a:buNone/>
            </a:pPr>
            <a:r>
              <a:rPr lang="en-US" sz="1350" b="1" dirty="0">
                <a:solidFill>
                  <a:srgbClr val="17303F"/>
                </a:solidFill>
                <a:latin typeface="Calibri" pitchFamily="34" charset="0"/>
                <a:ea typeface="Calibri" pitchFamily="34" charset="-122"/>
                <a:cs typeface="Calibri" pitchFamily="34" charset="-120"/>
              </a:rPr>
              <a:t>More deliveries per route</a:t>
            </a:r>
            <a:endParaRPr lang="en-US" sz="1350" dirty="0"/>
          </a:p>
        </p:txBody>
      </p:sp>
      <p:sp>
        <p:nvSpPr>
          <p:cNvPr id="15" name="Text 13"/>
          <p:cNvSpPr/>
          <p:nvPr/>
        </p:nvSpPr>
        <p:spPr>
          <a:xfrm>
            <a:off x="8467344" y="2468880"/>
            <a:ext cx="2971800" cy="365760"/>
          </a:xfrm>
          <a:prstGeom prst="rect">
            <a:avLst/>
          </a:prstGeom>
          <a:noFill/>
          <a:ln/>
        </p:spPr>
        <p:txBody>
          <a:bodyPr wrap="square" lIns="0" tIns="0" rIns="0" bIns="0" rtlCol="0" anchor="ctr"/>
          <a:lstStyle/>
          <a:p>
            <a:pPr indent="0" marL="0">
              <a:buNone/>
            </a:pPr>
            <a:r>
              <a:rPr lang="en-US" sz="1150" dirty="0">
                <a:solidFill>
                  <a:srgbClr val="5C7080"/>
                </a:solidFill>
                <a:latin typeface="Calibri" pitchFamily="34" charset="0"/>
                <a:ea typeface="Calibri" pitchFamily="34" charset="-122"/>
                <a:cs typeface="Calibri" pitchFamily="34" charset="-120"/>
              </a:rPr>
              <a:t>Stops are sequenced automatically</a:t>
            </a:r>
            <a:endParaRPr lang="en-US" sz="1150" dirty="0"/>
          </a:p>
        </p:txBody>
      </p:sp>
      <p:graphicFrame>
        <p:nvGraphicFramePr>
          <p:cNvPr id="16" name="Chart 0" descr=""/>
          <p:cNvGraphicFramePr/>
          <p:nvPr/>
        </p:nvGraphicFramePr>
        <p:xfrm>
          <a:off x="640080" y="3200400"/>
          <a:ext cx="6492240" cy="260604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7406640" y="3200400"/>
            <a:ext cx="4160520" cy="2606040"/>
          </a:xfrm>
          <a:prstGeom prst="roundRect">
            <a:avLst>
              <a:gd name="adj" fmla="val 3158"/>
            </a:avLst>
          </a:prstGeom>
          <a:solidFill>
            <a:srgbClr val="0A2540"/>
          </a:solidFill>
          <a:ln w="12700">
            <a:solidFill>
              <a:srgbClr val="0A2540"/>
            </a:solidFill>
            <a:prstDash val="solid"/>
          </a:ln>
        </p:spPr>
      </p:sp>
      <p:sp>
        <p:nvSpPr>
          <p:cNvPr id="18" name="Text 15"/>
          <p:cNvSpPr/>
          <p:nvPr/>
        </p:nvSpPr>
        <p:spPr>
          <a:xfrm>
            <a:off x="7680960" y="3429000"/>
            <a:ext cx="3657600" cy="8686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+40</a:t>
            </a:r>
            <a:pPr indent="0" marL="0">
              <a:buNone/>
            </a:pPr>
            <a:r>
              <a:rPr lang="en-US" sz="2800" b="1" dirty="0">
                <a:solidFill>
                  <a:srgbClr val="02C39A"/>
                </a:solidFill>
                <a:latin typeface="Cambria" pitchFamily="34" charset="0"/>
                <a:ea typeface="Cambria" pitchFamily="34" charset="-122"/>
                <a:cs typeface="Cambria" pitchFamily="34" charset="-120"/>
              </a:rPr>
              <a:t>%</a:t>
            </a:r>
            <a:endParaRPr lang="en-US" sz="5400" dirty="0"/>
          </a:p>
        </p:txBody>
      </p:sp>
      <p:sp>
        <p:nvSpPr>
          <p:cNvPr id="19" name="Text 16"/>
          <p:cNvSpPr/>
          <p:nvPr/>
        </p:nvSpPr>
        <p:spPr>
          <a:xfrm>
            <a:off x="7699248" y="4315968"/>
            <a:ext cx="3657600" cy="274320"/>
          </a:xfrm>
          <a:prstGeom prst="rect">
            <a:avLst/>
          </a:prstGeom>
          <a:noFill/>
          <a:ln/>
        </p:spPr>
        <p:txBody>
          <a:bodyPr wrap="square" lIns="0" tIns="0" rIns="0" bIns="0" rtlCol="0" anchor="ctr"/>
          <a:lstStyle/>
          <a:p>
            <a:pPr indent="0" marL="0">
              <a:buNone/>
            </a:pPr>
            <a:r>
              <a:rPr lang="en-US" sz="1300" b="1" dirty="0">
                <a:solidFill>
                  <a:srgbClr val="8ECAE6"/>
                </a:solidFill>
                <a:latin typeface="Calibri" pitchFamily="34" charset="0"/>
                <a:ea typeface="Calibri" pitchFamily="34" charset="-122"/>
                <a:cs typeface="Calibri" pitchFamily="34" charset="-120"/>
              </a:rPr>
              <a:t>performance growth target</a:t>
            </a:r>
            <a:endParaRPr lang="en-US" sz="1300" dirty="0"/>
          </a:p>
        </p:txBody>
      </p:sp>
      <p:sp>
        <p:nvSpPr>
          <p:cNvPr id="20" name="Text 17"/>
          <p:cNvSpPr/>
          <p:nvPr/>
        </p:nvSpPr>
        <p:spPr>
          <a:xfrm>
            <a:off x="7699248" y="4663440"/>
            <a:ext cx="3611880" cy="1005840"/>
          </a:xfrm>
          <a:prstGeom prst="rect">
            <a:avLst/>
          </a:prstGeom>
          <a:noFill/>
          <a:ln/>
        </p:spPr>
        <p:txBody>
          <a:bodyPr wrap="square" lIns="0" tIns="0" rIns="0" bIns="0" rtlCol="0" anchor="ctr"/>
          <a:lstStyle/>
          <a:p>
            <a:pPr indent="0" marL="0">
              <a:lnSpc>
                <a:spcPts val="1700"/>
              </a:lnSpc>
              <a:buNone/>
            </a:pPr>
            <a:r>
              <a:rPr lang="en-US" sz="1200" dirty="0">
                <a:solidFill>
                  <a:srgbClr val="C6D6E1"/>
                </a:solidFill>
                <a:latin typeface="Calibri" pitchFamily="34" charset="0"/>
                <a:ea typeface="Calibri" pitchFamily="34" charset="-122"/>
                <a:cs typeface="Calibri" pitchFamily="34" charset="-120"/>
              </a:rPr>
              <a:t>Time saved on writing and computing is converted directly into more orders served and more containers collected on the same shift.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1737360" y="3108960"/>
            <a:ext cx="5669280" cy="5669280"/>
          </a:xfrm>
          <a:prstGeom prst="ellipse">
            <a:avLst/>
          </a:prstGeom>
          <a:solidFill>
            <a:srgbClr val="065A82">
              <a:alpha val="40000"/>
            </a:srgbClr>
          </a:solidFill>
          <a:ln w="12700">
            <a:solidFill>
              <a:srgbClr val="065A82">
                <a:alpha val="40000"/>
              </a:srgbClr>
            </a:solidFill>
            <a:prstDash val="solid"/>
          </a:ln>
        </p:spPr>
      </p:sp>
      <p:sp>
        <p:nvSpPr>
          <p:cNvPr id="3" name="Shape 1"/>
          <p:cNvSpPr/>
          <p:nvPr/>
        </p:nvSpPr>
        <p:spPr>
          <a:xfrm>
            <a:off x="9692640" y="-1097280"/>
            <a:ext cx="4206240" cy="4206240"/>
          </a:xfrm>
          <a:prstGeom prst="ellipse">
            <a:avLst/>
          </a:prstGeom>
          <a:solidFill>
            <a:srgbClr val="1C7293">
              <a:alpha val="38000"/>
            </a:srgbClr>
          </a:solidFill>
          <a:ln w="12700">
            <a:solidFill>
              <a:srgbClr val="1C7293">
                <a:alpha val="38000"/>
              </a:srgbClr>
            </a:solidFill>
            <a:prstDash val="solid"/>
          </a:ln>
        </p:spPr>
      </p:sp>
      <p:sp>
        <p:nvSpPr>
          <p:cNvPr id="4" name="Text 2"/>
          <p:cNvSpPr/>
          <p:nvPr/>
        </p:nvSpPr>
        <p:spPr>
          <a:xfrm>
            <a:off x="1005840" y="1920240"/>
            <a:ext cx="7315200" cy="320040"/>
          </a:xfrm>
          <a:prstGeom prst="rect">
            <a:avLst/>
          </a:prstGeom>
          <a:noFill/>
          <a:ln/>
        </p:spPr>
        <p:txBody>
          <a:bodyPr wrap="square" lIns="0" tIns="0" rIns="0" bIns="0" rtlCol="0" anchor="ctr"/>
          <a:lstStyle/>
          <a:p>
            <a:pPr indent="0" marL="0">
              <a:buNone/>
            </a:pPr>
            <a:r>
              <a:rPr lang="en-US" sz="1300" b="1" spc="350" kern="0" dirty="0">
                <a:solidFill>
                  <a:srgbClr val="02C39A"/>
                </a:solidFill>
                <a:latin typeface="Calibri" pitchFamily="34" charset="0"/>
                <a:ea typeface="Calibri" pitchFamily="34" charset="-122"/>
                <a:cs typeface="Calibri" pitchFamily="34" charset="-120"/>
              </a:rPr>
              <a:t>ONE CLICK AWAY</a:t>
            </a:r>
            <a:endParaRPr lang="en-US" sz="1300" dirty="0"/>
          </a:p>
        </p:txBody>
      </p:sp>
      <p:sp>
        <p:nvSpPr>
          <p:cNvPr id="5" name="Text 3"/>
          <p:cNvSpPr/>
          <p:nvPr/>
        </p:nvSpPr>
        <p:spPr>
          <a:xfrm>
            <a:off x="1005840" y="2377440"/>
            <a:ext cx="960120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Streamline the hassle of the inputs.</a:t>
            </a:r>
            <a:endParaRPr lang="en-US" sz="4000" dirty="0"/>
          </a:p>
        </p:txBody>
      </p:sp>
      <p:sp>
        <p:nvSpPr>
          <p:cNvPr id="6" name="Text 4"/>
          <p:cNvSpPr/>
          <p:nvPr/>
        </p:nvSpPr>
        <p:spPr>
          <a:xfrm>
            <a:off x="1005840" y="3886200"/>
            <a:ext cx="8595360" cy="731520"/>
          </a:xfrm>
          <a:prstGeom prst="rect">
            <a:avLst/>
          </a:prstGeom>
          <a:noFill/>
          <a:ln/>
        </p:spPr>
        <p:txBody>
          <a:bodyPr wrap="square" lIns="0" tIns="0" rIns="0" bIns="0" rtlCol="0" anchor="ctr"/>
          <a:lstStyle/>
          <a:p>
            <a:pPr indent="0" marL="0">
              <a:lnSpc>
                <a:spcPts val="2400"/>
              </a:lnSpc>
              <a:buNone/>
            </a:pPr>
            <a:r>
              <a:rPr lang="en-US" sz="1600" dirty="0">
                <a:solidFill>
                  <a:srgbClr val="8ECAE6"/>
                </a:solidFill>
                <a:latin typeface="Calibri" pitchFamily="34" charset="0"/>
                <a:ea typeface="Calibri" pitchFamily="34" charset="-122"/>
                <a:cs typeface="Calibri" pitchFamily="34" charset="-120"/>
              </a:rPr>
              <a:t>Orders, deliveries, container pickups, photo counting and receipts — handled in one mobile app for LG Nature's Water.</a:t>
            </a:r>
            <a:endParaRPr lang="en-US" sz="1600" dirty="0"/>
          </a:p>
        </p:txBody>
      </p:sp>
      <p:sp>
        <p:nvSpPr>
          <p:cNvPr id="7" name="Shape 5"/>
          <p:cNvSpPr/>
          <p:nvPr/>
        </p:nvSpPr>
        <p:spPr>
          <a:xfrm>
            <a:off x="1005840" y="4846320"/>
            <a:ext cx="1947672" cy="457200"/>
          </a:xfrm>
          <a:prstGeom prst="roundRect">
            <a:avLst>
              <a:gd name="adj" fmla="val 20000"/>
            </a:avLst>
          </a:prstGeom>
          <a:solidFill>
            <a:srgbClr val="FFFFFF">
              <a:alpha val="12000"/>
            </a:srgbClr>
          </a:solidFill>
          <a:ln w="12700">
            <a:solidFill>
              <a:srgbClr val="3A5C74"/>
            </a:solidFill>
            <a:prstDash val="solid"/>
          </a:ln>
        </p:spPr>
      </p:sp>
      <p:sp>
        <p:nvSpPr>
          <p:cNvPr id="8" name="Text 6"/>
          <p:cNvSpPr/>
          <p:nvPr/>
        </p:nvSpPr>
        <p:spPr>
          <a:xfrm>
            <a:off x="1005840" y="4846320"/>
            <a:ext cx="1947672"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Streamlined orders</a:t>
            </a:r>
            <a:endParaRPr lang="en-US" sz="1150" dirty="0"/>
          </a:p>
        </p:txBody>
      </p:sp>
      <p:sp>
        <p:nvSpPr>
          <p:cNvPr id="9" name="Shape 7"/>
          <p:cNvSpPr/>
          <p:nvPr/>
        </p:nvSpPr>
        <p:spPr>
          <a:xfrm>
            <a:off x="3154680" y="4846320"/>
            <a:ext cx="2427732" cy="457200"/>
          </a:xfrm>
          <a:prstGeom prst="roundRect">
            <a:avLst>
              <a:gd name="adj" fmla="val 20000"/>
            </a:avLst>
          </a:prstGeom>
          <a:solidFill>
            <a:srgbClr val="FFFFFF">
              <a:alpha val="12000"/>
            </a:srgbClr>
          </a:solidFill>
          <a:ln w="12700">
            <a:solidFill>
              <a:srgbClr val="3A5C74"/>
            </a:solidFill>
            <a:prstDash val="solid"/>
          </a:ln>
        </p:spPr>
      </p:sp>
      <p:sp>
        <p:nvSpPr>
          <p:cNvPr id="10" name="Text 8"/>
          <p:cNvSpPr/>
          <p:nvPr/>
        </p:nvSpPr>
        <p:spPr>
          <a:xfrm>
            <a:off x="3154680" y="4846320"/>
            <a:ext cx="2427732"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Nearest-station routing</a:t>
            </a:r>
            <a:endParaRPr lang="en-US" sz="1150" dirty="0"/>
          </a:p>
        </p:txBody>
      </p:sp>
      <p:sp>
        <p:nvSpPr>
          <p:cNvPr id="11" name="Shape 9"/>
          <p:cNvSpPr/>
          <p:nvPr/>
        </p:nvSpPr>
        <p:spPr>
          <a:xfrm>
            <a:off x="5783580" y="4846320"/>
            <a:ext cx="1851660" cy="457200"/>
          </a:xfrm>
          <a:prstGeom prst="roundRect">
            <a:avLst>
              <a:gd name="adj" fmla="val 20000"/>
            </a:avLst>
          </a:prstGeom>
          <a:solidFill>
            <a:srgbClr val="FFFFFF">
              <a:alpha val="12000"/>
            </a:srgbClr>
          </a:solidFill>
          <a:ln w="12700">
            <a:solidFill>
              <a:srgbClr val="3A5C74"/>
            </a:solidFill>
            <a:prstDash val="solid"/>
          </a:ln>
        </p:spPr>
      </p:sp>
      <p:sp>
        <p:nvSpPr>
          <p:cNvPr id="12" name="Text 10"/>
          <p:cNvSpPr/>
          <p:nvPr/>
        </p:nvSpPr>
        <p:spPr>
          <a:xfrm>
            <a:off x="5783580" y="4846320"/>
            <a:ext cx="1851660"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Scheduled pickups</a:t>
            </a:r>
            <a:endParaRPr lang="en-US" sz="1150" dirty="0"/>
          </a:p>
        </p:txBody>
      </p:sp>
      <p:sp>
        <p:nvSpPr>
          <p:cNvPr id="13" name="Shape 11"/>
          <p:cNvSpPr/>
          <p:nvPr/>
        </p:nvSpPr>
        <p:spPr>
          <a:xfrm>
            <a:off x="1005840" y="5440680"/>
            <a:ext cx="2235708" cy="457200"/>
          </a:xfrm>
          <a:prstGeom prst="roundRect">
            <a:avLst>
              <a:gd name="adj" fmla="val 20000"/>
            </a:avLst>
          </a:prstGeom>
          <a:solidFill>
            <a:srgbClr val="FFFFFF">
              <a:alpha val="12000"/>
            </a:srgbClr>
          </a:solidFill>
          <a:ln w="12700">
            <a:solidFill>
              <a:srgbClr val="3A5C74"/>
            </a:solidFill>
            <a:prstDash val="solid"/>
          </a:ln>
        </p:spPr>
      </p:sp>
      <p:sp>
        <p:nvSpPr>
          <p:cNvPr id="14" name="Text 12"/>
          <p:cNvSpPr/>
          <p:nvPr/>
        </p:nvSpPr>
        <p:spPr>
          <a:xfrm>
            <a:off x="1005840" y="5440680"/>
            <a:ext cx="2235708"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Photo container count</a:t>
            </a:r>
            <a:endParaRPr lang="en-US" sz="1150" dirty="0"/>
          </a:p>
        </p:txBody>
      </p:sp>
      <p:sp>
        <p:nvSpPr>
          <p:cNvPr id="15" name="Shape 13"/>
          <p:cNvSpPr/>
          <p:nvPr/>
        </p:nvSpPr>
        <p:spPr>
          <a:xfrm>
            <a:off x="3442716" y="5440680"/>
            <a:ext cx="1563624" cy="457200"/>
          </a:xfrm>
          <a:prstGeom prst="roundRect">
            <a:avLst>
              <a:gd name="adj" fmla="val 20000"/>
            </a:avLst>
          </a:prstGeom>
          <a:solidFill>
            <a:srgbClr val="FFFFFF">
              <a:alpha val="12000"/>
            </a:srgbClr>
          </a:solidFill>
          <a:ln w="12700">
            <a:solidFill>
              <a:srgbClr val="3A5C74"/>
            </a:solidFill>
            <a:prstDash val="solid"/>
          </a:ln>
        </p:spPr>
      </p:sp>
      <p:sp>
        <p:nvSpPr>
          <p:cNvPr id="16" name="Text 14"/>
          <p:cNvSpPr/>
          <p:nvPr/>
        </p:nvSpPr>
        <p:spPr>
          <a:xfrm>
            <a:off x="3442716" y="5440680"/>
            <a:ext cx="1563624"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Auto invoicing</a:t>
            </a:r>
            <a:endParaRPr lang="en-US" sz="1150" dirty="0"/>
          </a:p>
        </p:txBody>
      </p:sp>
      <p:sp>
        <p:nvSpPr>
          <p:cNvPr id="17" name="Shape 15"/>
          <p:cNvSpPr/>
          <p:nvPr/>
        </p:nvSpPr>
        <p:spPr>
          <a:xfrm>
            <a:off x="5207508" y="5440680"/>
            <a:ext cx="1563624" cy="457200"/>
          </a:xfrm>
          <a:prstGeom prst="roundRect">
            <a:avLst>
              <a:gd name="adj" fmla="val 20000"/>
            </a:avLst>
          </a:prstGeom>
          <a:solidFill>
            <a:srgbClr val="FFFFFF">
              <a:alpha val="12000"/>
            </a:srgbClr>
          </a:solidFill>
          <a:ln w="12700">
            <a:solidFill>
              <a:srgbClr val="3A5C74"/>
            </a:solidFill>
            <a:prstDash val="solid"/>
          </a:ln>
        </p:spPr>
      </p:sp>
      <p:sp>
        <p:nvSpPr>
          <p:cNvPr id="18" name="Text 16"/>
          <p:cNvSpPr/>
          <p:nvPr/>
        </p:nvSpPr>
        <p:spPr>
          <a:xfrm>
            <a:off x="5207508" y="5440680"/>
            <a:ext cx="1563624"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Smart receipts</a:t>
            </a:r>
            <a:endParaRPr lang="en-US" sz="1150" dirty="0"/>
          </a:p>
        </p:txBody>
      </p:sp>
      <p:sp>
        <p:nvSpPr>
          <p:cNvPr id="19" name="Shape 17"/>
          <p:cNvSpPr/>
          <p:nvPr/>
        </p:nvSpPr>
        <p:spPr>
          <a:xfrm>
            <a:off x="6972300" y="5440680"/>
            <a:ext cx="2139696" cy="457200"/>
          </a:xfrm>
          <a:prstGeom prst="roundRect">
            <a:avLst>
              <a:gd name="adj" fmla="val 20000"/>
            </a:avLst>
          </a:prstGeom>
          <a:solidFill>
            <a:srgbClr val="FFFFFF">
              <a:alpha val="12000"/>
            </a:srgbClr>
          </a:solidFill>
          <a:ln w="12700">
            <a:solidFill>
              <a:srgbClr val="3A5C74"/>
            </a:solidFill>
            <a:prstDash val="solid"/>
          </a:ln>
        </p:spPr>
      </p:sp>
      <p:sp>
        <p:nvSpPr>
          <p:cNvPr id="20" name="Text 18"/>
          <p:cNvSpPr/>
          <p:nvPr/>
        </p:nvSpPr>
        <p:spPr>
          <a:xfrm>
            <a:off x="6972300" y="5440680"/>
            <a:ext cx="2139696" cy="4572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Live profit tracking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Reimagining Water Delivery Operations</dc:title>
  <dc:subject>PptxGenJS Presentation</dc:subject>
  <dc:creator>LG Nature's Water</dc:creator>
  <cp:lastModifiedBy>LG Nature's Water</cp:lastModifiedBy>
  <cp:revision>1</cp:revision>
  <dcterms:created xsi:type="dcterms:W3CDTF">2026-08-20T06:47:02Z</dcterms:created>
  <dcterms:modified xsi:type="dcterms:W3CDTF">2026-08-20T06:47:02Z</dcterms:modified>
</cp:coreProperties>
</file>