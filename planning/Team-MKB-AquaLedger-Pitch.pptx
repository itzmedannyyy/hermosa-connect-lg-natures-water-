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1st Trip (Planned)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Sheet1!$A$2:$A$5</c:f>
              <c:strCache>
                <c:ptCount val="4"/>
                <c:pt idx="0">
                  <c:v>Culis</c:v>
                </c:pt>
                <c:pt idx="1">
                  <c:v>San Pedro</c:v>
                </c:pt>
                <c:pt idx="2">
                  <c:v>Palihan</c:v>
                </c:pt>
                <c:pt idx="3">
                  <c:v>Daungan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4.0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Repeat Trip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Sheet1!$A$2:$A$5</c:f>
              <c:strCache>
                <c:ptCount val="4"/>
                <c:pt idx="0">
                  <c:v>Culis</c:v>
                </c:pt>
                <c:pt idx="1">
                  <c:v>San Pedro</c:v>
                </c:pt>
                <c:pt idx="2">
                  <c:v>Palihan</c:v>
                </c:pt>
                <c:pt idx="3">
                  <c:v>Daungan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6.4</c:v>
                </c:pt>
                <c:pt idx="1">
                  <c:v>7.8</c:v>
                </c:pt>
                <c:pt idx="2">
                  <c:v>6.8</c:v>
                </c:pt>
                <c:pt idx="3">
                  <c:v>8.6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Manual per Row (Mins)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Sheet1!$A$2:$A$4</c:f>
              <c:strCache>
                <c:ptCount val="3"/>
                <c:pt idx="0">
                  <c:v>Count Gallons</c:v>
                </c:pt>
                <c:pt idx="1">
                  <c:v>Calculate Total Cost</c:v>
                </c:pt>
                <c:pt idx="2">
                  <c:v>Total Daily Audit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65</c:v>
                </c:pt>
                <c:pt idx="2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AquaLedger (Mins)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Sheet1!$A$2:$A$4</c:f>
              <c:strCache>
                <c:ptCount val="3"/>
                <c:pt idx="0">
                  <c:v>Count Gallons</c:v>
                </c:pt>
                <c:pt idx="1">
                  <c:v>Calculate Total Cost</c:v>
                </c:pt>
                <c:pt idx="2">
                  <c:v>Total Daily Audit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Gallons Bought</c:v>
                </c:pt>
              </c:strCache>
            </c:strRef>
          </c:tx>
          <c:spPr>
            <a:solidFill>
              <a:srgbClr val="0284C7"/>
            </a:solidFill>
          </c:spPr>
          <c:cat>
            <c:strRef>
              <c:f>Sheet1!$A$2:$A$15</c:f>
              <c:strCache>
                <c:ptCount val="14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</c:v>
                </c:pt>
                <c:pt idx="1">
                  <c:v>0</c:v>
                </c:pt>
                <c:pt idx="2">
                  <c:v>5</c:v>
                </c:pt>
                <c:pt idx="3">
                  <c:v>0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everyone, we are Team MKB — Merge, Knowledge and Build. Our system for LG Nature's Water is called AquaLedger.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1: Riders often forget why a Barangay in their route pattern isn't checked on the checklist, requiring manual confirmation with the operator. When they forget to traverse a Barangay, customers re-order and the rider drives back a second time—wasting double the fuel.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2: Hard auditing. When pickup customers pay, the operator manually monitors row by row per customer to calculate how many gallons they got and the total cost. This takes 2 full hours of manual work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Problem: LG lends gallons in exchange for exclusive refills. Because buying patterns vary, some customers don't refill for 1 to 2 weeks—which is suspicious and means they may be stabbing LG behind its back by refilling at another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solution, AquaLedger, solves all three: 1) Barangay Route Gate stops missed routes and extra fuel, 2) Auto Row Calculator turns the 2-hour audit into 5 seconds, and 3) 14-Day Idle Alert flags customers who don't buy for 1–2 weeks so lent gallons are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AquaLedger stops missed Barangay routes, saves 2 hours of daily row auditing, and protects lent gallons. We, the Team MKB, will Merge and Evaluate by Our Knowledge and Build Solution.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 i="0">
                <a:solidFill>
                  <a:srgbClr val="0284C7"/>
                </a:solidFill>
                <a:latin typeface="Segoe UI"/>
              </a:defRPr>
            </a:pPr>
            <a:r>
              <a:t>LG Nature's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0574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6800" b="1" i="0">
                <a:solidFill>
                  <a:srgbClr val="0F172A"/>
                </a:solidFill>
                <a:latin typeface="Segoe UI"/>
              </a:defRPr>
            </a:pPr>
            <a:r>
              <a:t>AquaLedger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49039"/>
            <a:ext cx="101498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3200" b="1" i="0">
                <a:solidFill>
                  <a:srgbClr val="0F172A"/>
                </a:solidFill>
                <a:latin typeface="Segoe UI"/>
              </a:defRPr>
            </a:pPr>
            <a:r>
              <a:t>Team MKB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0" i="0">
                <a:solidFill>
                  <a:srgbClr val="64748B"/>
                </a:solidFill>
                <a:latin typeface="Segoe UI"/>
              </a:defRPr>
            </a:pPr>
            <a:r>
              <a:t>Merge, Knowledge and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2800" b="1" i="0">
                <a:solidFill>
                  <a:srgbClr val="0F172A"/>
                </a:solidFill>
                <a:latin typeface="Segoe UI"/>
              </a:defRPr>
            </a:pPr>
            <a:r>
              <a:t>Riders leave Barangay routes unchecked, doubling fuel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17220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Team MKB  |  AquaLedger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6309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Unchecked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Riders forget or cannot explain why assigned Barangays are unchecked.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Operator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Riders must manually comply with the operator to verify missed routes.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Extra Fuel Wasted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Forgotten traverses force a second delivery trip when customers re-order.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Fuel Used per Barangay Route (Liters)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26480" y="2377440"/>
          <a:ext cx="52120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2800" b="1" i="0">
                <a:solidFill>
                  <a:srgbClr val="0F172A"/>
                </a:solidFill>
                <a:latin typeface="Segoe UI"/>
              </a:defRPr>
            </a:pPr>
            <a:r>
              <a:t>Manual row-by-row auditing takes 2 hours every 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17220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Team MKB  |  AquaLedger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6309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Row-by-Row Checking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Operator manually checks every pickup and delivery customer 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Manual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Counts how many gallons each customer got and computes total cost by 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2 Hours of Work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120 minutes lost every day just reconciling customer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Daily Operator Audit Time (Minutes)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26480" y="2377440"/>
          <a:ext cx="52120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2800" b="1" i="0">
                <a:solidFill>
                  <a:srgbClr val="0F172A"/>
                </a:solidFill>
                <a:latin typeface="Segoe UI"/>
              </a:defRPr>
            </a:pPr>
            <a:r>
              <a:t>1-to-2-week buying gaps expose lent gallons to competitors.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17220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Team MKB  |  AquaLedger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6309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Exclusive Gallon 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LG lends free gallons in exchange for customer exclusivity.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1–2 Week Refill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Versatile buying patterns hide customers who don't buy for 1–2 weeks.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754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Behind-the-Back Refills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4754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Suspicious idle borrowers may be refilling LG's gallons at competitors.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400" b="1" i="0">
                <a:solidFill>
                  <a:srgbClr val="0F172A"/>
                </a:solidFill>
                <a:latin typeface="Segoe UI"/>
              </a:defRPr>
            </a:pPr>
            <a:r>
              <a:t>Customer Holding 8 Lent Gallons (Daily Refills)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26480" y="2377440"/>
          <a:ext cx="52120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2800" b="1" i="0">
                <a:solidFill>
                  <a:srgbClr val="0F172A"/>
                </a:solidFill>
                <a:latin typeface="Segoe UI"/>
              </a:defRPr>
            </a:pPr>
            <a:r>
              <a:t>AquaLedger fixes route checks, row audits, and gallon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17220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Team MKB  |  AquaLedger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6309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3319272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1. Barangay Route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 i="0">
                <a:solidFill>
                  <a:srgbClr val="0284C7"/>
                </a:solidFill>
                <a:latin typeface="Segoe UI"/>
              </a:defRPr>
            </a:pPr>
            <a:r>
              <a:t>Fixes Unchecked Routes &amp; Fuel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154680"/>
            <a:ext cx="27706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27706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Groups stops by Barangay.</a:t>
            </a: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Riders must submit photo proof or a reason code before closing a route—stopping missed traverses and repeat fuel trips.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3319272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28600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2. Auto Row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9748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 i="0">
                <a:solidFill>
                  <a:srgbClr val="0284C7"/>
                </a:solidFill>
                <a:latin typeface="Segoe UI"/>
              </a:defRPr>
            </a:pPr>
            <a:r>
              <a:t>Fixes the 2-Hour Manual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154680"/>
            <a:ext cx="27706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383280"/>
            <a:ext cx="27706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Auto-calculates gallons and total cost per customer row on every pickup or delivery payment.</a:t>
            </a: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Cuts 2 hours of auditing down to 5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11680"/>
            <a:ext cx="3319272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2770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3. 14-Day Idle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97480"/>
            <a:ext cx="2770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 i="0">
                <a:solidFill>
                  <a:srgbClr val="0284C7"/>
                </a:solidFill>
                <a:latin typeface="Segoe UI"/>
              </a:defRPr>
            </a:pPr>
            <a:r>
              <a:t>Fixes Lent Gallon Betrayal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154680"/>
            <a:ext cx="27706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27706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Tracks Days 1–31 buying patterns against lent gallons.</a:t>
            </a: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</a:p>
          <a:p>
            <a:pPr algn="l">
              <a:lnSpc>
                <a:spcPct val="135000"/>
              </a:lnSpc>
              <a:defRPr sz="1350" b="0" i="0">
                <a:solidFill>
                  <a:srgbClr val="334155"/>
                </a:solidFill>
                <a:latin typeface="Segoe UI"/>
              </a:defRPr>
            </a:pPr>
            <a:r>
              <a:t>Automatically flags any customer who hasn't refilled in 1–2 weeks for container pull-out.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2800" b="1" i="0">
                <a:solidFill>
                  <a:srgbClr val="0F172A"/>
                </a:solidFill>
                <a:latin typeface="Segoe UI"/>
              </a:defRPr>
            </a:pPr>
            <a:r>
              <a:t>Verified routes. 5-second audits. Protected gallons.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6172200"/>
            <a:ext cx="105430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Team MKB  |  AquaLedger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6309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defRPr sz="1000" b="0" i="0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Zero Skipped Barangays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Riders complete every scheduled route with lower fuel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2 Hours Saved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60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Automatic per-row gallon and cost totals replace manual math.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Protected Lent Gallons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603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 i="0">
                <a:solidFill>
                  <a:srgbClr val="334155"/>
                </a:solidFill>
                <a:latin typeface="Segoe UI"/>
              </a:defRPr>
            </a:pPr>
            <a:r>
              <a:t>Instant alerts on 1–2 week buying gaps stop competitor refills.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43032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15968"/>
            <a:ext cx="99943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2300" b="1" i="0">
                <a:solidFill>
                  <a:srgbClr val="0F172A"/>
                </a:solidFill>
                <a:latin typeface="Segoe UI"/>
              </a:defRPr>
            </a:pPr>
            <a:r>
              <a:t>“We, the Team MKB, will Merge and Evaluate by Our Knowledge and Build Solution.”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9994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defRPr sz="1400" b="1" i="0">
                <a:solidFill>
                  <a:srgbClr val="0284C7"/>
                </a:solidFill>
                <a:latin typeface="Segoe UI"/>
              </a:defRPr>
            </a:pPr>
            <a:r>
              <a:t>Team MKB — Merge, Knowledge and Build   |   AquaLedger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