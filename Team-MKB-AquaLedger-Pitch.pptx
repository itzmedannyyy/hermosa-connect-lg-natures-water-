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[0:00 - 0:35 | SLIDE 1: TITLE &amp; INTRODUCTION]</a:t>
            </a:r>
          </a:p>
          <a:p>
            <a:r>
              <a:t>Good day everyone! We are Team MKB — which stands for Merge, Knowledge, and Build.</a:t>
            </a:r>
          </a:p>
          <a:p>
            <a:r>
              <a:t>Today, we are proud to present our one-word system built specifically from our in-depth operational analysis of LG Nature's Water:</a:t>
            </a:r>
          </a:p>
          <a:p/>
          <a:p>
            <a:r>
              <a:t>"AquaLedger."</a:t>
            </a:r>
          </a:p>
          <a:p/>
          <a:p>
            <a:r>
              <a:t>Why AquaLedger? Because in a water refilling and delivery business, every drop of water, every Barangay route checklist, every customer row audit, and every lent gallon container must be accounted for in one intelligent ledger. Let's walk through what we discovered during our analysis of LG Nature's Water.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[0:35 - 1:25 | SLIDE 2: MAIN PROBLEM #1 — BARANGAY ROUTE CHECKLIST &amp; FUEL WASTE]</a:t>
            </a:r>
          </a:p>
          <a:p>
            <a:r>
              <a:t>Throughout our operational analysis of LG Nature's Water, the first major problem we uncovered happens out on the road with the delivery riders.</a:t>
            </a:r>
          </a:p>
          <a:p/>
          <a:p>
            <a:r>
              <a:t>First, riders have a designated route pattern that includes specific Barangays. However, when they return to the station, certain routes on their checklist are left unchecked — and the rider either forgot or cannot explain why that Barangay was skipped. Because of this, they have to go through a tedious back-and-forth compliance check with the LG Operator just to confirm what happened.</a:t>
            </a:r>
          </a:p>
          <a:p/>
          <a:p>
            <a:r>
              <a:t>Second, because the rider forgot to traverse that Barangay during their normal pattern, the customers in that area end up calling the station to request delivery again. The rider has to drive all the way back to the same Barangay a second time—which directly spikes fuel consumption and wastes valuable delivery hours.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[1:25 - 2:15 | SLIDE 3: MAIN PROBLEM #2 — HARD AUDITING (2 HOURS OF MANUAL WORK)]</a:t>
            </a:r>
          </a:p>
          <a:p>
            <a:r>
              <a:t>Our second main problem is the exhausting manual auditing process at the station counter.</a:t>
            </a:r>
          </a:p>
          <a:p>
            <a:r>
              <a:t>When pickup customers come in to pay and delivery logs come back, the LG Operator has to manually monitor and audit the ledger row by row per customer.</a:t>
            </a:r>
          </a:p>
          <a:p/>
          <a:p>
            <a:r>
              <a:t>Let's highlight this critical finding: It takes roughly TWO HOURS of manual work!</a:t>
            </a:r>
          </a:p>
          <a:p>
            <a:r>
              <a:t>For every single row of a customer, the operator has to manually count how many gallons that customer got and manually calculate what the total cost is. Doing this row by row across dozens of pickup and delivery customers every day eats up 2 full hours of operator time and leaves the business vulnerable to human math mistakes.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[2:15 - 3:00 | SLIDE 4: BONUS PROBLEM — BUYING PATTERNS &amp; GALLON EXCLUSIVITY BETRAYAL]</a:t>
            </a:r>
          </a:p>
          <a:p>
            <a:r>
              <a:t>Now let's talk about our Bonus Problem — which is a silent profit killer for LG Nature's Water.</a:t>
            </a:r>
          </a:p>
          <a:p>
            <a:r>
              <a:t>Customer buying patterns are very versatile, and sometimes a customer won't buy or refill for at least a week or two.</a:t>
            </a:r>
          </a:p>
          <a:p/>
          <a:p>
            <a:r>
              <a:t>Why is this such a big problem? Because LG Nature's Water lends gallons to customers for free in exchange for them being EXCLUSIVE customers of LG Nature's Water!</a:t>
            </a:r>
          </a:p>
          <a:p>
            <a:r>
              <a:t>So when a customer is holding LG's lent gallons, and suddenly goes 1 to 2 weeks without ordering a refill, that is super suspicious. Families don't stop drinking water for two weeks — which means they might be stabbing LG Nature's Water behind its back by using LG's own lent gallons to buy refills from another water station!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[3:00 - 3:40 | SLIDE 5: THE SOLUTION OVERVIEW — AQUALEDGER]</a:t>
            </a:r>
          </a:p>
          <a:p>
            <a:r>
              <a:t>To solve all three of these real-world problems, Team MKB built AquaLedger.</a:t>
            </a:r>
          </a:p>
          <a:p>
            <a:r>
              <a:t>Instead of disconnected paper checklists and manual calculators, AquaLedger synchronizes a Rider Mobile App with an Operator Web POS and Monthly Customer Matrix:</a:t>
            </a:r>
          </a:p>
          <a:p/>
          <a:p>
            <a:r>
              <a:t>1. For Problem #1 (Unchecked Barangay Routes &amp; Fuel Waste): We built a Barangay-Grouped Dispatch Queue &amp; Mandatory Digital Checklist so riders never accidentally skip a Barangay in their pattern or burn double fuel on return trips.</a:t>
            </a:r>
          </a:p>
          <a:p>
            <a:r>
              <a:t>2. For Problem #2 (The 2-Hour Manual Row Audit): We built an Automated Customer Row Ledger &amp; Counter POS that calculates every pickup and delivery customer's gallons and peso totals automatically in real time.</a:t>
            </a:r>
          </a:p>
          <a:p>
            <a:r>
              <a:t>3. For the Bonus Problem (Versatile Buying Patterns &amp; Gallon Betrayal): We built a 31-Day Buying Pattern &amp; Exclusivity Radar that flags any customer holding lent LG gallons who hasn't ordered in 7 to 14 days.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[3:40 - 4:15 | SLIDE 6: SOLUTION DEEP DIVE — ROUTE COMPLIANCE &amp; AUTOMATED AUDITING]</a:t>
            </a:r>
          </a:p>
          <a:p>
            <a:r>
              <a:t>Let's look closer at how AquaLedger solves Problems 1 and 2 in daily operations:</a:t>
            </a:r>
          </a:p>
          <a:p/>
          <a:p>
            <a:r>
              <a:t>On the left, Module 1 is our Barangay Route &amp; Checklist Enforcer. Orders are sorted directly by Barangay and fleet vehicle (Foton or Sidecar). The mobile app shows live pending counts per Barangay and requires either a verified delivery receipt or an operator-approved exception code before a rider leaves a Barangay. That means no more unexplained blank checklists and no more wasted fuel driving back for missed customers.</a:t>
            </a:r>
          </a:p>
          <a:p/>
          <a:p>
            <a:r>
              <a:t>On the right, Module 2 eliminates the 2-hour manual auditing bottleneck. Whether it's a pickup customer paying at the counter or a delivery order closing on the road, AquaLedger automatically populates the customer's row with the exact gallon count and total cost. What used to take the operator 2 hours of row-by-row calculator work now happens automatically in 5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[4:15 - 4:40 | SLIDE 7: SOLUTION DEEP DIVE — BUYING PATTERN MATRIX &amp; GALLON EXCLUSIVITY GUARD]</a:t>
            </a:r>
          </a:p>
          <a:p>
            <a:r>
              <a:t>And how does AquaLedger solve the Bonus Problem of versatile buying patterns and borrowed-gallon betrayal?</a:t>
            </a:r>
          </a:p>
          <a:p>
            <a:r>
              <a:t>Our 31-Day Buying Pattern Matrix tracks every customer's daily refill activity side-by-side with how many lent LG gallons they hold.</a:t>
            </a:r>
          </a:p>
          <a:p/>
          <a:p>
            <a:r>
              <a:t>Look at Row 2 and Row 3 in the matrix: if a customer holds 8 or 10 lent LG gallons and suddenly goes 1 to 2 weeks with zero orders, AquaLedger automatically triggers a "Suspicious Idle" or "Exclusivity Breach Alert."</a:t>
            </a:r>
          </a:p>
          <a:p>
            <a:r>
              <a:t>Instead of being stabbed in the back while customers refill LG's containers at a competitor, the operator gets an instant alert to follow up with the customer or retrieve LG Nature's Water's lent gallons.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[4:40 - 5:00 | SLIDE 8: CONCLUSION &amp; TEAM MKB TAGLINE]</a:t>
            </a:r>
          </a:p>
          <a:p>
            <a:r>
              <a:t>In conclusion, through our operational analysis of LG Nature's Water, we identified the exact leaks costing the station time, fuel, and container assets—and engineered AquaLedger to solve all three:</a:t>
            </a:r>
          </a:p>
          <a:p>
            <a:r>
              <a:t>- 100% Barangay route checklist compliance with reduced fuel consumption,</a:t>
            </a:r>
          </a:p>
          <a:p>
            <a:r>
              <a:t>- Turning a exhausting 2-hour row-by-row manual customer audit into a 1-tap automated ledger, and</a:t>
            </a:r>
          </a:p>
          <a:p>
            <a:r>
              <a:t>- Protecting LG's lent gallons from 1-to-2 week exclusivity breaches.</a:t>
            </a:r>
          </a:p>
          <a:p/>
          <a:p>
            <a:r>
              <a:t>Because at the end of the day:</a:t>
            </a:r>
          </a:p>
          <a:p>
            <a:r>
              <a:t>"We, the Team MKB, will Merge and Evaluate by Our Knowledge and Build Solution."</a:t>
            </a:r>
          </a:p>
          <a:p>
            <a:r>
              <a:t>Thank you, and we are now open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863840" y="731520"/>
            <a:ext cx="3749039" cy="5303520"/>
          </a:xfrm>
          <a:prstGeom prst="roundRect">
            <a:avLst>
              <a:gd name="adj" fmla="val 4000"/>
            </a:avLst>
          </a:prstGeom>
          <a:solidFill>
            <a:srgbClr val="132743"/>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822960"/>
            <a:ext cx="3931920" cy="384048"/>
          </a:xfrm>
          <a:prstGeom prst="roundRect">
            <a:avLst>
              <a:gd name="adj" fmla="val 4000"/>
            </a:avLst>
          </a:prstGeom>
          <a:solidFill>
            <a:srgbClr val="132743"/>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3749039" cy="384048"/>
          </a:xfrm>
          <a:prstGeom prst="rect">
            <a:avLst/>
          </a:prstGeom>
          <a:noFill/>
        </p:spPr>
        <p:txBody>
          <a:bodyPr wrap="square" anchor="ctr" lIns="45720" rIns="45720" tIns="27432" bIns="27432">
            <a:spAutoFit/>
          </a:bodyPr>
          <a:lstStyle/>
          <a:p>
            <a:pPr algn="l">
              <a:defRPr sz="1100" b="1" i="0">
                <a:solidFill>
                  <a:srgbClr val="38BDF8"/>
                </a:solidFill>
                <a:latin typeface="Segoe UI"/>
              </a:defRPr>
            </a:pPr>
            <a:r>
              <a:t>CLIENT CASE STUDY: LG NATURE'S WATER</a:t>
            </a:r>
          </a:p>
        </p:txBody>
      </p:sp>
      <p:sp>
        <p:nvSpPr>
          <p:cNvPr id="7" name="TextBox 6"/>
          <p:cNvSpPr txBox="1"/>
          <p:nvPr/>
        </p:nvSpPr>
        <p:spPr>
          <a:xfrm>
            <a:off x="731520" y="1508760"/>
            <a:ext cx="6858000" cy="365760"/>
          </a:xfrm>
          <a:prstGeom prst="rect">
            <a:avLst/>
          </a:prstGeom>
          <a:noFill/>
        </p:spPr>
        <p:txBody>
          <a:bodyPr wrap="square" anchor="t" lIns="45720" rIns="45720" tIns="27432" bIns="27432">
            <a:spAutoFit/>
          </a:bodyPr>
          <a:lstStyle/>
          <a:p>
            <a:pPr algn="l">
              <a:defRPr sz="1200" b="1" i="0">
                <a:solidFill>
                  <a:srgbClr val="14B8A6"/>
                </a:solidFill>
                <a:latin typeface="Segoe UI"/>
              </a:defRPr>
            </a:pPr>
            <a:r>
              <a:t>PROPOSED SYSTEM (ONE-WORD IDENTITY)</a:t>
            </a:r>
          </a:p>
        </p:txBody>
      </p:sp>
      <p:sp>
        <p:nvSpPr>
          <p:cNvPr id="8" name="TextBox 7"/>
          <p:cNvSpPr txBox="1"/>
          <p:nvPr/>
        </p:nvSpPr>
        <p:spPr>
          <a:xfrm>
            <a:off x="685800" y="1783080"/>
            <a:ext cx="7132320" cy="1234440"/>
          </a:xfrm>
          <a:prstGeom prst="rect">
            <a:avLst/>
          </a:prstGeom>
          <a:noFill/>
        </p:spPr>
        <p:txBody>
          <a:bodyPr wrap="square" anchor="t" lIns="45720" rIns="45720" tIns="27432" bIns="27432">
            <a:spAutoFit/>
          </a:bodyPr>
          <a:lstStyle/>
          <a:p>
            <a:pPr algn="l">
              <a:defRPr sz="6600" b="1" i="0">
                <a:solidFill>
                  <a:srgbClr val="FFFFFF"/>
                </a:solidFill>
                <a:latin typeface="Segoe UI"/>
              </a:defRPr>
            </a:pPr>
            <a:r>
              <a:t>AquaLedger</a:t>
            </a:r>
          </a:p>
        </p:txBody>
      </p:sp>
      <p:sp>
        <p:nvSpPr>
          <p:cNvPr id="9" name="TextBox 8"/>
          <p:cNvSpPr txBox="1"/>
          <p:nvPr/>
        </p:nvSpPr>
        <p:spPr>
          <a:xfrm>
            <a:off x="731520" y="3017520"/>
            <a:ext cx="6766560" cy="731520"/>
          </a:xfrm>
          <a:prstGeom prst="rect">
            <a:avLst/>
          </a:prstGeom>
          <a:noFill/>
        </p:spPr>
        <p:txBody>
          <a:bodyPr wrap="square" anchor="t" lIns="45720" rIns="45720" tIns="27432" bIns="27432">
            <a:spAutoFit/>
          </a:bodyPr>
          <a:lstStyle/>
          <a:p>
            <a:pPr algn="l">
              <a:defRPr sz="1500" b="0" i="0">
                <a:solidFill>
                  <a:srgbClr val="CBD5E1"/>
                </a:solidFill>
                <a:latin typeface="Segoe UI"/>
              </a:defRPr>
            </a:pPr>
            <a:r>
              <a:t>Smart Barangay Route Compliance, Automated Customer Row Auditing,</a:t>
            </a:r>
            <a:br/>
            <a:r>
              <a:t>and Gallon Exclusivity Protection System for LG Nature's Water.</a:t>
            </a:r>
          </a:p>
        </p:txBody>
      </p:sp>
      <p:sp>
        <p:nvSpPr>
          <p:cNvPr id="10" name="Rectangle 9"/>
          <p:cNvSpPr/>
          <p:nvPr/>
        </p:nvSpPr>
        <p:spPr>
          <a:xfrm>
            <a:off x="731520" y="3977639"/>
            <a:ext cx="6583680" cy="2743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160520"/>
            <a:ext cx="6583680" cy="320040"/>
          </a:xfrm>
          <a:prstGeom prst="rect">
            <a:avLst/>
          </a:prstGeom>
          <a:noFill/>
        </p:spPr>
        <p:txBody>
          <a:bodyPr wrap="square" anchor="t" lIns="45720" rIns="45720" tIns="27432" bIns="27432">
            <a:spAutoFit/>
          </a:bodyPr>
          <a:lstStyle/>
          <a:p>
            <a:pPr algn="l">
              <a:defRPr sz="1100" b="1" i="0">
                <a:solidFill>
                  <a:srgbClr val="FBBF24"/>
                </a:solidFill>
                <a:latin typeface="Segoe UI"/>
              </a:defRPr>
            </a:pPr>
            <a:r>
              <a:t>PRESENTED BY</a:t>
            </a:r>
          </a:p>
        </p:txBody>
      </p:sp>
      <p:sp>
        <p:nvSpPr>
          <p:cNvPr id="12" name="TextBox 11"/>
          <p:cNvSpPr txBox="1"/>
          <p:nvPr/>
        </p:nvSpPr>
        <p:spPr>
          <a:xfrm>
            <a:off x="731520" y="4434840"/>
            <a:ext cx="6583680" cy="594360"/>
          </a:xfrm>
          <a:prstGeom prst="rect">
            <a:avLst/>
          </a:prstGeom>
          <a:noFill/>
        </p:spPr>
        <p:txBody>
          <a:bodyPr wrap="square" anchor="t" lIns="45720" rIns="45720" tIns="27432" bIns="27432">
            <a:spAutoFit/>
          </a:bodyPr>
          <a:lstStyle/>
          <a:p>
            <a:pPr algn="l">
              <a:defRPr sz="3600" b="1" i="0">
                <a:solidFill>
                  <a:srgbClr val="FFFFFF"/>
                </a:solidFill>
                <a:latin typeface="Segoe UI"/>
              </a:defRPr>
            </a:pPr>
            <a:r>
              <a:t>Team MKB</a:t>
            </a:r>
          </a:p>
        </p:txBody>
      </p:sp>
      <p:sp>
        <p:nvSpPr>
          <p:cNvPr id="13" name="TextBox 12"/>
          <p:cNvSpPr txBox="1"/>
          <p:nvPr/>
        </p:nvSpPr>
        <p:spPr>
          <a:xfrm>
            <a:off x="731520" y="5029200"/>
            <a:ext cx="6858000" cy="411480"/>
          </a:xfrm>
          <a:prstGeom prst="rect">
            <a:avLst/>
          </a:prstGeom>
          <a:noFill/>
        </p:spPr>
        <p:txBody>
          <a:bodyPr wrap="square" anchor="t" lIns="45720" rIns="45720" tIns="27432" bIns="27432">
            <a:spAutoFit/>
          </a:bodyPr>
          <a:lstStyle/>
          <a:p>
            <a:pPr algn="l">
              <a:defRPr sz="2000" b="1" i="0">
                <a:solidFill>
                  <a:srgbClr val="38BDF8"/>
                </a:solidFill>
                <a:latin typeface="Segoe UI"/>
              </a:defRPr>
            </a:pPr>
            <a:r>
              <a:t>Merge, Knowledge and Build</a:t>
            </a:r>
          </a:p>
        </p:txBody>
      </p:sp>
      <p:sp>
        <p:nvSpPr>
          <p:cNvPr id="14" name="TextBox 13"/>
          <p:cNvSpPr txBox="1"/>
          <p:nvPr/>
        </p:nvSpPr>
        <p:spPr>
          <a:xfrm>
            <a:off x="8183879" y="1051560"/>
            <a:ext cx="3108960" cy="365760"/>
          </a:xfrm>
          <a:prstGeom prst="rect">
            <a:avLst/>
          </a:prstGeom>
          <a:noFill/>
        </p:spPr>
        <p:txBody>
          <a:bodyPr wrap="square" anchor="t" lIns="45720" rIns="45720" tIns="27432" bIns="27432">
            <a:spAutoFit/>
          </a:bodyPr>
          <a:lstStyle/>
          <a:p>
            <a:pPr algn="l">
              <a:defRPr sz="1200" b="1" i="0">
                <a:solidFill>
                  <a:srgbClr val="38BDF8"/>
                </a:solidFill>
                <a:latin typeface="Segoe UI"/>
              </a:defRPr>
            </a:pPr>
            <a:r>
              <a:t>WHAT AQUALEDGER SOLVES</a:t>
            </a:r>
          </a:p>
        </p:txBody>
      </p:sp>
      <p:sp>
        <p:nvSpPr>
          <p:cNvPr id="15" name="Rounded Rectangle 14"/>
          <p:cNvSpPr/>
          <p:nvPr/>
        </p:nvSpPr>
        <p:spPr>
          <a:xfrm>
            <a:off x="8183879" y="1600200"/>
            <a:ext cx="3108960" cy="1143000"/>
          </a:xfrm>
          <a:prstGeom prst="roundRect">
            <a:avLst>
              <a:gd name="adj" fmla="val 4000"/>
            </a:avLst>
          </a:prstGeom>
          <a:solidFill>
            <a:srgbClr val="0B192C"/>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1709928"/>
            <a:ext cx="2743200" cy="320040"/>
          </a:xfrm>
          <a:prstGeom prst="rect">
            <a:avLst/>
          </a:prstGeom>
          <a:noFill/>
        </p:spPr>
        <p:txBody>
          <a:bodyPr wrap="square" anchor="t" lIns="45720" rIns="45720" tIns="27432" bIns="27432">
            <a:spAutoFit/>
          </a:bodyPr>
          <a:lstStyle/>
          <a:p>
            <a:pPr algn="l">
              <a:defRPr sz="1100" b="1" i="0">
                <a:solidFill>
                  <a:srgbClr val="38BDF8"/>
                </a:solidFill>
                <a:latin typeface="Segoe UI"/>
              </a:defRPr>
            </a:pPr>
            <a:r>
              <a:t>01  BARANGAY ROUTE COMPLIANCE</a:t>
            </a:r>
          </a:p>
        </p:txBody>
      </p:sp>
      <p:sp>
        <p:nvSpPr>
          <p:cNvPr id="17" name="TextBox 16"/>
          <p:cNvSpPr txBox="1"/>
          <p:nvPr/>
        </p:nvSpPr>
        <p:spPr>
          <a:xfrm>
            <a:off x="8366760" y="2011680"/>
            <a:ext cx="2743200" cy="640080"/>
          </a:xfrm>
          <a:prstGeom prst="rect">
            <a:avLst/>
          </a:prstGeom>
          <a:noFill/>
        </p:spPr>
        <p:txBody>
          <a:bodyPr wrap="square" anchor="t" lIns="45720" rIns="45720" tIns="27432" bIns="27432">
            <a:spAutoFit/>
          </a:bodyPr>
          <a:lstStyle/>
          <a:p>
            <a:pPr algn="l">
              <a:defRPr sz="1100" b="0" i="0">
                <a:solidFill>
                  <a:srgbClr val="E2E8F0"/>
                </a:solidFill>
                <a:latin typeface="Segoe UI"/>
              </a:defRPr>
            </a:pPr>
            <a:r>
              <a:t>Stops unchecked routes, operator confirmation friction &amp; repeat-delivery fuel waste.</a:t>
            </a:r>
          </a:p>
        </p:txBody>
      </p:sp>
      <p:sp>
        <p:nvSpPr>
          <p:cNvPr id="18" name="Rounded Rectangle 17"/>
          <p:cNvSpPr/>
          <p:nvPr/>
        </p:nvSpPr>
        <p:spPr>
          <a:xfrm>
            <a:off x="8183879" y="2971800"/>
            <a:ext cx="3108960" cy="1143000"/>
          </a:xfrm>
          <a:prstGeom prst="roundRect">
            <a:avLst>
              <a:gd name="adj" fmla="val 4000"/>
            </a:avLst>
          </a:prstGeom>
          <a:solidFill>
            <a:srgbClr val="0B192C"/>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3081528"/>
            <a:ext cx="2743200" cy="320040"/>
          </a:xfrm>
          <a:prstGeom prst="rect">
            <a:avLst/>
          </a:prstGeom>
          <a:noFill/>
        </p:spPr>
        <p:txBody>
          <a:bodyPr wrap="square" anchor="t" lIns="45720" rIns="45720" tIns="27432" bIns="27432">
            <a:spAutoFit/>
          </a:bodyPr>
          <a:lstStyle/>
          <a:p>
            <a:pPr algn="l">
              <a:defRPr sz="1100" b="1" i="0">
                <a:solidFill>
                  <a:srgbClr val="FBBF24"/>
                </a:solidFill>
                <a:latin typeface="Segoe UI"/>
              </a:defRPr>
            </a:pPr>
            <a:r>
              <a:t>02  INSTANT ROW-BY-ROW AUDITING</a:t>
            </a:r>
          </a:p>
        </p:txBody>
      </p:sp>
      <p:sp>
        <p:nvSpPr>
          <p:cNvPr id="20" name="TextBox 19"/>
          <p:cNvSpPr txBox="1"/>
          <p:nvPr/>
        </p:nvSpPr>
        <p:spPr>
          <a:xfrm>
            <a:off x="8366760" y="3383280"/>
            <a:ext cx="2743200" cy="640080"/>
          </a:xfrm>
          <a:prstGeom prst="rect">
            <a:avLst/>
          </a:prstGeom>
          <a:noFill/>
        </p:spPr>
        <p:txBody>
          <a:bodyPr wrap="square" anchor="t" lIns="45720" rIns="45720" tIns="27432" bIns="27432">
            <a:spAutoFit/>
          </a:bodyPr>
          <a:lstStyle/>
          <a:p>
            <a:pPr algn="l">
              <a:defRPr sz="1100" b="0" i="0">
                <a:solidFill>
                  <a:srgbClr val="E2E8F0"/>
                </a:solidFill>
                <a:latin typeface="Segoe UI"/>
              </a:defRPr>
            </a:pPr>
            <a:r>
              <a:t>Eliminates the 2-hour manual customer calculation &amp; pickup payment tally.</a:t>
            </a:r>
          </a:p>
        </p:txBody>
      </p:sp>
      <p:sp>
        <p:nvSpPr>
          <p:cNvPr id="21" name="Rounded Rectangle 20"/>
          <p:cNvSpPr/>
          <p:nvPr/>
        </p:nvSpPr>
        <p:spPr>
          <a:xfrm>
            <a:off x="8183879" y="4343400"/>
            <a:ext cx="3108960" cy="1143000"/>
          </a:xfrm>
          <a:prstGeom prst="roundRect">
            <a:avLst>
              <a:gd name="adj" fmla="val 4000"/>
            </a:avLst>
          </a:prstGeom>
          <a:solidFill>
            <a:srgbClr val="0B192C"/>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4453128"/>
            <a:ext cx="2743200" cy="320040"/>
          </a:xfrm>
          <a:prstGeom prst="rect">
            <a:avLst/>
          </a:prstGeom>
          <a:noFill/>
        </p:spPr>
        <p:txBody>
          <a:bodyPr wrap="square" anchor="t" lIns="45720" rIns="45720" tIns="27432" bIns="27432">
            <a:spAutoFit/>
          </a:bodyPr>
          <a:lstStyle/>
          <a:p>
            <a:pPr algn="l">
              <a:defRPr sz="1100" b="1" i="0">
                <a:solidFill>
                  <a:srgbClr val="14B8A6"/>
                </a:solidFill>
                <a:latin typeface="Segoe UI"/>
              </a:defRPr>
            </a:pPr>
            <a:r>
              <a:t>03  GALLON EXCLUSIVITY GUARD</a:t>
            </a:r>
          </a:p>
        </p:txBody>
      </p:sp>
      <p:sp>
        <p:nvSpPr>
          <p:cNvPr id="23" name="TextBox 22"/>
          <p:cNvSpPr txBox="1"/>
          <p:nvPr/>
        </p:nvSpPr>
        <p:spPr>
          <a:xfrm>
            <a:off x="8366760" y="4754880"/>
            <a:ext cx="2743200" cy="640080"/>
          </a:xfrm>
          <a:prstGeom prst="rect">
            <a:avLst/>
          </a:prstGeom>
          <a:noFill/>
        </p:spPr>
        <p:txBody>
          <a:bodyPr wrap="square" anchor="t" lIns="45720" rIns="45720" tIns="27432" bIns="27432">
            <a:spAutoFit/>
          </a:bodyPr>
          <a:lstStyle/>
          <a:p>
            <a:pPr algn="l">
              <a:defRPr sz="1100" b="0" i="0">
                <a:solidFill>
                  <a:srgbClr val="E2E8F0"/>
                </a:solidFill>
                <a:latin typeface="Segoe UI"/>
              </a:defRPr>
            </a:pPr>
            <a:r>
              <a:t>Detects 1–2 week buying gaps to protect lent LG gallons from competitor refills.</a:t>
            </a:r>
          </a:p>
        </p:txBody>
      </p:sp>
      <p:sp>
        <p:nvSpPr>
          <p:cNvPr id="24" name="TextBox 23"/>
          <p:cNvSpPr txBox="1"/>
          <p:nvPr/>
        </p:nvSpPr>
        <p:spPr>
          <a:xfrm>
            <a:off x="640080" y="6446520"/>
            <a:ext cx="5943600" cy="274320"/>
          </a:xfrm>
          <a:prstGeom prst="rect">
            <a:avLst/>
          </a:prstGeom>
          <a:noFill/>
        </p:spPr>
        <p:txBody>
          <a:bodyPr wrap="square" anchor="t" lIns="45720" rIns="45720" tIns="27432" bIns="27432">
            <a:spAutoFit/>
          </a:bodyPr>
          <a:lstStyle/>
          <a:p>
            <a:pPr algn="l">
              <a:defRPr sz="950" b="0" i="0">
                <a:solidFill>
                  <a:srgbClr val="94A3B8"/>
                </a:solidFill>
                <a:latin typeface="Segoe UI"/>
              </a:defRPr>
            </a:pPr>
            <a:r>
              <a:t>Team MKB (Merge, Knowledge and Build)  •  AquaLedger for LG Nature's Water</a:t>
            </a:r>
          </a:p>
        </p:txBody>
      </p:sp>
      <p:sp>
        <p:nvSpPr>
          <p:cNvPr id="25" name="TextBox 24"/>
          <p:cNvSpPr txBox="1"/>
          <p:nvPr/>
        </p:nvSpPr>
        <p:spPr>
          <a:xfrm>
            <a:off x="6858000" y="6446520"/>
            <a:ext cx="4663440" cy="274320"/>
          </a:xfrm>
          <a:prstGeom prst="rect">
            <a:avLst/>
          </a:prstGeom>
          <a:noFill/>
        </p:spPr>
        <p:txBody>
          <a:bodyPr wrap="square" anchor="t" lIns="45720" rIns="45720" tIns="27432" bIns="27432">
            <a:spAutoFit/>
          </a:bodyPr>
          <a:lstStyle/>
          <a:p>
            <a:pPr algn="r">
              <a:defRPr sz="950" b="0" i="0">
                <a:solidFill>
                  <a:srgbClr val="94A3B8"/>
                </a:solidFill>
                <a:latin typeface="Segoe UI"/>
              </a:defRPr>
            </a:pPr>
            <a:r>
              <a:t>5-Minute Systems Analysis &amp; Solution Pitch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5486400" cy="320040"/>
          </a:xfrm>
          <a:prstGeom prst="rect">
            <a:avLst/>
          </a:prstGeom>
          <a:noFill/>
        </p:spPr>
        <p:txBody>
          <a:bodyPr wrap="square" anchor="t" lIns="45720" rIns="45720" tIns="27432" bIns="27432">
            <a:spAutoFit/>
          </a:bodyPr>
          <a:lstStyle/>
          <a:p>
            <a:pPr algn="l">
              <a:defRPr sz="1100" b="1" i="0">
                <a:solidFill>
                  <a:srgbClr val="0284C7"/>
                </a:solidFill>
                <a:latin typeface="Segoe UI"/>
              </a:defRPr>
            </a:pPr>
            <a:r>
              <a:t>SYSTEMS ANALYSIS  •  MAIN PROBLEM #1 OF LG NATURE'S WATER</a:t>
            </a:r>
          </a:p>
        </p:txBody>
      </p:sp>
      <p:sp>
        <p:nvSpPr>
          <p:cNvPr id="5" name="Rounded Rectangle 4"/>
          <p:cNvSpPr/>
          <p:nvPr/>
        </p:nvSpPr>
        <p:spPr>
          <a:xfrm>
            <a:off x="9784080" y="292608"/>
            <a:ext cx="1764792" cy="329184"/>
          </a:xfrm>
          <a:prstGeom prst="roundRect">
            <a:avLst>
              <a:gd name="adj" fmla="val 4000"/>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292608"/>
            <a:ext cx="1764792" cy="329184"/>
          </a:xfrm>
          <a:prstGeom prst="rect">
            <a:avLst/>
          </a:prstGeom>
          <a:noFill/>
        </p:spPr>
        <p:txBody>
          <a:bodyPr wrap="square" anchor="ctr" lIns="45720" rIns="45720" tIns="27432" bIns="27432">
            <a:spAutoFit/>
          </a:bodyPr>
          <a:lstStyle/>
          <a:p>
            <a:pPr algn="ctr">
              <a:defRPr sz="950" b="1" i="0">
                <a:solidFill>
                  <a:srgbClr val="334155"/>
                </a:solidFill>
                <a:latin typeface="Segoe UI"/>
              </a:defRPr>
            </a:pPr>
            <a:r>
              <a:t>SLIDE 02  •  0:35 – 1:25</a:t>
            </a:r>
          </a:p>
        </p:txBody>
      </p:sp>
      <p:sp>
        <p:nvSpPr>
          <p:cNvPr id="7" name="TextBox 6"/>
          <p:cNvSpPr txBox="1"/>
          <p:nvPr/>
        </p:nvSpPr>
        <p:spPr>
          <a:xfrm>
            <a:off x="640080" y="594360"/>
            <a:ext cx="10789920" cy="502920"/>
          </a:xfrm>
          <a:prstGeom prst="rect">
            <a:avLst/>
          </a:prstGeom>
          <a:noFill/>
        </p:spPr>
        <p:txBody>
          <a:bodyPr wrap="square" anchor="t" lIns="45720" rIns="45720" tIns="27432" bIns="27432">
            <a:spAutoFit/>
          </a:bodyPr>
          <a:lstStyle/>
          <a:p>
            <a:pPr algn="l">
              <a:defRPr sz="2800" b="1" i="0">
                <a:solidFill>
                  <a:srgbClr val="0F172A"/>
                </a:solidFill>
                <a:latin typeface="Segoe UI"/>
              </a:defRPr>
            </a:pPr>
            <a:r>
              <a:t>Unchecked Barangay Routes &amp; Double Fuel Consumption</a:t>
            </a:r>
          </a:p>
        </p:txBody>
      </p:sp>
      <p:sp>
        <p:nvSpPr>
          <p:cNvPr id="8" name="TextBox 7"/>
          <p:cNvSpPr txBox="1"/>
          <p:nvPr/>
        </p:nvSpPr>
        <p:spPr>
          <a:xfrm>
            <a:off x="640080" y="1115568"/>
            <a:ext cx="10789920" cy="365760"/>
          </a:xfrm>
          <a:prstGeom prst="rect">
            <a:avLst/>
          </a:prstGeom>
          <a:noFill/>
        </p:spPr>
        <p:txBody>
          <a:bodyPr wrap="square" anchor="t" lIns="45720" rIns="45720" tIns="27432" bIns="27432">
            <a:spAutoFit/>
          </a:bodyPr>
          <a:lstStyle/>
          <a:p>
            <a:pPr algn="l">
              <a:defRPr sz="1350" b="0" i="0">
                <a:solidFill>
                  <a:srgbClr val="64748B"/>
                </a:solidFill>
                <a:latin typeface="Segoe UI"/>
              </a:defRPr>
            </a:pPr>
            <a:r>
              <a:t>Throughout our analysis, riders frequently forget or cannot explain unchecked Barangay routes—causing operator friction and costly return trips.</a:t>
            </a:r>
          </a:p>
        </p:txBody>
      </p:sp>
      <p:sp>
        <p:nvSpPr>
          <p:cNvPr id="9" name="Rounded Rectangle 8"/>
          <p:cNvSpPr/>
          <p:nvPr/>
        </p:nvSpPr>
        <p:spPr>
          <a:xfrm>
            <a:off x="640080" y="1691640"/>
            <a:ext cx="6675120" cy="4480560"/>
          </a:xfrm>
          <a:prstGeom prst="roundRect">
            <a:avLst>
              <a:gd name="adj" fmla="val 4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91640"/>
            <a:ext cx="6675120"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691640"/>
            <a:ext cx="6217920" cy="502920"/>
          </a:xfrm>
          <a:prstGeom prst="rect">
            <a:avLst/>
          </a:prstGeom>
          <a:noFill/>
        </p:spPr>
        <p:txBody>
          <a:bodyPr wrap="square" anchor="ctr" lIns="45720" rIns="45720" tIns="27432" bIns="27432">
            <a:spAutoFit/>
          </a:bodyPr>
          <a:lstStyle/>
          <a:p>
            <a:pPr algn="l">
              <a:defRPr sz="1300" b="1" i="0">
                <a:solidFill>
                  <a:srgbClr val="FFFFFF"/>
                </a:solidFill>
                <a:latin typeface="Segoe UI"/>
              </a:defRPr>
            </a:pPr>
            <a:r>
              <a:t>THE FIELD REALITY: WHY ROUTES BREAK DOWN EVERY SHIFT</a:t>
            </a:r>
          </a:p>
        </p:txBody>
      </p:sp>
      <p:sp>
        <p:nvSpPr>
          <p:cNvPr id="12" name="Rectangle 11"/>
          <p:cNvSpPr/>
          <p:nvPr/>
        </p:nvSpPr>
        <p:spPr>
          <a:xfrm>
            <a:off x="868680" y="2377440"/>
            <a:ext cx="109728" cy="9601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78408" y="2377440"/>
            <a:ext cx="6080760" cy="96012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2450592"/>
            <a:ext cx="5760720" cy="292608"/>
          </a:xfrm>
          <a:prstGeom prst="rect">
            <a:avLst/>
          </a:prstGeom>
          <a:noFill/>
        </p:spPr>
        <p:txBody>
          <a:bodyPr wrap="square" anchor="t" lIns="45720" rIns="45720" tIns="27432" bIns="27432">
            <a:spAutoFit/>
          </a:bodyPr>
          <a:lstStyle/>
          <a:p>
            <a:pPr algn="l">
              <a:defRPr sz="1350" b="1" i="0">
                <a:solidFill>
                  <a:srgbClr val="0F172A"/>
                </a:solidFill>
                <a:latin typeface="Segoe UI"/>
              </a:defRPr>
            </a:pPr>
            <a:r>
              <a:t>1. Unchecked Barangay Checklist Without Explanation</a:t>
            </a:r>
          </a:p>
        </p:txBody>
      </p:sp>
      <p:sp>
        <p:nvSpPr>
          <p:cNvPr id="15" name="TextBox 14"/>
          <p:cNvSpPr txBox="1"/>
          <p:nvPr/>
        </p:nvSpPr>
        <p:spPr>
          <a:xfrm>
            <a:off x="1143000" y="2743200"/>
            <a:ext cx="5760720" cy="548640"/>
          </a:xfrm>
          <a:prstGeom prst="rect">
            <a:avLst/>
          </a:prstGeom>
          <a:noFill/>
        </p:spPr>
        <p:txBody>
          <a:bodyPr wrap="square" anchor="t" lIns="45720" rIns="45720" tIns="27432" bIns="27432">
            <a:spAutoFit/>
          </a:bodyPr>
          <a:lstStyle/>
          <a:p>
            <a:pPr algn="l">
              <a:defRPr sz="1150" b="0" i="0">
                <a:solidFill>
                  <a:srgbClr val="334155"/>
                </a:solidFill>
                <a:latin typeface="Segoe UI"/>
              </a:defRPr>
            </a:pPr>
            <a:r>
              <a:t>Riders follow a scheduled Barangay route pattern (via Foton truck or Sidecar), yet regularly return with Barangays left unchecked on their checklist—and cannot explain why that route was missed.</a:t>
            </a:r>
          </a:p>
        </p:txBody>
      </p:sp>
      <p:sp>
        <p:nvSpPr>
          <p:cNvPr id="16" name="Rectangle 15"/>
          <p:cNvSpPr/>
          <p:nvPr/>
        </p:nvSpPr>
        <p:spPr>
          <a:xfrm>
            <a:off x="868680" y="3584448"/>
            <a:ext cx="109728" cy="960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78408" y="3584448"/>
            <a:ext cx="6080760" cy="96012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657600"/>
            <a:ext cx="5760720" cy="292608"/>
          </a:xfrm>
          <a:prstGeom prst="rect">
            <a:avLst/>
          </a:prstGeom>
          <a:noFill/>
        </p:spPr>
        <p:txBody>
          <a:bodyPr wrap="square" anchor="t" lIns="45720" rIns="45720" tIns="27432" bIns="27432">
            <a:spAutoFit/>
          </a:bodyPr>
          <a:lstStyle/>
          <a:p>
            <a:pPr algn="l">
              <a:defRPr sz="1350" b="1" i="0">
                <a:solidFill>
                  <a:srgbClr val="0F172A"/>
                </a:solidFill>
                <a:latin typeface="Segoe UI"/>
              </a:defRPr>
            </a:pPr>
            <a:r>
              <a:t>2. Manual Operator Compliance &amp; Confirmation Bottleneck</a:t>
            </a:r>
          </a:p>
        </p:txBody>
      </p:sp>
      <p:sp>
        <p:nvSpPr>
          <p:cNvPr id="19" name="TextBox 18"/>
          <p:cNvSpPr txBox="1"/>
          <p:nvPr/>
        </p:nvSpPr>
        <p:spPr>
          <a:xfrm>
            <a:off x="1143000" y="3950208"/>
            <a:ext cx="5760720" cy="548640"/>
          </a:xfrm>
          <a:prstGeom prst="rect">
            <a:avLst/>
          </a:prstGeom>
          <a:noFill/>
        </p:spPr>
        <p:txBody>
          <a:bodyPr wrap="square" anchor="t" lIns="45720" rIns="45720" tIns="27432" bIns="27432">
            <a:spAutoFit/>
          </a:bodyPr>
          <a:lstStyle/>
          <a:p>
            <a:pPr algn="l">
              <a:defRPr sz="1150" b="0" i="0">
                <a:solidFill>
                  <a:srgbClr val="334155"/>
                </a:solidFill>
                <a:latin typeface="Segoe UI"/>
              </a:defRPr>
            </a:pPr>
            <a:r>
              <a:t>Because the checklist is incomplete, riders must manually comply with the LG Operator to verify and confirm whether customers in that Barangay were actually visited or skipped.</a:t>
            </a:r>
          </a:p>
        </p:txBody>
      </p:sp>
      <p:sp>
        <p:nvSpPr>
          <p:cNvPr id="20" name="Rectangle 19"/>
          <p:cNvSpPr/>
          <p:nvPr/>
        </p:nvSpPr>
        <p:spPr>
          <a:xfrm>
            <a:off x="868680" y="4791456"/>
            <a:ext cx="109728" cy="9601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8408" y="4791456"/>
            <a:ext cx="6080760" cy="96012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864608"/>
            <a:ext cx="5760720" cy="292608"/>
          </a:xfrm>
          <a:prstGeom prst="rect">
            <a:avLst/>
          </a:prstGeom>
          <a:noFill/>
        </p:spPr>
        <p:txBody>
          <a:bodyPr wrap="square" anchor="t" lIns="45720" rIns="45720" tIns="27432" bIns="27432">
            <a:spAutoFit/>
          </a:bodyPr>
          <a:lstStyle/>
          <a:p>
            <a:pPr algn="l">
              <a:defRPr sz="1350" b="1" i="0">
                <a:solidFill>
                  <a:srgbClr val="0F172A"/>
                </a:solidFill>
                <a:latin typeface="Segoe UI"/>
              </a:defRPr>
            </a:pPr>
            <a:r>
              <a:t>3. Forgotten Traversal = Re-Delivery &amp; Double Fuel Waste</a:t>
            </a:r>
          </a:p>
        </p:txBody>
      </p:sp>
      <p:sp>
        <p:nvSpPr>
          <p:cNvPr id="23" name="TextBox 22"/>
          <p:cNvSpPr txBox="1"/>
          <p:nvPr/>
        </p:nvSpPr>
        <p:spPr>
          <a:xfrm>
            <a:off x="1143000" y="5157216"/>
            <a:ext cx="5760720" cy="548640"/>
          </a:xfrm>
          <a:prstGeom prst="rect">
            <a:avLst/>
          </a:prstGeom>
          <a:noFill/>
        </p:spPr>
        <p:txBody>
          <a:bodyPr wrap="square" anchor="t" lIns="45720" rIns="45720" tIns="27432" bIns="27432">
            <a:spAutoFit/>
          </a:bodyPr>
          <a:lstStyle/>
          <a:p>
            <a:pPr algn="l">
              <a:defRPr sz="1150" b="0" i="0">
                <a:solidFill>
                  <a:srgbClr val="334155"/>
                </a:solidFill>
                <a:latin typeface="Segoe UI"/>
              </a:defRPr>
            </a:pPr>
            <a:r>
              <a:t>When a rider forgets to traverse a scheduled Barangay, customers inevitably call back to request delivery again—forcing the rider to backtrack and burning 2x the fuel.</a:t>
            </a:r>
          </a:p>
        </p:txBody>
      </p:sp>
      <p:sp>
        <p:nvSpPr>
          <p:cNvPr id="24" name="Rounded Rectangle 23"/>
          <p:cNvSpPr/>
          <p:nvPr/>
        </p:nvSpPr>
        <p:spPr>
          <a:xfrm>
            <a:off x="7543800" y="1691640"/>
            <a:ext cx="4005072" cy="4480560"/>
          </a:xfrm>
          <a:prstGeom prst="roundRect">
            <a:avLst>
              <a:gd name="adj" fmla="val 4000"/>
            </a:avLst>
          </a:prstGeom>
          <a:solidFill>
            <a:srgbClr val="0B192C"/>
          </a:solidFill>
          <a:ln w="19050">
            <a:solidFill>
              <a:srgbClr val="1327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0" y="1874519"/>
            <a:ext cx="3566160" cy="320040"/>
          </a:xfrm>
          <a:prstGeom prst="rect">
            <a:avLst/>
          </a:prstGeom>
          <a:noFill/>
        </p:spPr>
        <p:txBody>
          <a:bodyPr wrap="square" anchor="t" lIns="45720" rIns="45720" tIns="27432" bIns="27432">
            <a:spAutoFit/>
          </a:bodyPr>
          <a:lstStyle/>
          <a:p>
            <a:pPr algn="ctr">
              <a:defRPr sz="1200" b="1" i="0">
                <a:solidFill>
                  <a:srgbClr val="FBBF24"/>
                </a:solidFill>
                <a:latin typeface="Segoe UI"/>
              </a:defRPr>
            </a:pPr>
            <a:r>
              <a:t>DOMINO EFFECT OF A MISSED BARANGAY</a:t>
            </a:r>
          </a:p>
        </p:txBody>
      </p:sp>
      <p:sp>
        <p:nvSpPr>
          <p:cNvPr id="26" name="Rounded Rectangle 25"/>
          <p:cNvSpPr/>
          <p:nvPr/>
        </p:nvSpPr>
        <p:spPr>
          <a:xfrm>
            <a:off x="7818120" y="2331720"/>
            <a:ext cx="3456432" cy="777240"/>
          </a:xfrm>
          <a:prstGeom prst="roundRect">
            <a:avLst>
              <a:gd name="adj" fmla="val 4000"/>
            </a:avLst>
          </a:prstGeom>
          <a:solidFill>
            <a:srgbClr val="132743"/>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79" y="2386584"/>
            <a:ext cx="3200400" cy="256032"/>
          </a:xfrm>
          <a:prstGeom prst="rect">
            <a:avLst/>
          </a:prstGeom>
          <a:noFill/>
        </p:spPr>
        <p:txBody>
          <a:bodyPr wrap="square" anchor="t" lIns="45720" rIns="45720" tIns="27432" bIns="27432">
            <a:spAutoFit/>
          </a:bodyPr>
          <a:lstStyle/>
          <a:p>
            <a:pPr algn="l">
              <a:defRPr sz="1050" b="1" i="0">
                <a:solidFill>
                  <a:srgbClr val="38BDF8"/>
                </a:solidFill>
                <a:latin typeface="Segoe UI"/>
              </a:defRPr>
            </a:pPr>
            <a:r>
              <a:t>STEP 1: ASSIGNED ROUTE PATTERN</a:t>
            </a:r>
          </a:p>
        </p:txBody>
      </p:sp>
      <p:sp>
        <p:nvSpPr>
          <p:cNvPr id="28" name="TextBox 27"/>
          <p:cNvSpPr txBox="1"/>
          <p:nvPr/>
        </p:nvSpPr>
        <p:spPr>
          <a:xfrm>
            <a:off x="7955279" y="2633472"/>
            <a:ext cx="3200400" cy="438912"/>
          </a:xfrm>
          <a:prstGeom prst="rect">
            <a:avLst/>
          </a:prstGeom>
          <a:noFill/>
        </p:spPr>
        <p:txBody>
          <a:bodyPr wrap="square" anchor="t" lIns="45720" rIns="45720" tIns="27432" bIns="27432">
            <a:spAutoFit/>
          </a:bodyPr>
          <a:lstStyle/>
          <a:p>
            <a:pPr algn="l">
              <a:defRPr sz="1000" b="0" i="0">
                <a:solidFill>
                  <a:srgbClr val="FFFFFF"/>
                </a:solidFill>
                <a:latin typeface="Segoe UI"/>
              </a:defRPr>
            </a:pPr>
            <a:r>
              <a:t>Barangay included in daily rotation,</a:t>
            </a:r>
            <a:br/>
            <a:r>
              <a:t>but Rider forgets to traverse or check it.</a:t>
            </a:r>
          </a:p>
        </p:txBody>
      </p:sp>
      <p:sp>
        <p:nvSpPr>
          <p:cNvPr id="29" name="Rounded Rectangle 28"/>
          <p:cNvSpPr/>
          <p:nvPr/>
        </p:nvSpPr>
        <p:spPr>
          <a:xfrm>
            <a:off x="7818120" y="3264408"/>
            <a:ext cx="3456432" cy="777240"/>
          </a:xfrm>
          <a:prstGeom prst="roundRect">
            <a:avLst>
              <a:gd name="adj" fmla="val 4000"/>
            </a:avLst>
          </a:prstGeom>
          <a:solidFill>
            <a:srgbClr val="132743"/>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79" y="3319272"/>
            <a:ext cx="3200400" cy="256032"/>
          </a:xfrm>
          <a:prstGeom prst="rect">
            <a:avLst/>
          </a:prstGeom>
          <a:noFill/>
        </p:spPr>
        <p:txBody>
          <a:bodyPr wrap="square" anchor="t" lIns="45720" rIns="45720" tIns="27432" bIns="27432">
            <a:spAutoFit/>
          </a:bodyPr>
          <a:lstStyle/>
          <a:p>
            <a:pPr algn="l">
              <a:defRPr sz="1050" b="1" i="0">
                <a:solidFill>
                  <a:srgbClr val="FBBF24"/>
                </a:solidFill>
                <a:latin typeface="Segoe UI"/>
              </a:defRPr>
            </a:pPr>
            <a:r>
              <a:t>STEP 2: OPERATOR INTERROGATION</a:t>
            </a:r>
          </a:p>
        </p:txBody>
      </p:sp>
      <p:sp>
        <p:nvSpPr>
          <p:cNvPr id="31" name="TextBox 30"/>
          <p:cNvSpPr txBox="1"/>
          <p:nvPr/>
        </p:nvSpPr>
        <p:spPr>
          <a:xfrm>
            <a:off x="7955279" y="3566160"/>
            <a:ext cx="3200400" cy="438912"/>
          </a:xfrm>
          <a:prstGeom prst="rect">
            <a:avLst/>
          </a:prstGeom>
          <a:noFill/>
        </p:spPr>
        <p:txBody>
          <a:bodyPr wrap="square" anchor="t" lIns="45720" rIns="45720" tIns="27432" bIns="27432">
            <a:spAutoFit/>
          </a:bodyPr>
          <a:lstStyle/>
          <a:p>
            <a:pPr algn="l">
              <a:defRPr sz="1000" b="0" i="0">
                <a:solidFill>
                  <a:srgbClr val="FFFFFF"/>
                </a:solidFill>
                <a:latin typeface="Segoe UI"/>
              </a:defRPr>
            </a:pPr>
            <a:r>
              <a:t>Rider can't explain why checklist is blank;</a:t>
            </a:r>
            <a:br/>
            <a:r>
              <a:t>must comply with LG Operator to confirm.</a:t>
            </a:r>
          </a:p>
        </p:txBody>
      </p:sp>
      <p:sp>
        <p:nvSpPr>
          <p:cNvPr id="32" name="Rounded Rectangle 31"/>
          <p:cNvSpPr/>
          <p:nvPr/>
        </p:nvSpPr>
        <p:spPr>
          <a:xfrm>
            <a:off x="7818120" y="4197096"/>
            <a:ext cx="3456432" cy="777240"/>
          </a:xfrm>
          <a:prstGeom prst="roundRect">
            <a:avLst>
              <a:gd name="adj" fmla="val 4000"/>
            </a:avLst>
          </a:prstGeom>
          <a:solidFill>
            <a:srgbClr val="132743"/>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79" y="4251959"/>
            <a:ext cx="3200400" cy="256032"/>
          </a:xfrm>
          <a:prstGeom prst="rect">
            <a:avLst/>
          </a:prstGeom>
          <a:noFill/>
        </p:spPr>
        <p:txBody>
          <a:bodyPr wrap="square" anchor="t" lIns="45720" rIns="45720" tIns="27432" bIns="27432">
            <a:spAutoFit/>
          </a:bodyPr>
          <a:lstStyle/>
          <a:p>
            <a:pPr algn="l">
              <a:defRPr sz="1050" b="1" i="0">
                <a:solidFill>
                  <a:srgbClr val="FCA5A5"/>
                </a:solidFill>
                <a:latin typeface="Segoe UI"/>
              </a:defRPr>
            </a:pPr>
            <a:r>
              <a:t>STEP 3: CUSTOMER RE-REQUESTS</a:t>
            </a:r>
          </a:p>
        </p:txBody>
      </p:sp>
      <p:sp>
        <p:nvSpPr>
          <p:cNvPr id="34" name="TextBox 33"/>
          <p:cNvSpPr txBox="1"/>
          <p:nvPr/>
        </p:nvSpPr>
        <p:spPr>
          <a:xfrm>
            <a:off x="7955279" y="4498848"/>
            <a:ext cx="3200400" cy="438912"/>
          </a:xfrm>
          <a:prstGeom prst="rect">
            <a:avLst/>
          </a:prstGeom>
          <a:noFill/>
        </p:spPr>
        <p:txBody>
          <a:bodyPr wrap="square" anchor="t" lIns="45720" rIns="45720" tIns="27432" bIns="27432">
            <a:spAutoFit/>
          </a:bodyPr>
          <a:lstStyle/>
          <a:p>
            <a:pPr algn="l">
              <a:defRPr sz="1000" b="0" i="0">
                <a:solidFill>
                  <a:srgbClr val="FFFFFF"/>
                </a:solidFill>
                <a:latin typeface="Segoe UI"/>
              </a:defRPr>
            </a:pPr>
            <a:r>
              <a:t>Skipped Barangay customers call station</a:t>
            </a:r>
            <a:br/>
            <a:r>
              <a:t>demanding urgent water delivery.</a:t>
            </a:r>
          </a:p>
        </p:txBody>
      </p:sp>
      <p:sp>
        <p:nvSpPr>
          <p:cNvPr id="35" name="Rounded Rectangle 34"/>
          <p:cNvSpPr/>
          <p:nvPr/>
        </p:nvSpPr>
        <p:spPr>
          <a:xfrm>
            <a:off x="7818120" y="5129783"/>
            <a:ext cx="3456432" cy="777240"/>
          </a:xfrm>
          <a:prstGeom prst="roundRect">
            <a:avLst>
              <a:gd name="adj" fmla="val 4000"/>
            </a:avLst>
          </a:prstGeom>
          <a:solidFill>
            <a:srgbClr val="132743"/>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79" y="5184647"/>
            <a:ext cx="3200400" cy="256032"/>
          </a:xfrm>
          <a:prstGeom prst="rect">
            <a:avLst/>
          </a:prstGeom>
          <a:noFill/>
        </p:spPr>
        <p:txBody>
          <a:bodyPr wrap="square" anchor="t" lIns="45720" rIns="45720" tIns="27432" bIns="27432">
            <a:spAutoFit/>
          </a:bodyPr>
          <a:lstStyle/>
          <a:p>
            <a:pPr algn="l">
              <a:defRPr sz="1050" b="1" i="0">
                <a:solidFill>
                  <a:srgbClr val="DC2626"/>
                </a:solidFill>
                <a:latin typeface="Segoe UI"/>
              </a:defRPr>
            </a:pPr>
            <a:r>
              <a:t>STEP 4: HIGH FUEL CONSUMPTION</a:t>
            </a:r>
          </a:p>
        </p:txBody>
      </p:sp>
      <p:sp>
        <p:nvSpPr>
          <p:cNvPr id="37" name="TextBox 36"/>
          <p:cNvSpPr txBox="1"/>
          <p:nvPr/>
        </p:nvSpPr>
        <p:spPr>
          <a:xfrm>
            <a:off x="7955279" y="5431536"/>
            <a:ext cx="3200400" cy="438912"/>
          </a:xfrm>
          <a:prstGeom prst="rect">
            <a:avLst/>
          </a:prstGeom>
          <a:noFill/>
        </p:spPr>
        <p:txBody>
          <a:bodyPr wrap="square" anchor="t" lIns="45720" rIns="45720" tIns="27432" bIns="27432">
            <a:spAutoFit/>
          </a:bodyPr>
          <a:lstStyle/>
          <a:p>
            <a:pPr algn="l">
              <a:defRPr sz="1000" b="0" i="0">
                <a:solidFill>
                  <a:srgbClr val="FFFFFF"/>
                </a:solidFill>
                <a:latin typeface="Segoe UI"/>
              </a:defRPr>
            </a:pPr>
            <a:r>
              <a:t>Truck/Sidecar dispatches a 2nd time to</a:t>
            </a:r>
            <a:br/>
            <a:r>
              <a:t>the exact same Barangay = Wasted Fuel!</a:t>
            </a:r>
          </a:p>
        </p:txBody>
      </p:sp>
      <p:sp>
        <p:nvSpPr>
          <p:cNvPr id="38" name="TextBox 37"/>
          <p:cNvSpPr txBox="1"/>
          <p:nvPr/>
        </p:nvSpPr>
        <p:spPr>
          <a:xfrm>
            <a:off x="640080" y="6446520"/>
            <a:ext cx="5943600" cy="274320"/>
          </a:xfrm>
          <a:prstGeom prst="rect">
            <a:avLst/>
          </a:prstGeom>
          <a:noFill/>
        </p:spPr>
        <p:txBody>
          <a:bodyPr wrap="square" anchor="t" lIns="45720" rIns="45720" tIns="27432" bIns="27432">
            <a:spAutoFit/>
          </a:bodyPr>
          <a:lstStyle/>
          <a:p>
            <a:pPr algn="l">
              <a:defRPr sz="950" b="0" i="0">
                <a:solidFill>
                  <a:srgbClr val="64748B"/>
                </a:solidFill>
                <a:latin typeface="Segoe UI"/>
              </a:defRPr>
            </a:pPr>
            <a:r>
              <a:t>Team MKB (Merge, Knowledge and Build)  •  AquaLedger for LG Nature's Water</a:t>
            </a:r>
          </a:p>
        </p:txBody>
      </p:sp>
      <p:sp>
        <p:nvSpPr>
          <p:cNvPr id="39" name="TextBox 38"/>
          <p:cNvSpPr txBox="1"/>
          <p:nvPr/>
        </p:nvSpPr>
        <p:spPr>
          <a:xfrm>
            <a:off x="6858000" y="6446520"/>
            <a:ext cx="4663440" cy="274320"/>
          </a:xfrm>
          <a:prstGeom prst="rect">
            <a:avLst/>
          </a:prstGeom>
          <a:noFill/>
        </p:spPr>
        <p:txBody>
          <a:bodyPr wrap="square" anchor="t" lIns="45720" rIns="45720" tIns="27432" bIns="27432">
            <a:spAutoFit/>
          </a:bodyPr>
          <a:lstStyle/>
          <a:p>
            <a:pPr algn="r">
              <a:defRPr sz="950" b="0" i="0">
                <a:solidFill>
                  <a:srgbClr val="64748B"/>
                </a:solidFill>
                <a:latin typeface="Segoe UI"/>
              </a:defRPr>
            </a:pPr>
            <a:r>
              <a:t>5-Minute Systems Analysis &amp; Solution Pitch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5486400" cy="320040"/>
          </a:xfrm>
          <a:prstGeom prst="rect">
            <a:avLst/>
          </a:prstGeom>
          <a:noFill/>
        </p:spPr>
        <p:txBody>
          <a:bodyPr wrap="square" anchor="t" lIns="45720" rIns="45720" tIns="27432" bIns="27432">
            <a:spAutoFit/>
          </a:bodyPr>
          <a:lstStyle/>
          <a:p>
            <a:pPr algn="l">
              <a:defRPr sz="1100" b="1" i="0">
                <a:solidFill>
                  <a:srgbClr val="0284C7"/>
                </a:solidFill>
                <a:latin typeface="Segoe UI"/>
              </a:defRPr>
            </a:pPr>
            <a:r>
              <a:t>SYSTEMS ANALYSIS  •  MAIN PROBLEM #2 OF LG NATURE'S WATER</a:t>
            </a:r>
          </a:p>
        </p:txBody>
      </p:sp>
      <p:sp>
        <p:nvSpPr>
          <p:cNvPr id="5" name="Rounded Rectangle 4"/>
          <p:cNvSpPr/>
          <p:nvPr/>
        </p:nvSpPr>
        <p:spPr>
          <a:xfrm>
            <a:off x="9784080" y="292608"/>
            <a:ext cx="1764792" cy="329184"/>
          </a:xfrm>
          <a:prstGeom prst="roundRect">
            <a:avLst>
              <a:gd name="adj" fmla="val 4000"/>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292608"/>
            <a:ext cx="1764792" cy="329184"/>
          </a:xfrm>
          <a:prstGeom prst="rect">
            <a:avLst/>
          </a:prstGeom>
          <a:noFill/>
        </p:spPr>
        <p:txBody>
          <a:bodyPr wrap="square" anchor="ctr" lIns="45720" rIns="45720" tIns="27432" bIns="27432">
            <a:spAutoFit/>
          </a:bodyPr>
          <a:lstStyle/>
          <a:p>
            <a:pPr algn="ctr">
              <a:defRPr sz="950" b="1" i="0">
                <a:solidFill>
                  <a:srgbClr val="334155"/>
                </a:solidFill>
                <a:latin typeface="Segoe UI"/>
              </a:defRPr>
            </a:pPr>
            <a:r>
              <a:t>SLIDE 03  •  1:25 – 2:15</a:t>
            </a:r>
          </a:p>
        </p:txBody>
      </p:sp>
      <p:sp>
        <p:nvSpPr>
          <p:cNvPr id="7" name="TextBox 6"/>
          <p:cNvSpPr txBox="1"/>
          <p:nvPr/>
        </p:nvSpPr>
        <p:spPr>
          <a:xfrm>
            <a:off x="640080" y="594360"/>
            <a:ext cx="10789920" cy="502920"/>
          </a:xfrm>
          <a:prstGeom prst="rect">
            <a:avLst/>
          </a:prstGeom>
          <a:noFill/>
        </p:spPr>
        <p:txBody>
          <a:bodyPr wrap="square" anchor="t" lIns="45720" rIns="45720" tIns="27432" bIns="27432">
            <a:spAutoFit/>
          </a:bodyPr>
          <a:lstStyle/>
          <a:p>
            <a:pPr algn="l">
              <a:defRPr sz="2800" b="1" i="0">
                <a:solidFill>
                  <a:srgbClr val="0F172A"/>
                </a:solidFill>
                <a:latin typeface="Segoe UI"/>
              </a:defRPr>
            </a:pPr>
            <a:r>
              <a:t>Hard Manual Auditing: 2 Hours of Row-by-Row Calculation</a:t>
            </a:r>
          </a:p>
        </p:txBody>
      </p:sp>
      <p:sp>
        <p:nvSpPr>
          <p:cNvPr id="8" name="TextBox 7"/>
          <p:cNvSpPr txBox="1"/>
          <p:nvPr/>
        </p:nvSpPr>
        <p:spPr>
          <a:xfrm>
            <a:off x="640080" y="1115568"/>
            <a:ext cx="10789920" cy="365760"/>
          </a:xfrm>
          <a:prstGeom prst="rect">
            <a:avLst/>
          </a:prstGeom>
          <a:noFill/>
        </p:spPr>
        <p:txBody>
          <a:bodyPr wrap="square" anchor="t" lIns="45720" rIns="45720" tIns="27432" bIns="27432">
            <a:spAutoFit/>
          </a:bodyPr>
          <a:lstStyle/>
          <a:p>
            <a:pPr algn="l">
              <a:defRPr sz="1350" b="0" i="0">
                <a:solidFill>
                  <a:srgbClr val="64748B"/>
                </a:solidFill>
                <a:latin typeface="Segoe UI"/>
              </a:defRPr>
            </a:pPr>
            <a:r>
              <a:t>When pickup and delivery customers pay, the operator manually monitors every single customer row to compute gallons &amp; total cost.</a:t>
            </a:r>
          </a:p>
        </p:txBody>
      </p:sp>
      <p:sp>
        <p:nvSpPr>
          <p:cNvPr id="9" name="Rounded Rectangle 8"/>
          <p:cNvSpPr/>
          <p:nvPr/>
        </p:nvSpPr>
        <p:spPr>
          <a:xfrm>
            <a:off x="640080" y="1691640"/>
            <a:ext cx="4114800" cy="4480560"/>
          </a:xfrm>
          <a:prstGeom prst="roundRect">
            <a:avLst>
              <a:gd name="adj" fmla="val 4000"/>
            </a:avLst>
          </a:prstGeom>
          <a:solidFill>
            <a:srgbClr val="0B192C"/>
          </a:solidFill>
          <a:ln w="254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1920240"/>
            <a:ext cx="3657600" cy="365760"/>
          </a:xfrm>
          <a:prstGeom prst="roundRect">
            <a:avLst>
              <a:gd name="adj" fmla="val 4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920240"/>
            <a:ext cx="3657600" cy="365760"/>
          </a:xfrm>
          <a:prstGeom prst="rect">
            <a:avLst/>
          </a:prstGeom>
          <a:noFill/>
        </p:spPr>
        <p:txBody>
          <a:bodyPr wrap="square" anchor="ctr" lIns="45720" rIns="45720" tIns="27432" bIns="27432">
            <a:spAutoFit/>
          </a:bodyPr>
          <a:lstStyle/>
          <a:p>
            <a:pPr algn="ctr">
              <a:defRPr sz="1100" b="1" i="0">
                <a:solidFill>
                  <a:srgbClr val="FFFFFF"/>
                </a:solidFill>
                <a:latin typeface="Segoe UI"/>
              </a:defRPr>
            </a:pPr>
            <a:r>
              <a:t>CRITICAL BOTTLENECK HIGHLIGHT</a:t>
            </a:r>
          </a:p>
        </p:txBody>
      </p:sp>
      <p:sp>
        <p:nvSpPr>
          <p:cNvPr id="12" name="TextBox 11"/>
          <p:cNvSpPr txBox="1"/>
          <p:nvPr/>
        </p:nvSpPr>
        <p:spPr>
          <a:xfrm>
            <a:off x="868680" y="2423160"/>
            <a:ext cx="3657600" cy="1097280"/>
          </a:xfrm>
          <a:prstGeom prst="rect">
            <a:avLst/>
          </a:prstGeom>
          <a:noFill/>
        </p:spPr>
        <p:txBody>
          <a:bodyPr wrap="square" anchor="t" lIns="45720" rIns="45720" tIns="27432" bIns="27432">
            <a:spAutoFit/>
          </a:bodyPr>
          <a:lstStyle/>
          <a:p>
            <a:pPr algn="ctr">
              <a:defRPr sz="5400" b="1" i="0">
                <a:solidFill>
                  <a:srgbClr val="FBBF24"/>
                </a:solidFill>
                <a:latin typeface="Segoe UI"/>
              </a:defRPr>
            </a:pPr>
            <a:r>
              <a:t>~2 HOURS</a:t>
            </a:r>
          </a:p>
        </p:txBody>
      </p:sp>
      <p:sp>
        <p:nvSpPr>
          <p:cNvPr id="13" name="TextBox 12"/>
          <p:cNvSpPr txBox="1"/>
          <p:nvPr/>
        </p:nvSpPr>
        <p:spPr>
          <a:xfrm>
            <a:off x="868680" y="3429000"/>
            <a:ext cx="3657600" cy="548640"/>
          </a:xfrm>
          <a:prstGeom prst="rect">
            <a:avLst/>
          </a:prstGeom>
          <a:noFill/>
        </p:spPr>
        <p:txBody>
          <a:bodyPr wrap="square" anchor="t" lIns="45720" rIns="45720" tIns="27432" bIns="27432">
            <a:spAutoFit/>
          </a:bodyPr>
          <a:lstStyle/>
          <a:p>
            <a:pPr algn="ctr">
              <a:defRPr sz="1500" b="1" i="0">
                <a:solidFill>
                  <a:srgbClr val="FFFFFF"/>
                </a:solidFill>
                <a:latin typeface="Segoe UI"/>
              </a:defRPr>
            </a:pPr>
            <a:r>
              <a:t>OF MANUAL AUDITING WORK</a:t>
            </a:r>
            <a:br/>
            <a:r>
              <a:t>EVERY SINGLE DAY</a:t>
            </a:r>
          </a:p>
        </p:txBody>
      </p:sp>
      <p:sp>
        <p:nvSpPr>
          <p:cNvPr id="14" name="Rounded Rectangle 13"/>
          <p:cNvSpPr/>
          <p:nvPr/>
        </p:nvSpPr>
        <p:spPr>
          <a:xfrm>
            <a:off x="960120" y="4114800"/>
            <a:ext cx="3474720" cy="1783080"/>
          </a:xfrm>
          <a:prstGeom prst="roundRect">
            <a:avLst>
              <a:gd name="adj" fmla="val 4000"/>
            </a:avLst>
          </a:prstGeom>
          <a:solidFill>
            <a:srgbClr val="132743"/>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224528"/>
            <a:ext cx="3200400" cy="1554480"/>
          </a:xfrm>
          <a:prstGeom prst="rect">
            <a:avLst/>
          </a:prstGeom>
          <a:noFill/>
        </p:spPr>
        <p:txBody>
          <a:bodyPr wrap="square" anchor="t" lIns="45720" rIns="45720" tIns="27432" bIns="27432">
            <a:spAutoFit/>
          </a:bodyPr>
          <a:lstStyle/>
          <a:p>
            <a:pPr algn="l">
              <a:defRPr sz="1100" b="0" i="0">
                <a:solidFill>
                  <a:srgbClr val="E2E8F0"/>
                </a:solidFill>
                <a:latin typeface="Segoe UI"/>
              </a:defRPr>
            </a:pPr>
            <a:r>
              <a:t>Why does it take 2 hours?</a:t>
            </a:r>
            <a:br/>
            <a:r>
              <a:t>• Pickup &amp; walk-in customers pay at the counter while riders remit delivery collections.</a:t>
            </a:r>
            <a:br/>
            <a:r>
              <a:t>• The LG Operator must visually scan row-by-row per customer.</a:t>
            </a:r>
            <a:br/>
            <a:r>
              <a:t>• Every row requires manually counting how many gallons they got and multiplying the total cost by hand.</a:t>
            </a:r>
          </a:p>
        </p:txBody>
      </p:sp>
      <p:sp>
        <p:nvSpPr>
          <p:cNvPr id="16" name="Rounded Rectangle 15"/>
          <p:cNvSpPr/>
          <p:nvPr/>
        </p:nvSpPr>
        <p:spPr>
          <a:xfrm>
            <a:off x="4983480" y="1691640"/>
            <a:ext cx="6565392" cy="4480560"/>
          </a:xfrm>
          <a:prstGeom prst="roundRect">
            <a:avLst>
              <a:gd name="adj" fmla="val 4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7800" y="1874519"/>
            <a:ext cx="6035040" cy="365760"/>
          </a:xfrm>
          <a:prstGeom prst="rect">
            <a:avLst/>
          </a:prstGeom>
          <a:noFill/>
        </p:spPr>
        <p:txBody>
          <a:bodyPr wrap="square" anchor="t" lIns="45720" rIns="45720" tIns="27432" bIns="27432">
            <a:spAutoFit/>
          </a:bodyPr>
          <a:lstStyle/>
          <a:p>
            <a:pPr algn="l">
              <a:defRPr sz="1300" b="1" i="0">
                <a:solidFill>
                  <a:srgbClr val="0F172A"/>
                </a:solidFill>
                <a:latin typeface="Segoe UI"/>
              </a:defRPr>
            </a:pPr>
            <a:r>
              <a:t>HOW THE OPERATOR AUDITS TODAY (MANUAL ROW-BY-ROW INSPECTION)</a:t>
            </a:r>
          </a:p>
        </p:txBody>
      </p:sp>
      <p:sp>
        <p:nvSpPr>
          <p:cNvPr id="18" name="Rectangle 17"/>
          <p:cNvSpPr/>
          <p:nvPr/>
        </p:nvSpPr>
        <p:spPr>
          <a:xfrm>
            <a:off x="5257800" y="2286000"/>
            <a:ext cx="6035040" cy="38404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49240" y="2331720"/>
            <a:ext cx="1920240" cy="274320"/>
          </a:xfrm>
          <a:prstGeom prst="rect">
            <a:avLst/>
          </a:prstGeom>
          <a:noFill/>
        </p:spPr>
        <p:txBody>
          <a:bodyPr wrap="square" anchor="t" lIns="45720" rIns="45720" tIns="27432" bIns="27432">
            <a:spAutoFit/>
          </a:bodyPr>
          <a:lstStyle/>
          <a:p>
            <a:pPr algn="l">
              <a:defRPr sz="1050" b="1" i="0">
                <a:solidFill>
                  <a:srgbClr val="0F172A"/>
                </a:solidFill>
                <a:latin typeface="Segoe UI"/>
              </a:defRPr>
            </a:pPr>
            <a:r>
              <a:t>Customer Row</a:t>
            </a:r>
          </a:p>
        </p:txBody>
      </p:sp>
      <p:sp>
        <p:nvSpPr>
          <p:cNvPr id="20" name="TextBox 19"/>
          <p:cNvSpPr txBox="1"/>
          <p:nvPr/>
        </p:nvSpPr>
        <p:spPr>
          <a:xfrm>
            <a:off x="7315200" y="2331720"/>
            <a:ext cx="1280160" cy="274320"/>
          </a:xfrm>
          <a:prstGeom prst="rect">
            <a:avLst/>
          </a:prstGeom>
          <a:noFill/>
        </p:spPr>
        <p:txBody>
          <a:bodyPr wrap="square" anchor="t" lIns="45720" rIns="45720" tIns="27432" bIns="27432">
            <a:spAutoFit/>
          </a:bodyPr>
          <a:lstStyle/>
          <a:p>
            <a:pPr algn="l">
              <a:defRPr sz="1050" b="1" i="0">
                <a:solidFill>
                  <a:srgbClr val="0F172A"/>
                </a:solidFill>
                <a:latin typeface="Segoe UI"/>
              </a:defRPr>
            </a:pPr>
            <a:r>
              <a:t>Type</a:t>
            </a:r>
          </a:p>
        </p:txBody>
      </p:sp>
      <p:sp>
        <p:nvSpPr>
          <p:cNvPr id="21" name="TextBox 20"/>
          <p:cNvSpPr txBox="1"/>
          <p:nvPr/>
        </p:nvSpPr>
        <p:spPr>
          <a:xfrm>
            <a:off x="8641080" y="2331720"/>
            <a:ext cx="1188720" cy="274320"/>
          </a:xfrm>
          <a:prstGeom prst="rect">
            <a:avLst/>
          </a:prstGeom>
          <a:noFill/>
        </p:spPr>
        <p:txBody>
          <a:bodyPr wrap="square" anchor="t" lIns="45720" rIns="45720" tIns="27432" bIns="27432">
            <a:spAutoFit/>
          </a:bodyPr>
          <a:lstStyle/>
          <a:p>
            <a:pPr algn="l">
              <a:defRPr sz="1050" b="1" i="0">
                <a:solidFill>
                  <a:srgbClr val="0F172A"/>
                </a:solidFill>
                <a:latin typeface="Segoe UI"/>
              </a:defRPr>
            </a:pPr>
            <a:r>
              <a:t>How Many Got?</a:t>
            </a:r>
          </a:p>
        </p:txBody>
      </p:sp>
      <p:sp>
        <p:nvSpPr>
          <p:cNvPr id="22" name="TextBox 21"/>
          <p:cNvSpPr txBox="1"/>
          <p:nvPr/>
        </p:nvSpPr>
        <p:spPr>
          <a:xfrm>
            <a:off x="9875520" y="2331720"/>
            <a:ext cx="1371600" cy="274320"/>
          </a:xfrm>
          <a:prstGeom prst="rect">
            <a:avLst/>
          </a:prstGeom>
          <a:noFill/>
        </p:spPr>
        <p:txBody>
          <a:bodyPr wrap="square" anchor="t" lIns="45720" rIns="45720" tIns="27432" bIns="27432">
            <a:spAutoFit/>
          </a:bodyPr>
          <a:lstStyle/>
          <a:p>
            <a:pPr algn="l">
              <a:defRPr sz="1050" b="1" i="0">
                <a:solidFill>
                  <a:srgbClr val="0F172A"/>
                </a:solidFill>
                <a:latin typeface="Segoe UI"/>
              </a:defRPr>
            </a:pPr>
            <a:r>
              <a:t>Manual Total Cost</a:t>
            </a:r>
          </a:p>
        </p:txBody>
      </p:sp>
      <p:sp>
        <p:nvSpPr>
          <p:cNvPr id="23" name="Rectangle 22"/>
          <p:cNvSpPr/>
          <p:nvPr/>
        </p:nvSpPr>
        <p:spPr>
          <a:xfrm>
            <a:off x="5257800" y="2697480"/>
            <a:ext cx="6035040" cy="402336"/>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49240" y="2770632"/>
            <a:ext cx="1920240" cy="27432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Row 01: Dela Cruz Store</a:t>
            </a:r>
          </a:p>
        </p:txBody>
      </p:sp>
      <p:sp>
        <p:nvSpPr>
          <p:cNvPr id="25" name="TextBox 24"/>
          <p:cNvSpPr txBox="1"/>
          <p:nvPr/>
        </p:nvSpPr>
        <p:spPr>
          <a:xfrm>
            <a:off x="7315200" y="2770632"/>
            <a:ext cx="1280160" cy="274320"/>
          </a:xfrm>
          <a:prstGeom prst="rect">
            <a:avLst/>
          </a:prstGeom>
          <a:noFill/>
        </p:spPr>
        <p:txBody>
          <a:bodyPr wrap="square" anchor="t" lIns="45720" rIns="45720" tIns="27432" bIns="27432">
            <a:spAutoFit/>
          </a:bodyPr>
          <a:lstStyle/>
          <a:p>
            <a:pPr algn="l">
              <a:defRPr sz="1000" b="0" i="0">
                <a:solidFill>
                  <a:srgbClr val="334155"/>
                </a:solidFill>
                <a:latin typeface="Segoe UI"/>
              </a:defRPr>
            </a:pPr>
            <a:r>
              <a:t>Pickup / Pay</a:t>
            </a:r>
          </a:p>
        </p:txBody>
      </p:sp>
      <p:sp>
        <p:nvSpPr>
          <p:cNvPr id="26" name="TextBox 25"/>
          <p:cNvSpPr txBox="1"/>
          <p:nvPr/>
        </p:nvSpPr>
        <p:spPr>
          <a:xfrm>
            <a:off x="8641080" y="2770632"/>
            <a:ext cx="1188720" cy="274320"/>
          </a:xfrm>
          <a:prstGeom prst="rect">
            <a:avLst/>
          </a:prstGeom>
          <a:noFill/>
        </p:spPr>
        <p:txBody>
          <a:bodyPr wrap="square" anchor="t" lIns="45720" rIns="45720" tIns="27432" bIns="27432">
            <a:spAutoFit/>
          </a:bodyPr>
          <a:lstStyle/>
          <a:p>
            <a:pPr algn="l">
              <a:defRPr sz="1000" b="1" i="0">
                <a:solidFill>
                  <a:srgbClr val="DC2626"/>
                </a:solidFill>
                <a:latin typeface="Segoe UI"/>
              </a:defRPr>
            </a:pPr>
            <a:r>
              <a:t>5 + 3 + 4 = ? gals</a:t>
            </a:r>
          </a:p>
        </p:txBody>
      </p:sp>
      <p:sp>
        <p:nvSpPr>
          <p:cNvPr id="27" name="TextBox 26"/>
          <p:cNvSpPr txBox="1"/>
          <p:nvPr/>
        </p:nvSpPr>
        <p:spPr>
          <a:xfrm>
            <a:off x="9875520" y="2770632"/>
            <a:ext cx="1371600" cy="274320"/>
          </a:xfrm>
          <a:prstGeom prst="rect">
            <a:avLst/>
          </a:prstGeom>
          <a:noFill/>
        </p:spPr>
        <p:txBody>
          <a:bodyPr wrap="square" anchor="t" lIns="45720" rIns="45720" tIns="27432" bIns="27432">
            <a:spAutoFit/>
          </a:bodyPr>
          <a:lstStyle/>
          <a:p>
            <a:pPr algn="l">
              <a:defRPr sz="1000" b="1" i="0">
                <a:solidFill>
                  <a:srgbClr val="D97706"/>
                </a:solidFill>
                <a:latin typeface="Segoe UI"/>
              </a:defRPr>
            </a:pPr>
            <a:r>
              <a:t>Manual Calculator...</a:t>
            </a:r>
          </a:p>
        </p:txBody>
      </p:sp>
      <p:sp>
        <p:nvSpPr>
          <p:cNvPr id="28" name="Rectangle 27"/>
          <p:cNvSpPr/>
          <p:nvPr/>
        </p:nvSpPr>
        <p:spPr>
          <a:xfrm>
            <a:off x="5257800" y="3136392"/>
            <a:ext cx="6035040" cy="402336"/>
          </a:xfrm>
          <a:prstGeom prst="rect">
            <a:avLst/>
          </a:prstGeom>
          <a:solidFill>
            <a:srgbClr val="FEF3C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9240" y="3209544"/>
            <a:ext cx="1920240" cy="27432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Row 02: Santos Household</a:t>
            </a:r>
          </a:p>
        </p:txBody>
      </p:sp>
      <p:sp>
        <p:nvSpPr>
          <p:cNvPr id="30" name="TextBox 29"/>
          <p:cNvSpPr txBox="1"/>
          <p:nvPr/>
        </p:nvSpPr>
        <p:spPr>
          <a:xfrm>
            <a:off x="7315200" y="3209544"/>
            <a:ext cx="1280160" cy="274320"/>
          </a:xfrm>
          <a:prstGeom prst="rect">
            <a:avLst/>
          </a:prstGeom>
          <a:noFill/>
        </p:spPr>
        <p:txBody>
          <a:bodyPr wrap="square" anchor="t" lIns="45720" rIns="45720" tIns="27432" bIns="27432">
            <a:spAutoFit/>
          </a:bodyPr>
          <a:lstStyle/>
          <a:p>
            <a:pPr algn="l">
              <a:defRPr sz="1000" b="0" i="0">
                <a:solidFill>
                  <a:srgbClr val="334155"/>
                </a:solidFill>
                <a:latin typeface="Segoe UI"/>
              </a:defRPr>
            </a:pPr>
            <a:r>
              <a:t>Brgy. San Pedro</a:t>
            </a:r>
          </a:p>
        </p:txBody>
      </p:sp>
      <p:sp>
        <p:nvSpPr>
          <p:cNvPr id="31" name="TextBox 30"/>
          <p:cNvSpPr txBox="1"/>
          <p:nvPr/>
        </p:nvSpPr>
        <p:spPr>
          <a:xfrm>
            <a:off x="8641080" y="3209544"/>
            <a:ext cx="1188720" cy="274320"/>
          </a:xfrm>
          <a:prstGeom prst="rect">
            <a:avLst/>
          </a:prstGeom>
          <a:noFill/>
        </p:spPr>
        <p:txBody>
          <a:bodyPr wrap="square" anchor="t" lIns="45720" rIns="45720" tIns="27432" bIns="27432">
            <a:spAutoFit/>
          </a:bodyPr>
          <a:lstStyle/>
          <a:p>
            <a:pPr algn="l">
              <a:defRPr sz="1000" b="1" i="0">
                <a:solidFill>
                  <a:srgbClr val="DC2626"/>
                </a:solidFill>
                <a:latin typeface="Segoe UI"/>
              </a:defRPr>
            </a:pPr>
            <a:r>
              <a:t>8 + 6 + 7 = ? gals</a:t>
            </a:r>
          </a:p>
        </p:txBody>
      </p:sp>
      <p:sp>
        <p:nvSpPr>
          <p:cNvPr id="32" name="TextBox 31"/>
          <p:cNvSpPr txBox="1"/>
          <p:nvPr/>
        </p:nvSpPr>
        <p:spPr>
          <a:xfrm>
            <a:off x="9875520" y="3209544"/>
            <a:ext cx="1371600" cy="274320"/>
          </a:xfrm>
          <a:prstGeom prst="rect">
            <a:avLst/>
          </a:prstGeom>
          <a:noFill/>
        </p:spPr>
        <p:txBody>
          <a:bodyPr wrap="square" anchor="t" lIns="45720" rIns="45720" tIns="27432" bIns="27432">
            <a:spAutoFit/>
          </a:bodyPr>
          <a:lstStyle/>
          <a:p>
            <a:pPr algn="l">
              <a:defRPr sz="1000" b="1" i="0">
                <a:solidFill>
                  <a:srgbClr val="D97706"/>
                </a:solidFill>
                <a:latin typeface="Segoe UI"/>
              </a:defRPr>
            </a:pPr>
            <a:r>
              <a:t>Re-checking paper...</a:t>
            </a:r>
          </a:p>
        </p:txBody>
      </p:sp>
      <p:sp>
        <p:nvSpPr>
          <p:cNvPr id="33" name="Rectangle 32"/>
          <p:cNvSpPr/>
          <p:nvPr/>
        </p:nvSpPr>
        <p:spPr>
          <a:xfrm>
            <a:off x="5257800" y="3575304"/>
            <a:ext cx="6035040" cy="402336"/>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49240" y="3648456"/>
            <a:ext cx="1920240" cy="27432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Row 03: Mendoza Sari-Sari</a:t>
            </a:r>
          </a:p>
        </p:txBody>
      </p:sp>
      <p:sp>
        <p:nvSpPr>
          <p:cNvPr id="35" name="TextBox 34"/>
          <p:cNvSpPr txBox="1"/>
          <p:nvPr/>
        </p:nvSpPr>
        <p:spPr>
          <a:xfrm>
            <a:off x="7315200" y="3648456"/>
            <a:ext cx="1280160" cy="274320"/>
          </a:xfrm>
          <a:prstGeom prst="rect">
            <a:avLst/>
          </a:prstGeom>
          <a:noFill/>
        </p:spPr>
        <p:txBody>
          <a:bodyPr wrap="square" anchor="t" lIns="45720" rIns="45720" tIns="27432" bIns="27432">
            <a:spAutoFit/>
          </a:bodyPr>
          <a:lstStyle/>
          <a:p>
            <a:pPr algn="l">
              <a:defRPr sz="1000" b="0" i="0">
                <a:solidFill>
                  <a:srgbClr val="334155"/>
                </a:solidFill>
                <a:latin typeface="Segoe UI"/>
              </a:defRPr>
            </a:pPr>
            <a:r>
              <a:t>Pickup / Pay</a:t>
            </a:r>
          </a:p>
        </p:txBody>
      </p:sp>
      <p:sp>
        <p:nvSpPr>
          <p:cNvPr id="36" name="TextBox 35"/>
          <p:cNvSpPr txBox="1"/>
          <p:nvPr/>
        </p:nvSpPr>
        <p:spPr>
          <a:xfrm>
            <a:off x="8641080" y="3648456"/>
            <a:ext cx="1188720" cy="274320"/>
          </a:xfrm>
          <a:prstGeom prst="rect">
            <a:avLst/>
          </a:prstGeom>
          <a:noFill/>
        </p:spPr>
        <p:txBody>
          <a:bodyPr wrap="square" anchor="t" lIns="45720" rIns="45720" tIns="27432" bIns="27432">
            <a:spAutoFit/>
          </a:bodyPr>
          <a:lstStyle/>
          <a:p>
            <a:pPr algn="l">
              <a:defRPr sz="1000" b="1" i="0">
                <a:solidFill>
                  <a:srgbClr val="DC2626"/>
                </a:solidFill>
                <a:latin typeface="Segoe UI"/>
              </a:defRPr>
            </a:pPr>
            <a:r>
              <a:t>12 + 10 = ? gals</a:t>
            </a:r>
          </a:p>
        </p:txBody>
      </p:sp>
      <p:sp>
        <p:nvSpPr>
          <p:cNvPr id="37" name="TextBox 36"/>
          <p:cNvSpPr txBox="1"/>
          <p:nvPr/>
        </p:nvSpPr>
        <p:spPr>
          <a:xfrm>
            <a:off x="9875520" y="3648456"/>
            <a:ext cx="1371600" cy="274320"/>
          </a:xfrm>
          <a:prstGeom prst="rect">
            <a:avLst/>
          </a:prstGeom>
          <a:noFill/>
        </p:spPr>
        <p:txBody>
          <a:bodyPr wrap="square" anchor="t" lIns="45720" rIns="45720" tIns="27432" bIns="27432">
            <a:spAutoFit/>
          </a:bodyPr>
          <a:lstStyle/>
          <a:p>
            <a:pPr algn="l">
              <a:defRPr sz="1000" b="1" i="0">
                <a:solidFill>
                  <a:srgbClr val="D97706"/>
                </a:solidFill>
                <a:latin typeface="Segoe UI"/>
              </a:defRPr>
            </a:pPr>
            <a:r>
              <a:t>Cross-matching cash...</a:t>
            </a:r>
          </a:p>
        </p:txBody>
      </p:sp>
      <p:sp>
        <p:nvSpPr>
          <p:cNvPr id="38" name="Rectangle 37"/>
          <p:cNvSpPr/>
          <p:nvPr/>
        </p:nvSpPr>
        <p:spPr>
          <a:xfrm>
            <a:off x="5257800" y="4014216"/>
            <a:ext cx="6035040" cy="402336"/>
          </a:xfrm>
          <a:prstGeom prst="rect">
            <a:avLst/>
          </a:prstGeom>
          <a:solidFill>
            <a:srgbClr val="FEF3C7"/>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49240" y="4087368"/>
            <a:ext cx="1920240" cy="27432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Row 04: Bautista Residence</a:t>
            </a:r>
          </a:p>
        </p:txBody>
      </p:sp>
      <p:sp>
        <p:nvSpPr>
          <p:cNvPr id="40" name="TextBox 39"/>
          <p:cNvSpPr txBox="1"/>
          <p:nvPr/>
        </p:nvSpPr>
        <p:spPr>
          <a:xfrm>
            <a:off x="7315200" y="4087368"/>
            <a:ext cx="1280160" cy="274320"/>
          </a:xfrm>
          <a:prstGeom prst="rect">
            <a:avLst/>
          </a:prstGeom>
          <a:noFill/>
        </p:spPr>
        <p:txBody>
          <a:bodyPr wrap="square" anchor="t" lIns="45720" rIns="45720" tIns="27432" bIns="27432">
            <a:spAutoFit/>
          </a:bodyPr>
          <a:lstStyle/>
          <a:p>
            <a:pPr algn="l">
              <a:defRPr sz="1000" b="0" i="0">
                <a:solidFill>
                  <a:srgbClr val="334155"/>
                </a:solidFill>
                <a:latin typeface="Segoe UI"/>
              </a:defRPr>
            </a:pPr>
            <a:r>
              <a:t>Brgy. Culis</a:t>
            </a:r>
          </a:p>
        </p:txBody>
      </p:sp>
      <p:sp>
        <p:nvSpPr>
          <p:cNvPr id="41" name="TextBox 40"/>
          <p:cNvSpPr txBox="1"/>
          <p:nvPr/>
        </p:nvSpPr>
        <p:spPr>
          <a:xfrm>
            <a:off x="8641080" y="4087368"/>
            <a:ext cx="1188720" cy="274320"/>
          </a:xfrm>
          <a:prstGeom prst="rect">
            <a:avLst/>
          </a:prstGeom>
          <a:noFill/>
        </p:spPr>
        <p:txBody>
          <a:bodyPr wrap="square" anchor="t" lIns="45720" rIns="45720" tIns="27432" bIns="27432">
            <a:spAutoFit/>
          </a:bodyPr>
          <a:lstStyle/>
          <a:p>
            <a:pPr algn="l">
              <a:defRPr sz="1000" b="1" i="0">
                <a:solidFill>
                  <a:srgbClr val="DC2626"/>
                </a:solidFill>
                <a:latin typeface="Segoe UI"/>
              </a:defRPr>
            </a:pPr>
            <a:r>
              <a:t>4 + 4 + 5 = ? gals</a:t>
            </a:r>
          </a:p>
        </p:txBody>
      </p:sp>
      <p:sp>
        <p:nvSpPr>
          <p:cNvPr id="42" name="TextBox 41"/>
          <p:cNvSpPr txBox="1"/>
          <p:nvPr/>
        </p:nvSpPr>
        <p:spPr>
          <a:xfrm>
            <a:off x="9875520" y="4087368"/>
            <a:ext cx="1371600" cy="274320"/>
          </a:xfrm>
          <a:prstGeom prst="rect">
            <a:avLst/>
          </a:prstGeom>
          <a:noFill/>
        </p:spPr>
        <p:txBody>
          <a:bodyPr wrap="square" anchor="t" lIns="45720" rIns="45720" tIns="27432" bIns="27432">
            <a:spAutoFit/>
          </a:bodyPr>
          <a:lstStyle/>
          <a:p>
            <a:pPr algn="l">
              <a:defRPr sz="1000" b="1" i="0">
                <a:solidFill>
                  <a:srgbClr val="D97706"/>
                </a:solidFill>
                <a:latin typeface="Segoe UI"/>
              </a:defRPr>
            </a:pPr>
            <a:r>
              <a:t>Adding row by row...</a:t>
            </a:r>
          </a:p>
        </p:txBody>
      </p:sp>
      <p:sp>
        <p:nvSpPr>
          <p:cNvPr id="43" name="Rounded Rectangle 42"/>
          <p:cNvSpPr/>
          <p:nvPr/>
        </p:nvSpPr>
        <p:spPr>
          <a:xfrm>
            <a:off x="5257800" y="4617720"/>
            <a:ext cx="1920240" cy="1325880"/>
          </a:xfrm>
          <a:prstGeom prst="roundRect">
            <a:avLst>
              <a:gd name="adj" fmla="val 4000"/>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67528" y="4709160"/>
            <a:ext cx="1700784" cy="292608"/>
          </a:xfrm>
          <a:prstGeom prst="rect">
            <a:avLst/>
          </a:prstGeom>
          <a:noFill/>
        </p:spPr>
        <p:txBody>
          <a:bodyPr wrap="square" anchor="t" lIns="45720" rIns="45720" tIns="27432" bIns="27432">
            <a:spAutoFit/>
          </a:bodyPr>
          <a:lstStyle/>
          <a:p>
            <a:pPr algn="l">
              <a:defRPr sz="1150" b="1" i="0">
                <a:solidFill>
                  <a:srgbClr val="DC2626"/>
                </a:solidFill>
                <a:latin typeface="Segoe UI"/>
              </a:defRPr>
            </a:pPr>
            <a:r>
              <a:t>Per-Row Bottleneck</a:t>
            </a:r>
          </a:p>
        </p:txBody>
      </p:sp>
      <p:sp>
        <p:nvSpPr>
          <p:cNvPr id="45" name="TextBox 44"/>
          <p:cNvSpPr txBox="1"/>
          <p:nvPr/>
        </p:nvSpPr>
        <p:spPr>
          <a:xfrm>
            <a:off x="5367528" y="5010912"/>
            <a:ext cx="1700784" cy="822960"/>
          </a:xfrm>
          <a:prstGeom prst="rect">
            <a:avLst/>
          </a:prstGeom>
          <a:noFill/>
        </p:spPr>
        <p:txBody>
          <a:bodyPr wrap="square" anchor="t" lIns="45720" rIns="45720" tIns="27432" bIns="27432">
            <a:spAutoFit/>
          </a:bodyPr>
          <a:lstStyle/>
          <a:p>
            <a:pPr algn="l">
              <a:defRPr sz="1000" b="0" i="0">
                <a:solidFill>
                  <a:srgbClr val="0F172A"/>
                </a:solidFill>
                <a:latin typeface="Segoe UI"/>
              </a:defRPr>
            </a:pPr>
            <a:r>
              <a:t>Operator checks 100+ rows one by one to tally gallons &amp; payments.</a:t>
            </a:r>
          </a:p>
        </p:txBody>
      </p:sp>
      <p:sp>
        <p:nvSpPr>
          <p:cNvPr id="46" name="Rounded Rectangle 45"/>
          <p:cNvSpPr/>
          <p:nvPr/>
        </p:nvSpPr>
        <p:spPr>
          <a:xfrm>
            <a:off x="7315200" y="4617720"/>
            <a:ext cx="1920240" cy="1325880"/>
          </a:xfrm>
          <a:prstGeom prst="roundRect">
            <a:avLst>
              <a:gd name="adj" fmla="val 4000"/>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24927" y="4709160"/>
            <a:ext cx="1700784" cy="292608"/>
          </a:xfrm>
          <a:prstGeom prst="rect">
            <a:avLst/>
          </a:prstGeom>
          <a:noFill/>
        </p:spPr>
        <p:txBody>
          <a:bodyPr wrap="square" anchor="t" lIns="45720" rIns="45720" tIns="27432" bIns="27432">
            <a:spAutoFit/>
          </a:bodyPr>
          <a:lstStyle/>
          <a:p>
            <a:pPr algn="l">
              <a:defRPr sz="1150" b="1" i="0">
                <a:solidFill>
                  <a:srgbClr val="D97706"/>
                </a:solidFill>
                <a:latin typeface="Segoe UI"/>
              </a:defRPr>
            </a:pPr>
            <a:r>
              <a:t>Calculator Fatigue</a:t>
            </a:r>
          </a:p>
        </p:txBody>
      </p:sp>
      <p:sp>
        <p:nvSpPr>
          <p:cNvPr id="48" name="TextBox 47"/>
          <p:cNvSpPr txBox="1"/>
          <p:nvPr/>
        </p:nvSpPr>
        <p:spPr>
          <a:xfrm>
            <a:off x="7424927" y="5010912"/>
            <a:ext cx="1700784" cy="822960"/>
          </a:xfrm>
          <a:prstGeom prst="rect">
            <a:avLst/>
          </a:prstGeom>
          <a:noFill/>
        </p:spPr>
        <p:txBody>
          <a:bodyPr wrap="square" anchor="t" lIns="45720" rIns="45720" tIns="27432" bIns="27432">
            <a:spAutoFit/>
          </a:bodyPr>
          <a:lstStyle/>
          <a:p>
            <a:pPr algn="l">
              <a:defRPr sz="1000" b="0" i="0">
                <a:solidFill>
                  <a:srgbClr val="0F172A"/>
                </a:solidFill>
                <a:latin typeface="Segoe UI"/>
              </a:defRPr>
            </a:pPr>
            <a:r>
              <a:t>Mental math &amp; manual calculator entry lead to cash-drawer mismatches.</a:t>
            </a:r>
          </a:p>
        </p:txBody>
      </p:sp>
      <p:sp>
        <p:nvSpPr>
          <p:cNvPr id="49" name="Rounded Rectangle 48"/>
          <p:cNvSpPr/>
          <p:nvPr/>
        </p:nvSpPr>
        <p:spPr>
          <a:xfrm>
            <a:off x="9372600" y="4617720"/>
            <a:ext cx="1920240" cy="1325880"/>
          </a:xfrm>
          <a:prstGeom prst="roundRect">
            <a:avLst>
              <a:gd name="adj" fmla="val 4000"/>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482328" y="4709160"/>
            <a:ext cx="1700784" cy="292608"/>
          </a:xfrm>
          <a:prstGeom prst="rect">
            <a:avLst/>
          </a:prstGeom>
          <a:noFill/>
        </p:spPr>
        <p:txBody>
          <a:bodyPr wrap="square" anchor="t" lIns="45720" rIns="45720" tIns="27432" bIns="27432">
            <a:spAutoFit/>
          </a:bodyPr>
          <a:lstStyle/>
          <a:p>
            <a:pPr algn="l">
              <a:defRPr sz="1150" b="1" i="0">
                <a:solidFill>
                  <a:srgbClr val="0284C7"/>
                </a:solidFill>
                <a:latin typeface="Segoe UI"/>
              </a:defRPr>
            </a:pPr>
            <a:r>
              <a:t>2 Hours Lost Daily</a:t>
            </a:r>
          </a:p>
        </p:txBody>
      </p:sp>
      <p:sp>
        <p:nvSpPr>
          <p:cNvPr id="51" name="TextBox 50"/>
          <p:cNvSpPr txBox="1"/>
          <p:nvPr/>
        </p:nvSpPr>
        <p:spPr>
          <a:xfrm>
            <a:off x="9482328" y="5010912"/>
            <a:ext cx="1700784" cy="822960"/>
          </a:xfrm>
          <a:prstGeom prst="rect">
            <a:avLst/>
          </a:prstGeom>
          <a:noFill/>
        </p:spPr>
        <p:txBody>
          <a:bodyPr wrap="square" anchor="t" lIns="45720" rIns="45720" tIns="27432" bIns="27432">
            <a:spAutoFit/>
          </a:bodyPr>
          <a:lstStyle/>
          <a:p>
            <a:pPr algn="l">
              <a:defRPr sz="1000" b="0" i="0">
                <a:solidFill>
                  <a:srgbClr val="0F172A"/>
                </a:solidFill>
                <a:latin typeface="Segoe UI"/>
              </a:defRPr>
            </a:pPr>
            <a:r>
              <a:t>60+ hours wasted every month just auditing pickup &amp; delivery rows.</a:t>
            </a:r>
          </a:p>
        </p:txBody>
      </p:sp>
      <p:sp>
        <p:nvSpPr>
          <p:cNvPr id="52" name="TextBox 51"/>
          <p:cNvSpPr txBox="1"/>
          <p:nvPr/>
        </p:nvSpPr>
        <p:spPr>
          <a:xfrm>
            <a:off x="640080" y="6446520"/>
            <a:ext cx="5943600" cy="274320"/>
          </a:xfrm>
          <a:prstGeom prst="rect">
            <a:avLst/>
          </a:prstGeom>
          <a:noFill/>
        </p:spPr>
        <p:txBody>
          <a:bodyPr wrap="square" anchor="t" lIns="45720" rIns="45720" tIns="27432" bIns="27432">
            <a:spAutoFit/>
          </a:bodyPr>
          <a:lstStyle/>
          <a:p>
            <a:pPr algn="l">
              <a:defRPr sz="950" b="0" i="0">
                <a:solidFill>
                  <a:srgbClr val="64748B"/>
                </a:solidFill>
                <a:latin typeface="Segoe UI"/>
              </a:defRPr>
            </a:pPr>
            <a:r>
              <a:t>Team MKB (Merge, Knowledge and Build)  •  AquaLedger for LG Nature's Water</a:t>
            </a:r>
          </a:p>
        </p:txBody>
      </p:sp>
      <p:sp>
        <p:nvSpPr>
          <p:cNvPr id="53" name="TextBox 52"/>
          <p:cNvSpPr txBox="1"/>
          <p:nvPr/>
        </p:nvSpPr>
        <p:spPr>
          <a:xfrm>
            <a:off x="6858000" y="6446520"/>
            <a:ext cx="4663440" cy="274320"/>
          </a:xfrm>
          <a:prstGeom prst="rect">
            <a:avLst/>
          </a:prstGeom>
          <a:noFill/>
        </p:spPr>
        <p:txBody>
          <a:bodyPr wrap="square" anchor="t" lIns="45720" rIns="45720" tIns="27432" bIns="27432">
            <a:spAutoFit/>
          </a:bodyPr>
          <a:lstStyle/>
          <a:p>
            <a:pPr algn="r">
              <a:defRPr sz="950" b="0" i="0">
                <a:solidFill>
                  <a:srgbClr val="64748B"/>
                </a:solidFill>
                <a:latin typeface="Segoe UI"/>
              </a:defRPr>
            </a:pPr>
            <a:r>
              <a:t>5-Minute Systems Analysis &amp; Solution Pitch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5486400" cy="320040"/>
          </a:xfrm>
          <a:prstGeom prst="rect">
            <a:avLst/>
          </a:prstGeom>
          <a:noFill/>
        </p:spPr>
        <p:txBody>
          <a:bodyPr wrap="square" anchor="t" lIns="45720" rIns="45720" tIns="27432" bIns="27432">
            <a:spAutoFit/>
          </a:bodyPr>
          <a:lstStyle/>
          <a:p>
            <a:pPr algn="l">
              <a:defRPr sz="1100" b="1" i="0">
                <a:solidFill>
                  <a:srgbClr val="0284C7"/>
                </a:solidFill>
                <a:latin typeface="Segoe UI"/>
              </a:defRPr>
            </a:pPr>
            <a:r>
              <a:t>SYSTEMS ANALYSIS  •  BONUS PROBLEM DISCOVERED AT LG NATURE'S WATER</a:t>
            </a:r>
          </a:p>
        </p:txBody>
      </p:sp>
      <p:sp>
        <p:nvSpPr>
          <p:cNvPr id="5" name="Rounded Rectangle 4"/>
          <p:cNvSpPr/>
          <p:nvPr/>
        </p:nvSpPr>
        <p:spPr>
          <a:xfrm>
            <a:off x="9784080" y="292608"/>
            <a:ext cx="1764792" cy="329184"/>
          </a:xfrm>
          <a:prstGeom prst="roundRect">
            <a:avLst>
              <a:gd name="adj" fmla="val 4000"/>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292608"/>
            <a:ext cx="1764792" cy="329184"/>
          </a:xfrm>
          <a:prstGeom prst="rect">
            <a:avLst/>
          </a:prstGeom>
          <a:noFill/>
        </p:spPr>
        <p:txBody>
          <a:bodyPr wrap="square" anchor="ctr" lIns="45720" rIns="45720" tIns="27432" bIns="27432">
            <a:spAutoFit/>
          </a:bodyPr>
          <a:lstStyle/>
          <a:p>
            <a:pPr algn="ctr">
              <a:defRPr sz="950" b="1" i="0">
                <a:solidFill>
                  <a:srgbClr val="334155"/>
                </a:solidFill>
                <a:latin typeface="Segoe UI"/>
              </a:defRPr>
            </a:pPr>
            <a:r>
              <a:t>SLIDE 04  •  2:15 – 3:00</a:t>
            </a:r>
          </a:p>
        </p:txBody>
      </p:sp>
      <p:sp>
        <p:nvSpPr>
          <p:cNvPr id="7" name="TextBox 6"/>
          <p:cNvSpPr txBox="1"/>
          <p:nvPr/>
        </p:nvSpPr>
        <p:spPr>
          <a:xfrm>
            <a:off x="640080" y="594360"/>
            <a:ext cx="10789920" cy="502920"/>
          </a:xfrm>
          <a:prstGeom prst="rect">
            <a:avLst/>
          </a:prstGeom>
          <a:noFill/>
        </p:spPr>
        <p:txBody>
          <a:bodyPr wrap="square" anchor="t" lIns="45720" rIns="45720" tIns="27432" bIns="27432">
            <a:spAutoFit/>
          </a:bodyPr>
          <a:lstStyle/>
          <a:p>
            <a:pPr algn="l">
              <a:defRPr sz="2800" b="1" i="0">
                <a:solidFill>
                  <a:srgbClr val="0F172A"/>
                </a:solidFill>
                <a:latin typeface="Segoe UI"/>
              </a:defRPr>
            </a:pPr>
            <a:r>
              <a:t>Versatile Buying Patterns &amp; The 'Borrowed Gallon' Betrayal</a:t>
            </a:r>
          </a:p>
        </p:txBody>
      </p:sp>
      <p:sp>
        <p:nvSpPr>
          <p:cNvPr id="8" name="TextBox 7"/>
          <p:cNvSpPr txBox="1"/>
          <p:nvPr/>
        </p:nvSpPr>
        <p:spPr>
          <a:xfrm>
            <a:off x="640080" y="1115568"/>
            <a:ext cx="10789920" cy="365760"/>
          </a:xfrm>
          <a:prstGeom prst="rect">
            <a:avLst/>
          </a:prstGeom>
          <a:noFill/>
        </p:spPr>
        <p:txBody>
          <a:bodyPr wrap="square" anchor="t" lIns="45720" rIns="45720" tIns="27432" bIns="27432">
            <a:spAutoFit/>
          </a:bodyPr>
          <a:lstStyle/>
          <a:p>
            <a:pPr algn="l">
              <a:defRPr sz="1350" b="0" i="0">
                <a:solidFill>
                  <a:srgbClr val="64748B"/>
                </a:solidFill>
                <a:latin typeface="Segoe UI"/>
              </a:defRPr>
            </a:pPr>
            <a:r>
              <a:t>LG Nature's Water lends gallons in exchange for customer exclusivity—making 1 to 2 week buying gaps highly suspicious.</a:t>
            </a:r>
          </a:p>
        </p:txBody>
      </p:sp>
      <p:sp>
        <p:nvSpPr>
          <p:cNvPr id="9" name="Rounded Rectangle 8"/>
          <p:cNvSpPr/>
          <p:nvPr/>
        </p:nvSpPr>
        <p:spPr>
          <a:xfrm>
            <a:off x="640080" y="1691640"/>
            <a:ext cx="3520440" cy="3246120"/>
          </a:xfrm>
          <a:prstGeom prst="roundRect">
            <a:avLst>
              <a:gd name="adj" fmla="val 4000"/>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91640"/>
            <a:ext cx="3520440" cy="4572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3246120" cy="457200"/>
          </a:xfrm>
          <a:prstGeom prst="rect">
            <a:avLst/>
          </a:prstGeom>
          <a:noFill/>
        </p:spPr>
        <p:txBody>
          <a:bodyPr wrap="square" anchor="ctr" lIns="45720" rIns="45720" tIns="27432" bIns="27432">
            <a:spAutoFit/>
          </a:bodyPr>
          <a:lstStyle/>
          <a:p>
            <a:pPr algn="l">
              <a:defRPr sz="1150" b="1" i="0">
                <a:solidFill>
                  <a:srgbClr val="FFFFFF"/>
                </a:solidFill>
                <a:latin typeface="Segoe UI"/>
              </a:defRPr>
            </a:pPr>
            <a:r>
              <a:t>01  THE EXCLUSIVITY DEAL</a:t>
            </a:r>
          </a:p>
        </p:txBody>
      </p:sp>
      <p:sp>
        <p:nvSpPr>
          <p:cNvPr id="12" name="TextBox 11"/>
          <p:cNvSpPr txBox="1"/>
          <p:nvPr/>
        </p:nvSpPr>
        <p:spPr>
          <a:xfrm>
            <a:off x="822959" y="2267712"/>
            <a:ext cx="3154680" cy="365760"/>
          </a:xfrm>
          <a:prstGeom prst="rect">
            <a:avLst/>
          </a:prstGeom>
          <a:noFill/>
        </p:spPr>
        <p:txBody>
          <a:bodyPr wrap="square" anchor="t" lIns="45720" rIns="45720" tIns="27432" bIns="27432">
            <a:spAutoFit/>
          </a:bodyPr>
          <a:lstStyle/>
          <a:p>
            <a:pPr algn="l">
              <a:defRPr sz="1600" b="1" i="0">
                <a:solidFill>
                  <a:srgbClr val="0F172A"/>
                </a:solidFill>
                <a:latin typeface="Segoe UI"/>
              </a:defRPr>
            </a:pPr>
            <a:r>
              <a:t>LG Lends Gallons for Free</a:t>
            </a:r>
          </a:p>
        </p:txBody>
      </p:sp>
      <p:sp>
        <p:nvSpPr>
          <p:cNvPr id="13" name="TextBox 12"/>
          <p:cNvSpPr txBox="1"/>
          <p:nvPr/>
        </p:nvSpPr>
        <p:spPr>
          <a:xfrm>
            <a:off x="822959" y="2697480"/>
            <a:ext cx="3154680" cy="2103120"/>
          </a:xfrm>
          <a:prstGeom prst="rect">
            <a:avLst/>
          </a:prstGeom>
          <a:noFill/>
        </p:spPr>
        <p:txBody>
          <a:bodyPr wrap="square" anchor="t" lIns="45720" rIns="45720" tIns="27432" bIns="27432">
            <a:spAutoFit/>
          </a:bodyPr>
          <a:lstStyle/>
          <a:p>
            <a:pPr algn="l">
              <a:defRPr sz="1150" b="0" i="0">
                <a:solidFill>
                  <a:srgbClr val="334155"/>
                </a:solidFill>
                <a:latin typeface="Segoe UI"/>
              </a:defRPr>
            </a:pPr>
            <a:r>
              <a:t>• LG Nature's Water lends slim/round 5-gallon containers to customers at zero upfront cost.</a:t>
            </a:r>
            <a:br/>
            <a:br/>
            <a:r>
              <a:t>• In exchange, the customer agrees to be an EXCLUSIVE customer of LG Nature's Water for all their refills.</a:t>
            </a:r>
            <a:br/>
            <a:br/>
            <a:r>
              <a:t>• Those containers remain LG Nature's Water's capital investment.</a:t>
            </a:r>
          </a:p>
        </p:txBody>
      </p:sp>
      <p:sp>
        <p:nvSpPr>
          <p:cNvPr id="14" name="Rounded Rectangle 13"/>
          <p:cNvSpPr/>
          <p:nvPr/>
        </p:nvSpPr>
        <p:spPr>
          <a:xfrm>
            <a:off x="4389120" y="1691640"/>
            <a:ext cx="3520440" cy="3246120"/>
          </a:xfrm>
          <a:prstGeom prst="roundRect">
            <a:avLst>
              <a:gd name="adj" fmla="val 4000"/>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691640"/>
            <a:ext cx="3520440" cy="457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691640"/>
            <a:ext cx="3246120" cy="457200"/>
          </a:xfrm>
          <a:prstGeom prst="rect">
            <a:avLst/>
          </a:prstGeom>
          <a:noFill/>
        </p:spPr>
        <p:txBody>
          <a:bodyPr wrap="square" anchor="ctr" lIns="45720" rIns="45720" tIns="27432" bIns="27432">
            <a:spAutoFit/>
          </a:bodyPr>
          <a:lstStyle/>
          <a:p>
            <a:pPr algn="l">
              <a:defRPr sz="1150" b="1" i="0">
                <a:solidFill>
                  <a:srgbClr val="FFFFFF"/>
                </a:solidFill>
                <a:latin typeface="Segoe UI"/>
              </a:defRPr>
            </a:pPr>
            <a:r>
              <a:t>02  THE SUSPICIOUS GAP</a:t>
            </a:r>
          </a:p>
        </p:txBody>
      </p:sp>
      <p:sp>
        <p:nvSpPr>
          <p:cNvPr id="17" name="TextBox 16"/>
          <p:cNvSpPr txBox="1"/>
          <p:nvPr/>
        </p:nvSpPr>
        <p:spPr>
          <a:xfrm>
            <a:off x="4572000" y="2267712"/>
            <a:ext cx="3154680" cy="365760"/>
          </a:xfrm>
          <a:prstGeom prst="rect">
            <a:avLst/>
          </a:prstGeom>
          <a:noFill/>
        </p:spPr>
        <p:txBody>
          <a:bodyPr wrap="square" anchor="t" lIns="45720" rIns="45720" tIns="27432" bIns="27432">
            <a:spAutoFit/>
          </a:bodyPr>
          <a:lstStyle/>
          <a:p>
            <a:pPr algn="l">
              <a:defRPr sz="1600" b="1" i="0">
                <a:solidFill>
                  <a:srgbClr val="0F172A"/>
                </a:solidFill>
                <a:latin typeface="Segoe UI"/>
              </a:defRPr>
            </a:pPr>
            <a:r>
              <a:t>1 to 2 Weeks Without Buying</a:t>
            </a:r>
          </a:p>
        </p:txBody>
      </p:sp>
      <p:sp>
        <p:nvSpPr>
          <p:cNvPr id="18" name="TextBox 17"/>
          <p:cNvSpPr txBox="1"/>
          <p:nvPr/>
        </p:nvSpPr>
        <p:spPr>
          <a:xfrm>
            <a:off x="4572000" y="2697480"/>
            <a:ext cx="3154680" cy="2103120"/>
          </a:xfrm>
          <a:prstGeom prst="rect">
            <a:avLst/>
          </a:prstGeom>
          <a:noFill/>
        </p:spPr>
        <p:txBody>
          <a:bodyPr wrap="square" anchor="t" lIns="45720" rIns="45720" tIns="27432" bIns="27432">
            <a:spAutoFit/>
          </a:bodyPr>
          <a:lstStyle/>
          <a:p>
            <a:pPr algn="l">
              <a:defRPr sz="1150" b="0" i="0">
                <a:solidFill>
                  <a:srgbClr val="334155"/>
                </a:solidFill>
                <a:latin typeface="Segoe UI"/>
              </a:defRPr>
            </a:pPr>
            <a:r>
              <a:t>• Customer buying patterns are highly versatile and unpredictable.</a:t>
            </a:r>
            <a:br/>
            <a:br/>
            <a:r>
              <a:t>• Our analysis found customers holding LG gallons who suddenly stop buying or refilling for 1 to 2 weeks straight.</a:t>
            </a:r>
            <a:br/>
            <a:br/>
            <a:r>
              <a:t>• People still drink water every day—so why aren't they refilling for 14 days?</a:t>
            </a:r>
          </a:p>
        </p:txBody>
      </p:sp>
      <p:sp>
        <p:nvSpPr>
          <p:cNvPr id="19" name="Rounded Rectangle 18"/>
          <p:cNvSpPr/>
          <p:nvPr/>
        </p:nvSpPr>
        <p:spPr>
          <a:xfrm>
            <a:off x="8138159" y="1691640"/>
            <a:ext cx="3520440" cy="3246120"/>
          </a:xfrm>
          <a:prstGeom prst="roundRect">
            <a:avLst>
              <a:gd name="adj" fmla="val 4000"/>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59" y="1691640"/>
            <a:ext cx="3520440" cy="4572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19" y="1691640"/>
            <a:ext cx="3246120" cy="457200"/>
          </a:xfrm>
          <a:prstGeom prst="rect">
            <a:avLst/>
          </a:prstGeom>
          <a:noFill/>
        </p:spPr>
        <p:txBody>
          <a:bodyPr wrap="square" anchor="ctr" lIns="45720" rIns="45720" tIns="27432" bIns="27432">
            <a:spAutoFit/>
          </a:bodyPr>
          <a:lstStyle/>
          <a:p>
            <a:pPr algn="l">
              <a:defRPr sz="1150" b="1" i="0">
                <a:solidFill>
                  <a:srgbClr val="FFFFFF"/>
                </a:solidFill>
                <a:latin typeface="Segoe UI"/>
              </a:defRPr>
            </a:pPr>
            <a:r>
              <a:t>03  THE HIDDEN BETRAYAL</a:t>
            </a:r>
          </a:p>
        </p:txBody>
      </p:sp>
      <p:sp>
        <p:nvSpPr>
          <p:cNvPr id="22" name="TextBox 21"/>
          <p:cNvSpPr txBox="1"/>
          <p:nvPr/>
        </p:nvSpPr>
        <p:spPr>
          <a:xfrm>
            <a:off x="8321039" y="2267712"/>
            <a:ext cx="3154680" cy="365760"/>
          </a:xfrm>
          <a:prstGeom prst="rect">
            <a:avLst/>
          </a:prstGeom>
          <a:noFill/>
        </p:spPr>
        <p:txBody>
          <a:bodyPr wrap="square" anchor="t" lIns="45720" rIns="45720" tIns="27432" bIns="27432">
            <a:spAutoFit/>
          </a:bodyPr>
          <a:lstStyle/>
          <a:p>
            <a:pPr algn="l">
              <a:defRPr sz="1600" b="1" i="0">
                <a:solidFill>
                  <a:srgbClr val="0F172A"/>
                </a:solidFill>
                <a:latin typeface="Segoe UI"/>
              </a:defRPr>
            </a:pPr>
            <a:r>
              <a:t>Stabbing LG Behind Its Back</a:t>
            </a:r>
          </a:p>
        </p:txBody>
      </p:sp>
      <p:sp>
        <p:nvSpPr>
          <p:cNvPr id="23" name="TextBox 22"/>
          <p:cNvSpPr txBox="1"/>
          <p:nvPr/>
        </p:nvSpPr>
        <p:spPr>
          <a:xfrm>
            <a:off x="8321039" y="2697480"/>
            <a:ext cx="3154680" cy="2103120"/>
          </a:xfrm>
          <a:prstGeom prst="rect">
            <a:avLst/>
          </a:prstGeom>
          <a:noFill/>
        </p:spPr>
        <p:txBody>
          <a:bodyPr wrap="square" anchor="t" lIns="45720" rIns="45720" tIns="27432" bIns="27432">
            <a:spAutoFit/>
          </a:bodyPr>
          <a:lstStyle/>
          <a:p>
            <a:pPr algn="l">
              <a:defRPr sz="1150" b="0" i="0">
                <a:solidFill>
                  <a:srgbClr val="334155"/>
                </a:solidFill>
                <a:latin typeface="Segoe UI"/>
              </a:defRPr>
            </a:pPr>
            <a:r>
              <a:t>• A 1–2 week silence while holding lent LG containers is a major red flag.</a:t>
            </a:r>
            <a:br/>
            <a:br/>
            <a:r>
              <a:t>• Customers may be secretly taking LG Nature's Water's lent gallons to refill at cheaper competitor stations!</a:t>
            </a:r>
            <a:br/>
            <a:br/>
            <a:r>
              <a:t>• Without pattern tracking, LG is unknowingly funding its competitors.</a:t>
            </a:r>
          </a:p>
        </p:txBody>
      </p:sp>
      <p:sp>
        <p:nvSpPr>
          <p:cNvPr id="24" name="Rounded Rectangle 23"/>
          <p:cNvSpPr/>
          <p:nvPr/>
        </p:nvSpPr>
        <p:spPr>
          <a:xfrm>
            <a:off x="640080" y="5120640"/>
            <a:ext cx="11018520" cy="1097280"/>
          </a:xfrm>
          <a:prstGeom prst="roundRect">
            <a:avLst>
              <a:gd name="adj" fmla="val 4000"/>
            </a:avLst>
          </a:prstGeom>
          <a:solidFill>
            <a:srgbClr val="0B192C"/>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230368"/>
            <a:ext cx="3840480" cy="320040"/>
          </a:xfrm>
          <a:prstGeom prst="rect">
            <a:avLst/>
          </a:prstGeom>
          <a:noFill/>
        </p:spPr>
        <p:txBody>
          <a:bodyPr wrap="square" anchor="t" lIns="45720" rIns="45720" tIns="27432" bIns="27432">
            <a:spAutoFit/>
          </a:bodyPr>
          <a:lstStyle/>
          <a:p>
            <a:pPr algn="l">
              <a:defRPr sz="1200" b="1" i="0">
                <a:solidFill>
                  <a:srgbClr val="FBBF24"/>
                </a:solidFill>
                <a:latin typeface="Segoe UI"/>
              </a:defRPr>
            </a:pPr>
            <a:r>
              <a:t>VISUALIZING THE EXCLUSIVITY BREACH</a:t>
            </a:r>
          </a:p>
        </p:txBody>
      </p:sp>
      <p:sp>
        <p:nvSpPr>
          <p:cNvPr id="26" name="TextBox 25"/>
          <p:cNvSpPr txBox="1"/>
          <p:nvPr/>
        </p:nvSpPr>
        <p:spPr>
          <a:xfrm>
            <a:off x="868680" y="5532120"/>
            <a:ext cx="3840480" cy="548640"/>
          </a:xfrm>
          <a:prstGeom prst="rect">
            <a:avLst/>
          </a:prstGeom>
          <a:noFill/>
        </p:spPr>
        <p:txBody>
          <a:bodyPr wrap="square" anchor="t" lIns="45720" rIns="45720" tIns="27432" bIns="27432">
            <a:spAutoFit/>
          </a:bodyPr>
          <a:lstStyle/>
          <a:p>
            <a:pPr algn="l">
              <a:defRPr sz="1100" b="0" i="0">
                <a:solidFill>
                  <a:srgbClr val="FFFFFF"/>
                </a:solidFill>
                <a:latin typeface="Segoe UI"/>
              </a:defRPr>
            </a:pPr>
            <a:r>
              <a:t>Customer holds 6 Lent LG Gallons, but calendar days 4 through 17 show ZERO orders:</a:t>
            </a:r>
          </a:p>
        </p:txBody>
      </p:sp>
      <p:sp>
        <p:nvSpPr>
          <p:cNvPr id="27" name="Rounded Rectangle 26"/>
          <p:cNvSpPr/>
          <p:nvPr/>
        </p:nvSpPr>
        <p:spPr>
          <a:xfrm>
            <a:off x="4846320" y="5285232"/>
            <a:ext cx="411480" cy="530352"/>
          </a:xfrm>
          <a:prstGeom prst="roundRect">
            <a:avLst>
              <a:gd name="adj" fmla="val 4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46320"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D1</a:t>
            </a:r>
          </a:p>
        </p:txBody>
      </p:sp>
      <p:sp>
        <p:nvSpPr>
          <p:cNvPr id="29" name="TextBox 28"/>
          <p:cNvSpPr txBox="1"/>
          <p:nvPr/>
        </p:nvSpPr>
        <p:spPr>
          <a:xfrm>
            <a:off x="4846320"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5G</a:t>
            </a:r>
          </a:p>
        </p:txBody>
      </p:sp>
      <p:sp>
        <p:nvSpPr>
          <p:cNvPr id="30" name="Rounded Rectangle 29"/>
          <p:cNvSpPr/>
          <p:nvPr/>
        </p:nvSpPr>
        <p:spPr>
          <a:xfrm>
            <a:off x="5312664" y="5285232"/>
            <a:ext cx="411480" cy="530352"/>
          </a:xfrm>
          <a:prstGeom prst="roundRect">
            <a:avLst>
              <a:gd name="adj" fmla="val 4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12664"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D2</a:t>
            </a:r>
          </a:p>
        </p:txBody>
      </p:sp>
      <p:sp>
        <p:nvSpPr>
          <p:cNvPr id="32" name="TextBox 31"/>
          <p:cNvSpPr txBox="1"/>
          <p:nvPr/>
        </p:nvSpPr>
        <p:spPr>
          <a:xfrm>
            <a:off x="5312664"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5G</a:t>
            </a:r>
          </a:p>
        </p:txBody>
      </p:sp>
      <p:sp>
        <p:nvSpPr>
          <p:cNvPr id="33" name="Rounded Rectangle 32"/>
          <p:cNvSpPr/>
          <p:nvPr/>
        </p:nvSpPr>
        <p:spPr>
          <a:xfrm>
            <a:off x="5779008" y="5285232"/>
            <a:ext cx="411480" cy="530352"/>
          </a:xfrm>
          <a:prstGeom prst="roundRect">
            <a:avLst>
              <a:gd name="adj" fmla="val 4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79008"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D3</a:t>
            </a:r>
          </a:p>
        </p:txBody>
      </p:sp>
      <p:sp>
        <p:nvSpPr>
          <p:cNvPr id="35" name="TextBox 34"/>
          <p:cNvSpPr txBox="1"/>
          <p:nvPr/>
        </p:nvSpPr>
        <p:spPr>
          <a:xfrm>
            <a:off x="5779008"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5G</a:t>
            </a:r>
          </a:p>
        </p:txBody>
      </p:sp>
      <p:sp>
        <p:nvSpPr>
          <p:cNvPr id="36" name="Rounded Rectangle 35"/>
          <p:cNvSpPr/>
          <p:nvPr/>
        </p:nvSpPr>
        <p:spPr>
          <a:xfrm>
            <a:off x="6245352" y="5285232"/>
            <a:ext cx="411480" cy="530352"/>
          </a:xfrm>
          <a:prstGeom prst="roundRect">
            <a:avLst>
              <a:gd name="adj" fmla="val 4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5352"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D4</a:t>
            </a:r>
          </a:p>
        </p:txBody>
      </p:sp>
      <p:sp>
        <p:nvSpPr>
          <p:cNvPr id="38" name="TextBox 37"/>
          <p:cNvSpPr txBox="1"/>
          <p:nvPr/>
        </p:nvSpPr>
        <p:spPr>
          <a:xfrm>
            <a:off x="6245352"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0</a:t>
            </a:r>
          </a:p>
        </p:txBody>
      </p:sp>
      <p:sp>
        <p:nvSpPr>
          <p:cNvPr id="39" name="Rounded Rectangle 38"/>
          <p:cNvSpPr/>
          <p:nvPr/>
        </p:nvSpPr>
        <p:spPr>
          <a:xfrm>
            <a:off x="6711696" y="5285232"/>
            <a:ext cx="411480" cy="530352"/>
          </a:xfrm>
          <a:prstGeom prst="roundRect">
            <a:avLst>
              <a:gd name="adj" fmla="val 4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11696"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D5</a:t>
            </a:r>
          </a:p>
        </p:txBody>
      </p:sp>
      <p:sp>
        <p:nvSpPr>
          <p:cNvPr id="41" name="TextBox 40"/>
          <p:cNvSpPr txBox="1"/>
          <p:nvPr/>
        </p:nvSpPr>
        <p:spPr>
          <a:xfrm>
            <a:off x="6711696"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0</a:t>
            </a:r>
          </a:p>
        </p:txBody>
      </p:sp>
      <p:sp>
        <p:nvSpPr>
          <p:cNvPr id="42" name="Rounded Rectangle 41"/>
          <p:cNvSpPr/>
          <p:nvPr/>
        </p:nvSpPr>
        <p:spPr>
          <a:xfrm>
            <a:off x="7178040" y="5285232"/>
            <a:ext cx="411480" cy="530352"/>
          </a:xfrm>
          <a:prstGeom prst="roundRect">
            <a:avLst>
              <a:gd name="adj" fmla="val 4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78040"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D6</a:t>
            </a:r>
          </a:p>
        </p:txBody>
      </p:sp>
      <p:sp>
        <p:nvSpPr>
          <p:cNvPr id="44" name="TextBox 43"/>
          <p:cNvSpPr txBox="1"/>
          <p:nvPr/>
        </p:nvSpPr>
        <p:spPr>
          <a:xfrm>
            <a:off x="7178040"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0</a:t>
            </a:r>
          </a:p>
        </p:txBody>
      </p:sp>
      <p:sp>
        <p:nvSpPr>
          <p:cNvPr id="45" name="Rounded Rectangle 44"/>
          <p:cNvSpPr/>
          <p:nvPr/>
        </p:nvSpPr>
        <p:spPr>
          <a:xfrm>
            <a:off x="7644383" y="5285232"/>
            <a:ext cx="411480" cy="530352"/>
          </a:xfrm>
          <a:prstGeom prst="roundRect">
            <a:avLst>
              <a:gd name="adj" fmla="val 4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44383"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D7</a:t>
            </a:r>
          </a:p>
        </p:txBody>
      </p:sp>
      <p:sp>
        <p:nvSpPr>
          <p:cNvPr id="47" name="TextBox 46"/>
          <p:cNvSpPr txBox="1"/>
          <p:nvPr/>
        </p:nvSpPr>
        <p:spPr>
          <a:xfrm>
            <a:off x="7644383"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0</a:t>
            </a:r>
          </a:p>
        </p:txBody>
      </p:sp>
      <p:sp>
        <p:nvSpPr>
          <p:cNvPr id="48" name="Rounded Rectangle 47"/>
          <p:cNvSpPr/>
          <p:nvPr/>
        </p:nvSpPr>
        <p:spPr>
          <a:xfrm>
            <a:off x="8110728" y="5285232"/>
            <a:ext cx="411480" cy="530352"/>
          </a:xfrm>
          <a:prstGeom prst="roundRect">
            <a:avLst>
              <a:gd name="adj" fmla="val 4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10728"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D8</a:t>
            </a:r>
          </a:p>
        </p:txBody>
      </p:sp>
      <p:sp>
        <p:nvSpPr>
          <p:cNvPr id="50" name="TextBox 49"/>
          <p:cNvSpPr txBox="1"/>
          <p:nvPr/>
        </p:nvSpPr>
        <p:spPr>
          <a:xfrm>
            <a:off x="8110728"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0</a:t>
            </a:r>
          </a:p>
        </p:txBody>
      </p:sp>
      <p:sp>
        <p:nvSpPr>
          <p:cNvPr id="51" name="Rounded Rectangle 50"/>
          <p:cNvSpPr/>
          <p:nvPr/>
        </p:nvSpPr>
        <p:spPr>
          <a:xfrm>
            <a:off x="8577072" y="5285232"/>
            <a:ext cx="411480" cy="530352"/>
          </a:xfrm>
          <a:prstGeom prst="roundRect">
            <a:avLst>
              <a:gd name="adj" fmla="val 4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77072"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D9</a:t>
            </a:r>
          </a:p>
        </p:txBody>
      </p:sp>
      <p:sp>
        <p:nvSpPr>
          <p:cNvPr id="53" name="TextBox 52"/>
          <p:cNvSpPr txBox="1"/>
          <p:nvPr/>
        </p:nvSpPr>
        <p:spPr>
          <a:xfrm>
            <a:off x="8577072"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0</a:t>
            </a:r>
          </a:p>
        </p:txBody>
      </p:sp>
      <p:sp>
        <p:nvSpPr>
          <p:cNvPr id="54" name="Rounded Rectangle 53"/>
          <p:cNvSpPr/>
          <p:nvPr/>
        </p:nvSpPr>
        <p:spPr>
          <a:xfrm>
            <a:off x="9043416" y="5285232"/>
            <a:ext cx="411480" cy="530352"/>
          </a:xfrm>
          <a:prstGeom prst="roundRect">
            <a:avLst>
              <a:gd name="adj" fmla="val 4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43416"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D10</a:t>
            </a:r>
          </a:p>
        </p:txBody>
      </p:sp>
      <p:sp>
        <p:nvSpPr>
          <p:cNvPr id="56" name="TextBox 55"/>
          <p:cNvSpPr txBox="1"/>
          <p:nvPr/>
        </p:nvSpPr>
        <p:spPr>
          <a:xfrm>
            <a:off x="9043416"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0</a:t>
            </a:r>
          </a:p>
        </p:txBody>
      </p:sp>
      <p:sp>
        <p:nvSpPr>
          <p:cNvPr id="57" name="Rounded Rectangle 56"/>
          <p:cNvSpPr/>
          <p:nvPr/>
        </p:nvSpPr>
        <p:spPr>
          <a:xfrm>
            <a:off x="9509759" y="5285232"/>
            <a:ext cx="411480" cy="530352"/>
          </a:xfrm>
          <a:prstGeom prst="roundRect">
            <a:avLst>
              <a:gd name="adj" fmla="val 4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509759"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D11</a:t>
            </a:r>
          </a:p>
        </p:txBody>
      </p:sp>
      <p:sp>
        <p:nvSpPr>
          <p:cNvPr id="59" name="TextBox 58"/>
          <p:cNvSpPr txBox="1"/>
          <p:nvPr/>
        </p:nvSpPr>
        <p:spPr>
          <a:xfrm>
            <a:off x="9509759"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0</a:t>
            </a:r>
          </a:p>
        </p:txBody>
      </p:sp>
      <p:sp>
        <p:nvSpPr>
          <p:cNvPr id="60" name="Rounded Rectangle 59"/>
          <p:cNvSpPr/>
          <p:nvPr/>
        </p:nvSpPr>
        <p:spPr>
          <a:xfrm>
            <a:off x="9976104" y="5285232"/>
            <a:ext cx="411480" cy="530352"/>
          </a:xfrm>
          <a:prstGeom prst="roundRect">
            <a:avLst>
              <a:gd name="adj" fmla="val 4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976104"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D12</a:t>
            </a:r>
          </a:p>
        </p:txBody>
      </p:sp>
      <p:sp>
        <p:nvSpPr>
          <p:cNvPr id="62" name="TextBox 61"/>
          <p:cNvSpPr txBox="1"/>
          <p:nvPr/>
        </p:nvSpPr>
        <p:spPr>
          <a:xfrm>
            <a:off x="9976104"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0</a:t>
            </a:r>
          </a:p>
        </p:txBody>
      </p:sp>
      <p:sp>
        <p:nvSpPr>
          <p:cNvPr id="63" name="Rounded Rectangle 62"/>
          <p:cNvSpPr/>
          <p:nvPr/>
        </p:nvSpPr>
        <p:spPr>
          <a:xfrm>
            <a:off x="10442448" y="5285232"/>
            <a:ext cx="411480" cy="530352"/>
          </a:xfrm>
          <a:prstGeom prst="roundRect">
            <a:avLst>
              <a:gd name="adj" fmla="val 4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442448"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D13</a:t>
            </a:r>
          </a:p>
        </p:txBody>
      </p:sp>
      <p:sp>
        <p:nvSpPr>
          <p:cNvPr id="65" name="TextBox 64"/>
          <p:cNvSpPr txBox="1"/>
          <p:nvPr/>
        </p:nvSpPr>
        <p:spPr>
          <a:xfrm>
            <a:off x="10442448"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0</a:t>
            </a:r>
          </a:p>
        </p:txBody>
      </p:sp>
      <p:sp>
        <p:nvSpPr>
          <p:cNvPr id="66" name="Rounded Rectangle 65"/>
          <p:cNvSpPr/>
          <p:nvPr/>
        </p:nvSpPr>
        <p:spPr>
          <a:xfrm>
            <a:off x="10908792" y="5285232"/>
            <a:ext cx="411480" cy="530352"/>
          </a:xfrm>
          <a:prstGeom prst="roundRect">
            <a:avLst>
              <a:gd name="adj" fmla="val 4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908792" y="5303520"/>
            <a:ext cx="411480" cy="228600"/>
          </a:xfrm>
          <a:prstGeom prst="rect">
            <a:avLst/>
          </a:prstGeom>
          <a:noFill/>
        </p:spPr>
        <p:txBody>
          <a:bodyPr wrap="square" anchor="t" lIns="45720" rIns="45720" tIns="27432" bIns="27432">
            <a:spAutoFit/>
          </a:bodyPr>
          <a:lstStyle/>
          <a:p>
            <a:pPr algn="ctr">
              <a:defRPr sz="850" b="1" i="0">
                <a:solidFill>
                  <a:srgbClr val="FFFFFF"/>
                </a:solidFill>
                <a:latin typeface="Segoe UI"/>
              </a:defRPr>
            </a:pPr>
            <a:r>
              <a:t>D14</a:t>
            </a:r>
          </a:p>
        </p:txBody>
      </p:sp>
      <p:sp>
        <p:nvSpPr>
          <p:cNvPr id="68" name="TextBox 67"/>
          <p:cNvSpPr txBox="1"/>
          <p:nvPr/>
        </p:nvSpPr>
        <p:spPr>
          <a:xfrm>
            <a:off x="10908792" y="5513832"/>
            <a:ext cx="411480" cy="256032"/>
          </a:xfrm>
          <a:prstGeom prst="rect">
            <a:avLst/>
          </a:prstGeom>
          <a:noFill/>
        </p:spPr>
        <p:txBody>
          <a:bodyPr wrap="square" anchor="t" lIns="45720" rIns="45720" tIns="27432" bIns="27432">
            <a:spAutoFit/>
          </a:bodyPr>
          <a:lstStyle/>
          <a:p>
            <a:pPr algn="ctr">
              <a:defRPr sz="950" b="1" i="0">
                <a:solidFill>
                  <a:srgbClr val="FFFFFF"/>
                </a:solidFill>
                <a:latin typeface="Segoe UI"/>
              </a:defRPr>
            </a:pPr>
            <a:r>
              <a:t>0</a:t>
            </a:r>
          </a:p>
        </p:txBody>
      </p:sp>
      <p:sp>
        <p:nvSpPr>
          <p:cNvPr id="69" name="TextBox 68"/>
          <p:cNvSpPr txBox="1"/>
          <p:nvPr/>
        </p:nvSpPr>
        <p:spPr>
          <a:xfrm>
            <a:off x="4846320" y="5870448"/>
            <a:ext cx="6583680" cy="274320"/>
          </a:xfrm>
          <a:prstGeom prst="rect">
            <a:avLst/>
          </a:prstGeom>
          <a:noFill/>
        </p:spPr>
        <p:txBody>
          <a:bodyPr wrap="square" anchor="t" lIns="45720" rIns="45720" tIns="27432" bIns="27432">
            <a:spAutoFit/>
          </a:bodyPr>
          <a:lstStyle/>
          <a:p>
            <a:pPr algn="l">
              <a:defRPr sz="1000" b="1" i="0">
                <a:solidFill>
                  <a:srgbClr val="FCA5A5"/>
                </a:solidFill>
                <a:latin typeface="Segoe UI"/>
              </a:defRPr>
            </a:pPr>
            <a:r>
              <a:t>▲ Days 1–3: Normal Refills   |   ▲ Days 4–14 (1–2 Weeks): ZERO Refills — High Risk of Competitor Refilling!</a:t>
            </a:r>
          </a:p>
        </p:txBody>
      </p:sp>
      <p:sp>
        <p:nvSpPr>
          <p:cNvPr id="70" name="TextBox 69"/>
          <p:cNvSpPr txBox="1"/>
          <p:nvPr/>
        </p:nvSpPr>
        <p:spPr>
          <a:xfrm>
            <a:off x="640080" y="6446520"/>
            <a:ext cx="5943600" cy="274320"/>
          </a:xfrm>
          <a:prstGeom prst="rect">
            <a:avLst/>
          </a:prstGeom>
          <a:noFill/>
        </p:spPr>
        <p:txBody>
          <a:bodyPr wrap="square" anchor="t" lIns="45720" rIns="45720" tIns="27432" bIns="27432">
            <a:spAutoFit/>
          </a:bodyPr>
          <a:lstStyle/>
          <a:p>
            <a:pPr algn="l">
              <a:defRPr sz="950" b="0" i="0">
                <a:solidFill>
                  <a:srgbClr val="64748B"/>
                </a:solidFill>
                <a:latin typeface="Segoe UI"/>
              </a:defRPr>
            </a:pPr>
            <a:r>
              <a:t>Team MKB (Merge, Knowledge and Build)  •  AquaLedger for LG Nature's Water</a:t>
            </a:r>
          </a:p>
        </p:txBody>
      </p:sp>
      <p:sp>
        <p:nvSpPr>
          <p:cNvPr id="71" name="TextBox 70"/>
          <p:cNvSpPr txBox="1"/>
          <p:nvPr/>
        </p:nvSpPr>
        <p:spPr>
          <a:xfrm>
            <a:off x="6858000" y="6446520"/>
            <a:ext cx="4663440" cy="274320"/>
          </a:xfrm>
          <a:prstGeom prst="rect">
            <a:avLst/>
          </a:prstGeom>
          <a:noFill/>
        </p:spPr>
        <p:txBody>
          <a:bodyPr wrap="square" anchor="t" lIns="45720" rIns="45720" tIns="27432" bIns="27432">
            <a:spAutoFit/>
          </a:bodyPr>
          <a:lstStyle/>
          <a:p>
            <a:pPr algn="r">
              <a:defRPr sz="950" b="0" i="0">
                <a:solidFill>
                  <a:srgbClr val="64748B"/>
                </a:solidFill>
                <a:latin typeface="Segoe UI"/>
              </a:defRPr>
            </a:pPr>
            <a:r>
              <a:t>5-Minute Systems Analysis &amp; Solution Pitch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7315200" cy="320040"/>
          </a:xfrm>
          <a:prstGeom prst="rect">
            <a:avLst/>
          </a:prstGeom>
          <a:noFill/>
        </p:spPr>
        <p:txBody>
          <a:bodyPr wrap="square" anchor="t" lIns="45720" rIns="45720" tIns="27432" bIns="27432">
            <a:spAutoFit/>
          </a:bodyPr>
          <a:lstStyle/>
          <a:p>
            <a:pPr algn="l">
              <a:defRPr sz="1100" b="1" i="0">
                <a:solidFill>
                  <a:srgbClr val="14B8A6"/>
                </a:solidFill>
                <a:latin typeface="Segoe UI"/>
              </a:defRPr>
            </a:pPr>
            <a:r>
              <a:t>THE PROPOSED SOLUTION BY TEAM MKB</a:t>
            </a:r>
          </a:p>
        </p:txBody>
      </p:sp>
      <p:sp>
        <p:nvSpPr>
          <p:cNvPr id="5" name="Rounded Rectangle 4"/>
          <p:cNvSpPr/>
          <p:nvPr/>
        </p:nvSpPr>
        <p:spPr>
          <a:xfrm>
            <a:off x="9784080" y="292608"/>
            <a:ext cx="1764792" cy="329184"/>
          </a:xfrm>
          <a:prstGeom prst="roundRect">
            <a:avLst>
              <a:gd name="adj" fmla="val 4000"/>
            </a:avLst>
          </a:prstGeom>
          <a:solidFill>
            <a:srgbClr val="132743"/>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292608"/>
            <a:ext cx="1764792" cy="329184"/>
          </a:xfrm>
          <a:prstGeom prst="rect">
            <a:avLst/>
          </a:prstGeom>
          <a:noFill/>
        </p:spPr>
        <p:txBody>
          <a:bodyPr wrap="square" anchor="ctr" lIns="45720" rIns="45720" tIns="27432" bIns="27432">
            <a:spAutoFit/>
          </a:bodyPr>
          <a:lstStyle/>
          <a:p>
            <a:pPr algn="ctr">
              <a:defRPr sz="950" b="1" i="0">
                <a:solidFill>
                  <a:srgbClr val="38BDF8"/>
                </a:solidFill>
                <a:latin typeface="Segoe UI"/>
              </a:defRPr>
            </a:pPr>
            <a:r>
              <a:t>SLIDE 05  •  3:00 – 3:40</a:t>
            </a:r>
          </a:p>
        </p:txBody>
      </p:sp>
      <p:sp>
        <p:nvSpPr>
          <p:cNvPr id="7" name="TextBox 6"/>
          <p:cNvSpPr txBox="1"/>
          <p:nvPr/>
        </p:nvSpPr>
        <p:spPr>
          <a:xfrm>
            <a:off x="640080" y="621792"/>
            <a:ext cx="10789920" cy="502920"/>
          </a:xfrm>
          <a:prstGeom prst="rect">
            <a:avLst/>
          </a:prstGeom>
          <a:noFill/>
        </p:spPr>
        <p:txBody>
          <a:bodyPr wrap="square" anchor="t" lIns="45720" rIns="45720" tIns="27432" bIns="27432">
            <a:spAutoFit/>
          </a:bodyPr>
          <a:lstStyle/>
          <a:p>
            <a:pPr algn="l">
              <a:defRPr sz="2800" b="1" i="0">
                <a:solidFill>
                  <a:srgbClr val="FFFFFF"/>
                </a:solidFill>
                <a:latin typeface="Segoe UI"/>
              </a:defRPr>
            </a:pPr>
            <a:r>
              <a:t>Introducing AquaLedger: One Unified System, Three Direct Fixes</a:t>
            </a:r>
          </a:p>
        </p:txBody>
      </p:sp>
      <p:sp>
        <p:nvSpPr>
          <p:cNvPr id="8" name="TextBox 7"/>
          <p:cNvSpPr txBox="1"/>
          <p:nvPr/>
        </p:nvSpPr>
        <p:spPr>
          <a:xfrm>
            <a:off x="640080" y="1143000"/>
            <a:ext cx="10789920" cy="365760"/>
          </a:xfrm>
          <a:prstGeom prst="rect">
            <a:avLst/>
          </a:prstGeom>
          <a:noFill/>
        </p:spPr>
        <p:txBody>
          <a:bodyPr wrap="square" anchor="t" lIns="45720" rIns="45720" tIns="27432" bIns="27432">
            <a:spAutoFit/>
          </a:bodyPr>
          <a:lstStyle/>
          <a:p>
            <a:pPr algn="l">
              <a:defRPr sz="1350" b="0" i="0">
                <a:solidFill>
                  <a:srgbClr val="94A3B8"/>
                </a:solidFill>
                <a:latin typeface="Segoe UI"/>
              </a:defRPr>
            </a:pPr>
            <a:r>
              <a:t>AquaLedger connects the Rider Mobile Dispatch App with the Operator Web POS &amp; Monthly Customer Matrix.</a:t>
            </a:r>
          </a:p>
        </p:txBody>
      </p:sp>
      <p:sp>
        <p:nvSpPr>
          <p:cNvPr id="9" name="Rounded Rectangle 8"/>
          <p:cNvSpPr/>
          <p:nvPr/>
        </p:nvSpPr>
        <p:spPr>
          <a:xfrm>
            <a:off x="640080" y="1691640"/>
            <a:ext cx="4023360" cy="1325880"/>
          </a:xfrm>
          <a:prstGeom prst="roundRect">
            <a:avLst>
              <a:gd name="adj" fmla="val 4000"/>
            </a:avLst>
          </a:prstGeom>
          <a:solidFill>
            <a:srgbClr val="132743"/>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28800"/>
            <a:ext cx="3657600" cy="320040"/>
          </a:xfrm>
          <a:prstGeom prst="rect">
            <a:avLst/>
          </a:prstGeom>
          <a:noFill/>
        </p:spPr>
        <p:txBody>
          <a:bodyPr wrap="square" anchor="t" lIns="45720" rIns="45720" tIns="27432" bIns="27432">
            <a:spAutoFit/>
          </a:bodyPr>
          <a:lstStyle/>
          <a:p>
            <a:pPr algn="l">
              <a:defRPr sz="1100" b="1" i="0">
                <a:solidFill>
                  <a:srgbClr val="FCA5A5"/>
                </a:solidFill>
                <a:latin typeface="Segoe UI"/>
              </a:defRPr>
            </a:pPr>
            <a:r>
              <a:t>PROBLEM 1: UNCHECKED ROUTES &amp; FUEL WASTE</a:t>
            </a:r>
          </a:p>
        </p:txBody>
      </p:sp>
      <p:sp>
        <p:nvSpPr>
          <p:cNvPr id="11" name="TextBox 10"/>
          <p:cNvSpPr txBox="1"/>
          <p:nvPr/>
        </p:nvSpPr>
        <p:spPr>
          <a:xfrm>
            <a:off x="822960" y="2167128"/>
            <a:ext cx="3657600" cy="731520"/>
          </a:xfrm>
          <a:prstGeom prst="rect">
            <a:avLst/>
          </a:prstGeom>
          <a:noFill/>
        </p:spPr>
        <p:txBody>
          <a:bodyPr wrap="square" anchor="t" lIns="45720" rIns="45720" tIns="27432" bIns="27432">
            <a:spAutoFit/>
          </a:bodyPr>
          <a:lstStyle/>
          <a:p>
            <a:pPr algn="l">
              <a:defRPr sz="1150" b="0" i="0">
                <a:solidFill>
                  <a:srgbClr val="FFFFFF"/>
                </a:solidFill>
                <a:latin typeface="Segoe UI"/>
              </a:defRPr>
            </a:pPr>
            <a:r>
              <a:t>Rider forgets Barangay checklist; must comply with Operator; repeat trips burn fuel.</a:t>
            </a:r>
          </a:p>
        </p:txBody>
      </p:sp>
      <p:sp>
        <p:nvSpPr>
          <p:cNvPr id="12" name="Rounded Rectangle 11"/>
          <p:cNvSpPr/>
          <p:nvPr/>
        </p:nvSpPr>
        <p:spPr>
          <a:xfrm>
            <a:off x="4773168" y="2130552"/>
            <a:ext cx="594360" cy="438912"/>
          </a:xfrm>
          <a:prstGeom prst="roundRect">
            <a:avLst>
              <a:gd name="adj" fmla="val 4000"/>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2130552"/>
            <a:ext cx="594360" cy="438912"/>
          </a:xfrm>
          <a:prstGeom prst="rect">
            <a:avLst/>
          </a:prstGeom>
          <a:noFill/>
        </p:spPr>
        <p:txBody>
          <a:bodyPr wrap="square" anchor="ctr" lIns="45720" rIns="45720" tIns="27432" bIns="27432">
            <a:spAutoFit/>
          </a:bodyPr>
          <a:lstStyle/>
          <a:p>
            <a:pPr algn="ctr">
              <a:defRPr sz="850" b="1" i="0">
                <a:solidFill>
                  <a:srgbClr val="0B192C"/>
                </a:solidFill>
                <a:latin typeface="Segoe UI"/>
              </a:defRPr>
            </a:pPr>
            <a:r>
              <a:t>SOLVED</a:t>
            </a:r>
          </a:p>
        </p:txBody>
      </p:sp>
      <p:sp>
        <p:nvSpPr>
          <p:cNvPr id="14" name="Rounded Rectangle 13"/>
          <p:cNvSpPr/>
          <p:nvPr/>
        </p:nvSpPr>
        <p:spPr>
          <a:xfrm>
            <a:off x="5486400" y="1691640"/>
            <a:ext cx="6062472" cy="1325880"/>
          </a:xfrm>
          <a:prstGeom prst="roundRect">
            <a:avLst>
              <a:gd name="adj" fmla="val 4000"/>
            </a:avLst>
          </a:prstGeom>
          <a:solidFill>
            <a:srgbClr val="132743"/>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1801368"/>
            <a:ext cx="5669280" cy="292608"/>
          </a:xfrm>
          <a:prstGeom prst="rect">
            <a:avLst/>
          </a:prstGeom>
          <a:noFill/>
        </p:spPr>
        <p:txBody>
          <a:bodyPr wrap="square" anchor="t" lIns="45720" rIns="45720" tIns="27432" bIns="27432">
            <a:spAutoFit/>
          </a:bodyPr>
          <a:lstStyle/>
          <a:p>
            <a:pPr algn="l">
              <a:defRPr sz="1200" b="1" i="0">
                <a:solidFill>
                  <a:srgbClr val="38BDF8"/>
                </a:solidFill>
                <a:latin typeface="Segoe UI"/>
              </a:defRPr>
            </a:pPr>
            <a:r>
              <a:t>AQUALEDGER FIX #1: BARANGAY DISPATCH &amp; DIGITAL CHECKLIST</a:t>
            </a:r>
          </a:p>
        </p:txBody>
      </p:sp>
      <p:sp>
        <p:nvSpPr>
          <p:cNvPr id="16" name="TextBox 15"/>
          <p:cNvSpPr txBox="1"/>
          <p:nvPr/>
        </p:nvSpPr>
        <p:spPr>
          <a:xfrm>
            <a:off x="5669280" y="2112264"/>
            <a:ext cx="5669280" cy="841248"/>
          </a:xfrm>
          <a:prstGeom prst="rect">
            <a:avLst/>
          </a:prstGeom>
          <a:noFill/>
        </p:spPr>
        <p:txBody>
          <a:bodyPr wrap="square" anchor="t" lIns="45720" rIns="45720" tIns="27432" bIns="27432">
            <a:spAutoFit/>
          </a:bodyPr>
          <a:lstStyle/>
          <a:p>
            <a:pPr algn="l">
              <a:defRPr sz="1100" b="0" i="0">
                <a:solidFill>
                  <a:srgbClr val="E2E8F0"/>
                </a:solidFill>
                <a:latin typeface="Segoe UI"/>
              </a:defRPr>
            </a:pPr>
            <a:r>
              <a:t>• Groups deliveries by Barangay &amp; Vehicle rotation (Foton / Sidecar).</a:t>
            </a:r>
            <a:br/>
            <a:r>
              <a:t>• Riders cannot close a shift with an unchecked Barangay without logging a verified reason + timestamped AI Photo &amp; Doorstep Receipt (#INV → #OR).</a:t>
            </a:r>
          </a:p>
        </p:txBody>
      </p:sp>
      <p:sp>
        <p:nvSpPr>
          <p:cNvPr id="17" name="Rounded Rectangle 16"/>
          <p:cNvSpPr/>
          <p:nvPr/>
        </p:nvSpPr>
        <p:spPr>
          <a:xfrm>
            <a:off x="640080" y="3200400"/>
            <a:ext cx="4023360" cy="1325880"/>
          </a:xfrm>
          <a:prstGeom prst="roundRect">
            <a:avLst>
              <a:gd name="adj" fmla="val 4000"/>
            </a:avLst>
          </a:prstGeom>
          <a:solidFill>
            <a:srgbClr val="132743"/>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337560"/>
            <a:ext cx="3657600" cy="320040"/>
          </a:xfrm>
          <a:prstGeom prst="rect">
            <a:avLst/>
          </a:prstGeom>
          <a:noFill/>
        </p:spPr>
        <p:txBody>
          <a:bodyPr wrap="square" anchor="t" lIns="45720" rIns="45720" tIns="27432" bIns="27432">
            <a:spAutoFit/>
          </a:bodyPr>
          <a:lstStyle/>
          <a:p>
            <a:pPr algn="l">
              <a:defRPr sz="1100" b="1" i="0">
                <a:solidFill>
                  <a:srgbClr val="FCA5A5"/>
                </a:solidFill>
                <a:latin typeface="Segoe UI"/>
              </a:defRPr>
            </a:pPr>
            <a:r>
              <a:t>PROBLEM 2: 2-HOUR ROW-BY-ROW MANUAL AUDITING</a:t>
            </a:r>
          </a:p>
        </p:txBody>
      </p:sp>
      <p:sp>
        <p:nvSpPr>
          <p:cNvPr id="19" name="TextBox 18"/>
          <p:cNvSpPr txBox="1"/>
          <p:nvPr/>
        </p:nvSpPr>
        <p:spPr>
          <a:xfrm>
            <a:off x="822960" y="3675887"/>
            <a:ext cx="3657600" cy="731520"/>
          </a:xfrm>
          <a:prstGeom prst="rect">
            <a:avLst/>
          </a:prstGeom>
          <a:noFill/>
        </p:spPr>
        <p:txBody>
          <a:bodyPr wrap="square" anchor="t" lIns="45720" rIns="45720" tIns="27432" bIns="27432">
            <a:spAutoFit/>
          </a:bodyPr>
          <a:lstStyle/>
          <a:p>
            <a:pPr algn="l">
              <a:defRPr sz="1150" b="0" i="0">
                <a:solidFill>
                  <a:srgbClr val="FFFFFF"/>
                </a:solidFill>
                <a:latin typeface="Segoe UI"/>
              </a:defRPr>
            </a:pPr>
            <a:r>
              <a:t>Operator manually monitors each customer row to compute gallons &amp; total cost.</a:t>
            </a:r>
          </a:p>
        </p:txBody>
      </p:sp>
      <p:sp>
        <p:nvSpPr>
          <p:cNvPr id="20" name="Rounded Rectangle 19"/>
          <p:cNvSpPr/>
          <p:nvPr/>
        </p:nvSpPr>
        <p:spPr>
          <a:xfrm>
            <a:off x="4773168" y="3639312"/>
            <a:ext cx="594360" cy="438912"/>
          </a:xfrm>
          <a:prstGeom prst="roundRect">
            <a:avLst>
              <a:gd name="adj" fmla="val 4000"/>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639312"/>
            <a:ext cx="594360" cy="438912"/>
          </a:xfrm>
          <a:prstGeom prst="rect">
            <a:avLst/>
          </a:prstGeom>
          <a:noFill/>
        </p:spPr>
        <p:txBody>
          <a:bodyPr wrap="square" anchor="ctr" lIns="45720" rIns="45720" tIns="27432" bIns="27432">
            <a:spAutoFit/>
          </a:bodyPr>
          <a:lstStyle/>
          <a:p>
            <a:pPr algn="ctr">
              <a:defRPr sz="850" b="1" i="0">
                <a:solidFill>
                  <a:srgbClr val="0B192C"/>
                </a:solidFill>
                <a:latin typeface="Segoe UI"/>
              </a:defRPr>
            </a:pPr>
            <a:r>
              <a:t>SOLVED</a:t>
            </a:r>
          </a:p>
        </p:txBody>
      </p:sp>
      <p:sp>
        <p:nvSpPr>
          <p:cNvPr id="22" name="Rounded Rectangle 21"/>
          <p:cNvSpPr/>
          <p:nvPr/>
        </p:nvSpPr>
        <p:spPr>
          <a:xfrm>
            <a:off x="5486400" y="3200400"/>
            <a:ext cx="6062472" cy="1325880"/>
          </a:xfrm>
          <a:prstGeom prst="roundRect">
            <a:avLst>
              <a:gd name="adj" fmla="val 4000"/>
            </a:avLst>
          </a:prstGeom>
          <a:solidFill>
            <a:srgbClr val="132743"/>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0" y="3310128"/>
            <a:ext cx="5669280" cy="292608"/>
          </a:xfrm>
          <a:prstGeom prst="rect">
            <a:avLst/>
          </a:prstGeom>
          <a:noFill/>
        </p:spPr>
        <p:txBody>
          <a:bodyPr wrap="square" anchor="t" lIns="45720" rIns="45720" tIns="27432" bIns="27432">
            <a:spAutoFit/>
          </a:bodyPr>
          <a:lstStyle/>
          <a:p>
            <a:pPr algn="l">
              <a:defRPr sz="1200" b="1" i="0">
                <a:solidFill>
                  <a:srgbClr val="FBBF24"/>
                </a:solidFill>
                <a:latin typeface="Segoe UI"/>
              </a:defRPr>
            </a:pPr>
            <a:r>
              <a:t>AQUALEDGER FIX #2: AUTOMATED ROW LEDGER &amp; 1-TAP POS AUDIT</a:t>
            </a:r>
          </a:p>
        </p:txBody>
      </p:sp>
      <p:sp>
        <p:nvSpPr>
          <p:cNvPr id="24" name="TextBox 23"/>
          <p:cNvSpPr txBox="1"/>
          <p:nvPr/>
        </p:nvSpPr>
        <p:spPr>
          <a:xfrm>
            <a:off x="5669280" y="3621024"/>
            <a:ext cx="5669280" cy="841248"/>
          </a:xfrm>
          <a:prstGeom prst="rect">
            <a:avLst/>
          </a:prstGeom>
          <a:noFill/>
        </p:spPr>
        <p:txBody>
          <a:bodyPr wrap="square" anchor="t" lIns="45720" rIns="45720" tIns="27432" bIns="27432">
            <a:spAutoFit/>
          </a:bodyPr>
          <a:lstStyle/>
          <a:p>
            <a:pPr algn="l">
              <a:defRPr sz="1100" b="0" i="0">
                <a:solidFill>
                  <a:srgbClr val="E2E8F0"/>
                </a:solidFill>
                <a:latin typeface="Segoe UI"/>
              </a:defRPr>
            </a:pPr>
            <a:r>
              <a:t>• Pickup &amp; delivery payments auto-compute gallons × price in real time.</a:t>
            </a:r>
            <a:br/>
            <a:r>
              <a:t>• Monthly 1–31 Spreadsheet Matrix automatically calculates every customer row's daily gallons, total revenue, and 1-Tap End-of-Day Report in &lt; 5 seconds.</a:t>
            </a:r>
          </a:p>
        </p:txBody>
      </p:sp>
      <p:sp>
        <p:nvSpPr>
          <p:cNvPr id="25" name="Rounded Rectangle 24"/>
          <p:cNvSpPr/>
          <p:nvPr/>
        </p:nvSpPr>
        <p:spPr>
          <a:xfrm>
            <a:off x="640080" y="4709160"/>
            <a:ext cx="4023360" cy="1325880"/>
          </a:xfrm>
          <a:prstGeom prst="roundRect">
            <a:avLst>
              <a:gd name="adj" fmla="val 4000"/>
            </a:avLst>
          </a:prstGeom>
          <a:solidFill>
            <a:srgbClr val="132743"/>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846320"/>
            <a:ext cx="3657600" cy="320040"/>
          </a:xfrm>
          <a:prstGeom prst="rect">
            <a:avLst/>
          </a:prstGeom>
          <a:noFill/>
        </p:spPr>
        <p:txBody>
          <a:bodyPr wrap="square" anchor="t" lIns="45720" rIns="45720" tIns="27432" bIns="27432">
            <a:spAutoFit/>
          </a:bodyPr>
          <a:lstStyle/>
          <a:p>
            <a:pPr algn="l">
              <a:defRPr sz="1100" b="1" i="0">
                <a:solidFill>
                  <a:srgbClr val="FCA5A5"/>
                </a:solidFill>
                <a:latin typeface="Segoe UI"/>
              </a:defRPr>
            </a:pPr>
            <a:r>
              <a:t>BONUS PROBLEM: 1–2 WEEK GAP &amp; GALLON BETRAYAL</a:t>
            </a:r>
          </a:p>
        </p:txBody>
      </p:sp>
      <p:sp>
        <p:nvSpPr>
          <p:cNvPr id="27" name="TextBox 26"/>
          <p:cNvSpPr txBox="1"/>
          <p:nvPr/>
        </p:nvSpPr>
        <p:spPr>
          <a:xfrm>
            <a:off x="822960" y="5184648"/>
            <a:ext cx="3657600" cy="731520"/>
          </a:xfrm>
          <a:prstGeom prst="rect">
            <a:avLst/>
          </a:prstGeom>
          <a:noFill/>
        </p:spPr>
        <p:txBody>
          <a:bodyPr wrap="square" anchor="t" lIns="45720" rIns="45720" tIns="27432" bIns="27432">
            <a:spAutoFit/>
          </a:bodyPr>
          <a:lstStyle/>
          <a:p>
            <a:pPr algn="l">
              <a:defRPr sz="1150" b="0" i="0">
                <a:solidFill>
                  <a:srgbClr val="FFFFFF"/>
                </a:solidFill>
                <a:latin typeface="Segoe UI"/>
              </a:defRPr>
            </a:pPr>
            <a:r>
              <a:t>Customers hold lent LG gallons but don't buy for 1–2 weeks (exclusivity breach).</a:t>
            </a:r>
          </a:p>
        </p:txBody>
      </p:sp>
      <p:sp>
        <p:nvSpPr>
          <p:cNvPr id="28" name="Rounded Rectangle 27"/>
          <p:cNvSpPr/>
          <p:nvPr/>
        </p:nvSpPr>
        <p:spPr>
          <a:xfrm>
            <a:off x="4773168" y="5148072"/>
            <a:ext cx="594360" cy="438912"/>
          </a:xfrm>
          <a:prstGeom prst="roundRect">
            <a:avLst>
              <a:gd name="adj" fmla="val 4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5148072"/>
            <a:ext cx="594360" cy="438912"/>
          </a:xfrm>
          <a:prstGeom prst="rect">
            <a:avLst/>
          </a:prstGeom>
          <a:noFill/>
        </p:spPr>
        <p:txBody>
          <a:bodyPr wrap="square" anchor="ctr" lIns="45720" rIns="45720" tIns="27432" bIns="27432">
            <a:spAutoFit/>
          </a:bodyPr>
          <a:lstStyle/>
          <a:p>
            <a:pPr algn="ctr">
              <a:defRPr sz="850" b="1" i="0">
                <a:solidFill>
                  <a:srgbClr val="0B192C"/>
                </a:solidFill>
                <a:latin typeface="Segoe UI"/>
              </a:defRPr>
            </a:pPr>
            <a:r>
              <a:t>SOLVED</a:t>
            </a:r>
          </a:p>
        </p:txBody>
      </p:sp>
      <p:sp>
        <p:nvSpPr>
          <p:cNvPr id="30" name="Rounded Rectangle 29"/>
          <p:cNvSpPr/>
          <p:nvPr/>
        </p:nvSpPr>
        <p:spPr>
          <a:xfrm>
            <a:off x="5486400" y="4709160"/>
            <a:ext cx="6062472" cy="1325880"/>
          </a:xfrm>
          <a:prstGeom prst="roundRect">
            <a:avLst>
              <a:gd name="adj" fmla="val 4000"/>
            </a:avLst>
          </a:prstGeom>
          <a:solidFill>
            <a:srgbClr val="132743"/>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0" y="4818888"/>
            <a:ext cx="5669280" cy="292608"/>
          </a:xfrm>
          <a:prstGeom prst="rect">
            <a:avLst/>
          </a:prstGeom>
          <a:noFill/>
        </p:spPr>
        <p:txBody>
          <a:bodyPr wrap="square" anchor="t" lIns="45720" rIns="45720" tIns="27432" bIns="27432">
            <a:spAutoFit/>
          </a:bodyPr>
          <a:lstStyle/>
          <a:p>
            <a:pPr algn="l">
              <a:defRPr sz="1200" b="1" i="0">
                <a:solidFill>
                  <a:srgbClr val="14B8A6"/>
                </a:solidFill>
                <a:latin typeface="Segoe UI"/>
              </a:defRPr>
            </a:pPr>
            <a:r>
              <a:t>AQUALEDGER FIX #3: BUYING PATTERN &amp; DORMANCY RADAR</a:t>
            </a:r>
          </a:p>
        </p:txBody>
      </p:sp>
      <p:sp>
        <p:nvSpPr>
          <p:cNvPr id="32" name="TextBox 31"/>
          <p:cNvSpPr txBox="1"/>
          <p:nvPr/>
        </p:nvSpPr>
        <p:spPr>
          <a:xfrm>
            <a:off x="5669280" y="5129784"/>
            <a:ext cx="5669280" cy="841248"/>
          </a:xfrm>
          <a:prstGeom prst="rect">
            <a:avLst/>
          </a:prstGeom>
          <a:noFill/>
        </p:spPr>
        <p:txBody>
          <a:bodyPr wrap="square" anchor="t" lIns="45720" rIns="45720" tIns="27432" bIns="27432">
            <a:spAutoFit/>
          </a:bodyPr>
          <a:lstStyle/>
          <a:p>
            <a:pPr algn="l">
              <a:defRPr sz="1100" b="0" i="0">
                <a:solidFill>
                  <a:srgbClr val="E2E8F0"/>
                </a:solidFill>
                <a:latin typeface="Segoe UI"/>
              </a:defRPr>
            </a:pPr>
            <a:r>
              <a:t>• Tracks each customer's active buying days across Days 1–31 alongside lent containers held.</a:t>
            </a:r>
            <a:br/>
            <a:r>
              <a:t>• Automatically flags any exclusive customer inactive for 7–14+ days so operators can audit or pull back lent LG gallons immediately.</a:t>
            </a:r>
          </a:p>
        </p:txBody>
      </p:sp>
      <p:sp>
        <p:nvSpPr>
          <p:cNvPr id="33" name="TextBox 32"/>
          <p:cNvSpPr txBox="1"/>
          <p:nvPr/>
        </p:nvSpPr>
        <p:spPr>
          <a:xfrm>
            <a:off x="640080" y="6446520"/>
            <a:ext cx="5943600" cy="274320"/>
          </a:xfrm>
          <a:prstGeom prst="rect">
            <a:avLst/>
          </a:prstGeom>
          <a:noFill/>
        </p:spPr>
        <p:txBody>
          <a:bodyPr wrap="square" anchor="t" lIns="45720" rIns="45720" tIns="27432" bIns="27432">
            <a:spAutoFit/>
          </a:bodyPr>
          <a:lstStyle/>
          <a:p>
            <a:pPr algn="l">
              <a:defRPr sz="950" b="0" i="0">
                <a:solidFill>
                  <a:srgbClr val="94A3B8"/>
                </a:solidFill>
                <a:latin typeface="Segoe UI"/>
              </a:defRPr>
            </a:pPr>
            <a:r>
              <a:t>Team MKB (Merge, Knowledge and Build)  •  AquaLedger for LG Nature's Water</a:t>
            </a:r>
          </a:p>
        </p:txBody>
      </p:sp>
      <p:sp>
        <p:nvSpPr>
          <p:cNvPr id="34" name="TextBox 33"/>
          <p:cNvSpPr txBox="1"/>
          <p:nvPr/>
        </p:nvSpPr>
        <p:spPr>
          <a:xfrm>
            <a:off x="6858000" y="6446520"/>
            <a:ext cx="4663440" cy="274320"/>
          </a:xfrm>
          <a:prstGeom prst="rect">
            <a:avLst/>
          </a:prstGeom>
          <a:noFill/>
        </p:spPr>
        <p:txBody>
          <a:bodyPr wrap="square" anchor="t" lIns="45720" rIns="45720" tIns="27432" bIns="27432">
            <a:spAutoFit/>
          </a:bodyPr>
          <a:lstStyle/>
          <a:p>
            <a:pPr algn="r">
              <a:defRPr sz="950" b="0" i="0">
                <a:solidFill>
                  <a:srgbClr val="94A3B8"/>
                </a:solidFill>
                <a:latin typeface="Segoe UI"/>
              </a:defRPr>
            </a:pPr>
            <a:r>
              <a:t>5-Minute Systems Analysis &amp; Solution Pitch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5486400" cy="320040"/>
          </a:xfrm>
          <a:prstGeom prst="rect">
            <a:avLst/>
          </a:prstGeom>
          <a:noFill/>
        </p:spPr>
        <p:txBody>
          <a:bodyPr wrap="square" anchor="t" lIns="45720" rIns="45720" tIns="27432" bIns="27432">
            <a:spAutoFit/>
          </a:bodyPr>
          <a:lstStyle/>
          <a:p>
            <a:pPr algn="l">
              <a:defRPr sz="1100" b="1" i="0">
                <a:solidFill>
                  <a:srgbClr val="0284C7"/>
                </a:solidFill>
                <a:latin typeface="Segoe UI"/>
              </a:defRPr>
            </a:pPr>
            <a:r>
              <a:t>AQUALEDGER SOLUTION DEEP DIVE  •  SOLVING PROBLEMS #1 &amp; #2</a:t>
            </a:r>
          </a:p>
        </p:txBody>
      </p:sp>
      <p:sp>
        <p:nvSpPr>
          <p:cNvPr id="5" name="Rounded Rectangle 4"/>
          <p:cNvSpPr/>
          <p:nvPr/>
        </p:nvSpPr>
        <p:spPr>
          <a:xfrm>
            <a:off x="9784080" y="292608"/>
            <a:ext cx="1764792" cy="329184"/>
          </a:xfrm>
          <a:prstGeom prst="roundRect">
            <a:avLst>
              <a:gd name="adj" fmla="val 4000"/>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292608"/>
            <a:ext cx="1764792" cy="329184"/>
          </a:xfrm>
          <a:prstGeom prst="rect">
            <a:avLst/>
          </a:prstGeom>
          <a:noFill/>
        </p:spPr>
        <p:txBody>
          <a:bodyPr wrap="square" anchor="ctr" lIns="45720" rIns="45720" tIns="27432" bIns="27432">
            <a:spAutoFit/>
          </a:bodyPr>
          <a:lstStyle/>
          <a:p>
            <a:pPr algn="ctr">
              <a:defRPr sz="950" b="1" i="0">
                <a:solidFill>
                  <a:srgbClr val="334155"/>
                </a:solidFill>
                <a:latin typeface="Segoe UI"/>
              </a:defRPr>
            </a:pPr>
            <a:r>
              <a:t>SLIDE 06  •  3:40 – 4:15</a:t>
            </a:r>
          </a:p>
        </p:txBody>
      </p:sp>
      <p:sp>
        <p:nvSpPr>
          <p:cNvPr id="7" name="TextBox 6"/>
          <p:cNvSpPr txBox="1"/>
          <p:nvPr/>
        </p:nvSpPr>
        <p:spPr>
          <a:xfrm>
            <a:off x="640080" y="594360"/>
            <a:ext cx="10789920" cy="502920"/>
          </a:xfrm>
          <a:prstGeom prst="rect">
            <a:avLst/>
          </a:prstGeom>
          <a:noFill/>
        </p:spPr>
        <p:txBody>
          <a:bodyPr wrap="square" anchor="t" lIns="45720" rIns="45720" tIns="27432" bIns="27432">
            <a:spAutoFit/>
          </a:bodyPr>
          <a:lstStyle/>
          <a:p>
            <a:pPr algn="l">
              <a:defRPr sz="2800" b="1" i="0">
                <a:solidFill>
                  <a:srgbClr val="0F172A"/>
                </a:solidFill>
                <a:latin typeface="Segoe UI"/>
              </a:defRPr>
            </a:pPr>
            <a:r>
              <a:t>Barangay Route Accountability &amp; Instant Row-by-Row Auditing</a:t>
            </a:r>
          </a:p>
        </p:txBody>
      </p:sp>
      <p:sp>
        <p:nvSpPr>
          <p:cNvPr id="8" name="TextBox 7"/>
          <p:cNvSpPr txBox="1"/>
          <p:nvPr/>
        </p:nvSpPr>
        <p:spPr>
          <a:xfrm>
            <a:off x="640080" y="1115568"/>
            <a:ext cx="10789920" cy="365760"/>
          </a:xfrm>
          <a:prstGeom prst="rect">
            <a:avLst/>
          </a:prstGeom>
          <a:noFill/>
        </p:spPr>
        <p:txBody>
          <a:bodyPr wrap="square" anchor="t" lIns="45720" rIns="45720" tIns="27432" bIns="27432">
            <a:spAutoFit/>
          </a:bodyPr>
          <a:lstStyle/>
          <a:p>
            <a:pPr algn="l">
              <a:defRPr sz="1350" b="0" i="0">
                <a:solidFill>
                  <a:srgbClr val="64748B"/>
                </a:solidFill>
                <a:latin typeface="Segoe UI"/>
              </a:defRPr>
            </a:pPr>
            <a:r>
              <a:t>How AquaLedger eliminates skipped Barangay checklists, cuts repeat-delivery fuel waste, and turns a 2-hour audit into 1 click.</a:t>
            </a:r>
          </a:p>
        </p:txBody>
      </p:sp>
      <p:sp>
        <p:nvSpPr>
          <p:cNvPr id="9" name="Rounded Rectangle 8"/>
          <p:cNvSpPr/>
          <p:nvPr/>
        </p:nvSpPr>
        <p:spPr>
          <a:xfrm>
            <a:off x="640080" y="1691640"/>
            <a:ext cx="5349240" cy="4480560"/>
          </a:xfrm>
          <a:prstGeom prst="roundRect">
            <a:avLst>
              <a:gd name="adj" fmla="val 4000"/>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91640"/>
            <a:ext cx="5349240" cy="47548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4983480" cy="475488"/>
          </a:xfrm>
          <a:prstGeom prst="rect">
            <a:avLst/>
          </a:prstGeom>
          <a:noFill/>
        </p:spPr>
        <p:txBody>
          <a:bodyPr wrap="square" anchor="ctr" lIns="45720" rIns="45720" tIns="27432" bIns="27432">
            <a:spAutoFit/>
          </a:bodyPr>
          <a:lstStyle/>
          <a:p>
            <a:pPr algn="l">
              <a:defRPr sz="1200" b="1" i="0">
                <a:solidFill>
                  <a:srgbClr val="FFFFFF"/>
                </a:solidFill>
                <a:latin typeface="Segoe UI"/>
              </a:defRPr>
            </a:pPr>
            <a:r>
              <a:t>MODULE 1: BARANGAY ROUTE &amp; CHECKLIST ENFORCER</a:t>
            </a:r>
          </a:p>
        </p:txBody>
      </p:sp>
      <p:sp>
        <p:nvSpPr>
          <p:cNvPr id="12" name="Rounded Rectangle 11"/>
          <p:cNvSpPr/>
          <p:nvPr/>
        </p:nvSpPr>
        <p:spPr>
          <a:xfrm>
            <a:off x="868680" y="2331720"/>
            <a:ext cx="4892040" cy="1051560"/>
          </a:xfrm>
          <a:prstGeom prst="roundRect">
            <a:avLst>
              <a:gd name="adj" fmla="val 4000"/>
            </a:avLst>
          </a:prstGeom>
          <a:solidFill>
            <a:srgbClr val="E0F2FE"/>
          </a:solidFill>
          <a:ln w="9525">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404872"/>
            <a:ext cx="4617720" cy="274320"/>
          </a:xfrm>
          <a:prstGeom prst="rect">
            <a:avLst/>
          </a:prstGeom>
          <a:noFill/>
        </p:spPr>
        <p:txBody>
          <a:bodyPr wrap="square" anchor="t" lIns="45720" rIns="45720" tIns="27432" bIns="27432">
            <a:spAutoFit/>
          </a:bodyPr>
          <a:lstStyle/>
          <a:p>
            <a:pPr algn="l">
              <a:defRPr sz="1200" b="1" i="0">
                <a:solidFill>
                  <a:srgbClr val="0B192C"/>
                </a:solidFill>
                <a:latin typeface="Segoe UI"/>
              </a:defRPr>
            </a:pPr>
            <a:r>
              <a:t>✓  Barangay-Sorted Dispatch Queue</a:t>
            </a:r>
          </a:p>
        </p:txBody>
      </p:sp>
      <p:sp>
        <p:nvSpPr>
          <p:cNvPr id="14" name="TextBox 13"/>
          <p:cNvSpPr txBox="1"/>
          <p:nvPr/>
        </p:nvSpPr>
        <p:spPr>
          <a:xfrm>
            <a:off x="1005840" y="2679191"/>
            <a:ext cx="4617720" cy="640080"/>
          </a:xfrm>
          <a:prstGeom prst="rect">
            <a:avLst/>
          </a:prstGeom>
          <a:noFill/>
        </p:spPr>
        <p:txBody>
          <a:bodyPr wrap="square" anchor="t" lIns="45720" rIns="45720" tIns="27432" bIns="27432">
            <a:spAutoFit/>
          </a:bodyPr>
          <a:lstStyle/>
          <a:p>
            <a:pPr algn="l">
              <a:defRPr sz="1050" b="0" i="0">
                <a:solidFill>
                  <a:srgbClr val="334155"/>
                </a:solidFill>
                <a:latin typeface="Segoe UI"/>
              </a:defRPr>
            </a:pPr>
            <a:r>
              <a:t>Riders see all active stops grouped by Barangay (e.g., Brgy. San Pedro, Culis, Palihan) and assigned vehicle (Foton or Sidecar).</a:t>
            </a:r>
          </a:p>
        </p:txBody>
      </p:sp>
      <p:sp>
        <p:nvSpPr>
          <p:cNvPr id="15" name="Rounded Rectangle 14"/>
          <p:cNvSpPr/>
          <p:nvPr/>
        </p:nvSpPr>
        <p:spPr>
          <a:xfrm>
            <a:off x="868680" y="3538728"/>
            <a:ext cx="4892040" cy="1051560"/>
          </a:xfrm>
          <a:prstGeom prst="roundRect">
            <a:avLst>
              <a:gd name="adj" fmla="val 4000"/>
            </a:avLst>
          </a:prstGeom>
          <a:solidFill>
            <a:srgbClr val="E0F2FE"/>
          </a:solidFill>
          <a:ln w="9525">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611880"/>
            <a:ext cx="4617720" cy="274320"/>
          </a:xfrm>
          <a:prstGeom prst="rect">
            <a:avLst/>
          </a:prstGeom>
          <a:noFill/>
        </p:spPr>
        <p:txBody>
          <a:bodyPr wrap="square" anchor="t" lIns="45720" rIns="45720" tIns="27432" bIns="27432">
            <a:spAutoFit/>
          </a:bodyPr>
          <a:lstStyle/>
          <a:p>
            <a:pPr algn="l">
              <a:defRPr sz="1200" b="1" i="0">
                <a:solidFill>
                  <a:srgbClr val="0B192C"/>
                </a:solidFill>
                <a:latin typeface="Segoe UI"/>
              </a:defRPr>
            </a:pPr>
            <a:r>
              <a:t>✓  Mandatory Checklist Completion Gate</a:t>
            </a:r>
          </a:p>
        </p:txBody>
      </p:sp>
      <p:sp>
        <p:nvSpPr>
          <p:cNvPr id="17" name="TextBox 16"/>
          <p:cNvSpPr txBox="1"/>
          <p:nvPr/>
        </p:nvSpPr>
        <p:spPr>
          <a:xfrm>
            <a:off x="1005840" y="3886200"/>
            <a:ext cx="4617720" cy="640080"/>
          </a:xfrm>
          <a:prstGeom prst="rect">
            <a:avLst/>
          </a:prstGeom>
          <a:noFill/>
        </p:spPr>
        <p:txBody>
          <a:bodyPr wrap="square" anchor="t" lIns="45720" rIns="45720" tIns="27432" bIns="27432">
            <a:spAutoFit/>
          </a:bodyPr>
          <a:lstStyle/>
          <a:p>
            <a:pPr algn="l">
              <a:defRPr sz="1050" b="0" i="0">
                <a:solidFill>
                  <a:srgbClr val="334155"/>
                </a:solidFill>
                <a:latin typeface="Segoe UI"/>
              </a:defRPr>
            </a:pPr>
            <a:r>
              <a:t>A rider cannot mark a Barangay route complete without either (a) snapping an AI Gallon Photo + Doorstep Receipt (#OR) or (b) selecting a mandatory reason code sent live to the Operator.</a:t>
            </a:r>
          </a:p>
        </p:txBody>
      </p:sp>
      <p:sp>
        <p:nvSpPr>
          <p:cNvPr id="18" name="Rounded Rectangle 17"/>
          <p:cNvSpPr/>
          <p:nvPr/>
        </p:nvSpPr>
        <p:spPr>
          <a:xfrm>
            <a:off x="868680" y="4745736"/>
            <a:ext cx="4892040" cy="1051560"/>
          </a:xfrm>
          <a:prstGeom prst="roundRect">
            <a:avLst>
              <a:gd name="adj" fmla="val 4000"/>
            </a:avLst>
          </a:prstGeom>
          <a:solidFill>
            <a:srgbClr val="E0F2FE"/>
          </a:solidFill>
          <a:ln w="9525">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818888"/>
            <a:ext cx="4617720" cy="274320"/>
          </a:xfrm>
          <a:prstGeom prst="rect">
            <a:avLst/>
          </a:prstGeom>
          <a:noFill/>
        </p:spPr>
        <p:txBody>
          <a:bodyPr wrap="square" anchor="t" lIns="45720" rIns="45720" tIns="27432" bIns="27432">
            <a:spAutoFit/>
          </a:bodyPr>
          <a:lstStyle/>
          <a:p>
            <a:pPr algn="l">
              <a:defRPr sz="1200" b="1" i="0">
                <a:solidFill>
                  <a:srgbClr val="0B192C"/>
                </a:solidFill>
                <a:latin typeface="Segoe UI"/>
              </a:defRPr>
            </a:pPr>
            <a:r>
              <a:t>✓  Zero Forgotten Traversals = Fuel Saved</a:t>
            </a:r>
          </a:p>
        </p:txBody>
      </p:sp>
      <p:sp>
        <p:nvSpPr>
          <p:cNvPr id="20" name="TextBox 19"/>
          <p:cNvSpPr txBox="1"/>
          <p:nvPr/>
        </p:nvSpPr>
        <p:spPr>
          <a:xfrm>
            <a:off x="1005840" y="5093207"/>
            <a:ext cx="4617720" cy="640080"/>
          </a:xfrm>
          <a:prstGeom prst="rect">
            <a:avLst/>
          </a:prstGeom>
          <a:noFill/>
        </p:spPr>
        <p:txBody>
          <a:bodyPr wrap="square" anchor="t" lIns="45720" rIns="45720" tIns="27432" bIns="27432">
            <a:spAutoFit/>
          </a:bodyPr>
          <a:lstStyle/>
          <a:p>
            <a:pPr algn="l">
              <a:defRPr sz="1050" b="0" i="0">
                <a:solidFill>
                  <a:srgbClr val="334155"/>
                </a:solidFill>
                <a:latin typeface="Segoe UI"/>
              </a:defRPr>
            </a:pPr>
            <a:r>
              <a:t>Live pending badges show remaining stops in the current Barangay before the rider leaves the zone—stopping double trips before they happen.</a:t>
            </a:r>
          </a:p>
        </p:txBody>
      </p:sp>
      <p:sp>
        <p:nvSpPr>
          <p:cNvPr id="21" name="Rounded Rectangle 20"/>
          <p:cNvSpPr/>
          <p:nvPr/>
        </p:nvSpPr>
        <p:spPr>
          <a:xfrm>
            <a:off x="6217920" y="1691640"/>
            <a:ext cx="5330952" cy="4480560"/>
          </a:xfrm>
          <a:prstGeom prst="roundRect">
            <a:avLst>
              <a:gd name="adj" fmla="val 4000"/>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691640"/>
            <a:ext cx="5330952"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1691640"/>
            <a:ext cx="4965192" cy="475488"/>
          </a:xfrm>
          <a:prstGeom prst="rect">
            <a:avLst/>
          </a:prstGeom>
          <a:noFill/>
        </p:spPr>
        <p:txBody>
          <a:bodyPr wrap="square" anchor="ctr" lIns="45720" rIns="45720" tIns="27432" bIns="27432">
            <a:spAutoFit/>
          </a:bodyPr>
          <a:lstStyle/>
          <a:p>
            <a:pPr algn="l">
              <a:defRPr sz="1200" b="1" i="0">
                <a:solidFill>
                  <a:srgbClr val="FFFFFF"/>
                </a:solidFill>
                <a:latin typeface="Segoe UI"/>
              </a:defRPr>
            </a:pPr>
            <a:r>
              <a:t>MODULE 2: AUTOMATED ROW LEDGER (2 HOURS → 5 SECONDS)</a:t>
            </a:r>
          </a:p>
        </p:txBody>
      </p:sp>
      <p:sp>
        <p:nvSpPr>
          <p:cNvPr id="24" name="Rounded Rectangle 23"/>
          <p:cNvSpPr/>
          <p:nvPr/>
        </p:nvSpPr>
        <p:spPr>
          <a:xfrm>
            <a:off x="6446520" y="2331720"/>
            <a:ext cx="4873752" cy="1051560"/>
          </a:xfrm>
          <a:prstGeom prst="roundRect">
            <a:avLst>
              <a:gd name="adj" fmla="val 4000"/>
            </a:avLst>
          </a:prstGeom>
          <a:solidFill>
            <a:srgbClr val="D1FAE5"/>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2404872"/>
            <a:ext cx="4599432" cy="274320"/>
          </a:xfrm>
          <a:prstGeom prst="rect">
            <a:avLst/>
          </a:prstGeom>
          <a:noFill/>
        </p:spPr>
        <p:txBody>
          <a:bodyPr wrap="square" anchor="t" lIns="45720" rIns="45720" tIns="27432" bIns="27432">
            <a:spAutoFit/>
          </a:bodyPr>
          <a:lstStyle/>
          <a:p>
            <a:pPr algn="l">
              <a:defRPr sz="1200" b="1" i="0">
                <a:solidFill>
                  <a:srgbClr val="047857"/>
                </a:solidFill>
                <a:latin typeface="Segoe UI"/>
              </a:defRPr>
            </a:pPr>
            <a:r>
              <a:t>✓  1-Tap Pickup &amp; Walk-In Counter Register</a:t>
            </a:r>
          </a:p>
        </p:txBody>
      </p:sp>
      <p:sp>
        <p:nvSpPr>
          <p:cNvPr id="26" name="TextBox 25"/>
          <p:cNvSpPr txBox="1"/>
          <p:nvPr/>
        </p:nvSpPr>
        <p:spPr>
          <a:xfrm>
            <a:off x="6583680" y="2679191"/>
            <a:ext cx="4599432" cy="640080"/>
          </a:xfrm>
          <a:prstGeom prst="rect">
            <a:avLst/>
          </a:prstGeom>
          <a:noFill/>
        </p:spPr>
        <p:txBody>
          <a:bodyPr wrap="square" anchor="t" lIns="45720" rIns="45720" tIns="27432" bIns="27432">
            <a:spAutoFit/>
          </a:bodyPr>
          <a:lstStyle/>
          <a:p>
            <a:pPr algn="l">
              <a:defRPr sz="1050" b="0" i="0">
                <a:solidFill>
                  <a:srgbClr val="334155"/>
                </a:solidFill>
                <a:latin typeface="Segoe UI"/>
              </a:defRPr>
            </a:pPr>
            <a:r>
              <a:t>When a pickup customer pays, the operator taps their profile—AquaLedger auto-computes gallons, preset refill price, exact change, and Official Receipt (#OR).</a:t>
            </a:r>
          </a:p>
        </p:txBody>
      </p:sp>
      <p:sp>
        <p:nvSpPr>
          <p:cNvPr id="27" name="Rounded Rectangle 26"/>
          <p:cNvSpPr/>
          <p:nvPr/>
        </p:nvSpPr>
        <p:spPr>
          <a:xfrm>
            <a:off x="6446520" y="3538728"/>
            <a:ext cx="4873752" cy="1051560"/>
          </a:xfrm>
          <a:prstGeom prst="roundRect">
            <a:avLst>
              <a:gd name="adj" fmla="val 4000"/>
            </a:avLst>
          </a:prstGeom>
          <a:solidFill>
            <a:srgbClr val="D1FAE5"/>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3611880"/>
            <a:ext cx="4599432" cy="274320"/>
          </a:xfrm>
          <a:prstGeom prst="rect">
            <a:avLst/>
          </a:prstGeom>
          <a:noFill/>
        </p:spPr>
        <p:txBody>
          <a:bodyPr wrap="square" anchor="t" lIns="45720" rIns="45720" tIns="27432" bIns="27432">
            <a:spAutoFit/>
          </a:bodyPr>
          <a:lstStyle/>
          <a:p>
            <a:pPr algn="l">
              <a:defRPr sz="1200" b="1" i="0">
                <a:solidFill>
                  <a:srgbClr val="047857"/>
                </a:solidFill>
                <a:latin typeface="Segoe UI"/>
              </a:defRPr>
            </a:pPr>
            <a:r>
              <a:t>✓  Automated Per-Row Customer Totals</a:t>
            </a:r>
          </a:p>
        </p:txBody>
      </p:sp>
      <p:sp>
        <p:nvSpPr>
          <p:cNvPr id="29" name="TextBox 28"/>
          <p:cNvSpPr txBox="1"/>
          <p:nvPr/>
        </p:nvSpPr>
        <p:spPr>
          <a:xfrm>
            <a:off x="6583680" y="3886200"/>
            <a:ext cx="4599432" cy="640080"/>
          </a:xfrm>
          <a:prstGeom prst="rect">
            <a:avLst/>
          </a:prstGeom>
          <a:noFill/>
        </p:spPr>
        <p:txBody>
          <a:bodyPr wrap="square" anchor="t" lIns="45720" rIns="45720" tIns="27432" bIns="27432">
            <a:spAutoFit/>
          </a:bodyPr>
          <a:lstStyle/>
          <a:p>
            <a:pPr algn="l">
              <a:defRPr sz="1050" b="0" i="0">
                <a:solidFill>
                  <a:srgbClr val="334155"/>
                </a:solidFill>
                <a:latin typeface="Segoe UI"/>
              </a:defRPr>
            </a:pPr>
            <a:r>
              <a:t>Every row in the Delivery &amp; Pickup Matrix auto-sums total gallons and total peso cost across the day and month—zero row-by-row calculator work.</a:t>
            </a:r>
          </a:p>
        </p:txBody>
      </p:sp>
      <p:sp>
        <p:nvSpPr>
          <p:cNvPr id="30" name="Rounded Rectangle 29"/>
          <p:cNvSpPr/>
          <p:nvPr/>
        </p:nvSpPr>
        <p:spPr>
          <a:xfrm>
            <a:off x="6446520" y="4745736"/>
            <a:ext cx="4873752" cy="1051560"/>
          </a:xfrm>
          <a:prstGeom prst="roundRect">
            <a:avLst>
              <a:gd name="adj" fmla="val 4000"/>
            </a:avLst>
          </a:prstGeom>
          <a:solidFill>
            <a:srgbClr val="D1FAE5"/>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4818888"/>
            <a:ext cx="4599432" cy="274320"/>
          </a:xfrm>
          <a:prstGeom prst="rect">
            <a:avLst/>
          </a:prstGeom>
          <a:noFill/>
        </p:spPr>
        <p:txBody>
          <a:bodyPr wrap="square" anchor="t" lIns="45720" rIns="45720" tIns="27432" bIns="27432">
            <a:spAutoFit/>
          </a:bodyPr>
          <a:lstStyle/>
          <a:p>
            <a:pPr algn="l">
              <a:defRPr sz="1200" b="1" i="0">
                <a:solidFill>
                  <a:srgbClr val="047857"/>
                </a:solidFill>
                <a:latin typeface="Segoe UI"/>
              </a:defRPr>
            </a:pPr>
            <a:r>
              <a:t>✓  Instant Day-Focus &amp; End-of-Day Audit</a:t>
            </a:r>
          </a:p>
        </p:txBody>
      </p:sp>
      <p:sp>
        <p:nvSpPr>
          <p:cNvPr id="32" name="TextBox 31"/>
          <p:cNvSpPr txBox="1"/>
          <p:nvPr/>
        </p:nvSpPr>
        <p:spPr>
          <a:xfrm>
            <a:off x="6583680" y="5093207"/>
            <a:ext cx="4599432" cy="640080"/>
          </a:xfrm>
          <a:prstGeom prst="rect">
            <a:avLst/>
          </a:prstGeom>
          <a:noFill/>
        </p:spPr>
        <p:txBody>
          <a:bodyPr wrap="square" anchor="t" lIns="45720" rIns="45720" tIns="27432" bIns="27432">
            <a:spAutoFit/>
          </a:bodyPr>
          <a:lstStyle/>
          <a:p>
            <a:pPr algn="l">
              <a:defRPr sz="1050" b="0" i="0">
                <a:solidFill>
                  <a:srgbClr val="334155"/>
                </a:solidFill>
                <a:latin typeface="Segoe UI"/>
              </a:defRPr>
            </a:pPr>
            <a:r>
              <a:t>Click any calendar day (Days 1–31) to see instant station-wide gallons, active customer count, cash collected, and net profit in 1 click.</a:t>
            </a:r>
          </a:p>
        </p:txBody>
      </p:sp>
      <p:sp>
        <p:nvSpPr>
          <p:cNvPr id="33" name="TextBox 32"/>
          <p:cNvSpPr txBox="1"/>
          <p:nvPr/>
        </p:nvSpPr>
        <p:spPr>
          <a:xfrm>
            <a:off x="640080" y="6446520"/>
            <a:ext cx="5943600" cy="274320"/>
          </a:xfrm>
          <a:prstGeom prst="rect">
            <a:avLst/>
          </a:prstGeom>
          <a:noFill/>
        </p:spPr>
        <p:txBody>
          <a:bodyPr wrap="square" anchor="t" lIns="45720" rIns="45720" tIns="27432" bIns="27432">
            <a:spAutoFit/>
          </a:bodyPr>
          <a:lstStyle/>
          <a:p>
            <a:pPr algn="l">
              <a:defRPr sz="950" b="0" i="0">
                <a:solidFill>
                  <a:srgbClr val="64748B"/>
                </a:solidFill>
                <a:latin typeface="Segoe UI"/>
              </a:defRPr>
            </a:pPr>
            <a:r>
              <a:t>Team MKB (Merge, Knowledge and Build)  •  AquaLedger for LG Nature's Water</a:t>
            </a:r>
          </a:p>
        </p:txBody>
      </p:sp>
      <p:sp>
        <p:nvSpPr>
          <p:cNvPr id="34" name="TextBox 33"/>
          <p:cNvSpPr txBox="1"/>
          <p:nvPr/>
        </p:nvSpPr>
        <p:spPr>
          <a:xfrm>
            <a:off x="6858000" y="6446520"/>
            <a:ext cx="4663440" cy="274320"/>
          </a:xfrm>
          <a:prstGeom prst="rect">
            <a:avLst/>
          </a:prstGeom>
          <a:noFill/>
        </p:spPr>
        <p:txBody>
          <a:bodyPr wrap="square" anchor="t" lIns="45720" rIns="45720" tIns="27432" bIns="27432">
            <a:spAutoFit/>
          </a:bodyPr>
          <a:lstStyle/>
          <a:p>
            <a:pPr algn="r">
              <a:defRPr sz="950" b="0" i="0">
                <a:solidFill>
                  <a:srgbClr val="64748B"/>
                </a:solidFill>
                <a:latin typeface="Segoe UI"/>
              </a:defRPr>
            </a:pPr>
            <a:r>
              <a:t>5-Minute Systems Analysis &amp; Solution Pitch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5486400" cy="320040"/>
          </a:xfrm>
          <a:prstGeom prst="rect">
            <a:avLst/>
          </a:prstGeom>
          <a:noFill/>
        </p:spPr>
        <p:txBody>
          <a:bodyPr wrap="square" anchor="t" lIns="45720" rIns="45720" tIns="27432" bIns="27432">
            <a:spAutoFit/>
          </a:bodyPr>
          <a:lstStyle/>
          <a:p>
            <a:pPr algn="l">
              <a:defRPr sz="1100" b="1" i="0">
                <a:solidFill>
                  <a:srgbClr val="0284C7"/>
                </a:solidFill>
                <a:latin typeface="Segoe UI"/>
              </a:defRPr>
            </a:pPr>
            <a:r>
              <a:t>AQUALEDGER SOLUTION DEEP DIVE  •  SOLVING THE BONUS PROBLEM</a:t>
            </a:r>
          </a:p>
        </p:txBody>
      </p:sp>
      <p:sp>
        <p:nvSpPr>
          <p:cNvPr id="5" name="Rounded Rectangle 4"/>
          <p:cNvSpPr/>
          <p:nvPr/>
        </p:nvSpPr>
        <p:spPr>
          <a:xfrm>
            <a:off x="9784080" y="292608"/>
            <a:ext cx="1764792" cy="329184"/>
          </a:xfrm>
          <a:prstGeom prst="roundRect">
            <a:avLst>
              <a:gd name="adj" fmla="val 4000"/>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292608"/>
            <a:ext cx="1764792" cy="329184"/>
          </a:xfrm>
          <a:prstGeom prst="rect">
            <a:avLst/>
          </a:prstGeom>
          <a:noFill/>
        </p:spPr>
        <p:txBody>
          <a:bodyPr wrap="square" anchor="ctr" lIns="45720" rIns="45720" tIns="27432" bIns="27432">
            <a:spAutoFit/>
          </a:bodyPr>
          <a:lstStyle/>
          <a:p>
            <a:pPr algn="ctr">
              <a:defRPr sz="950" b="1" i="0">
                <a:solidFill>
                  <a:srgbClr val="334155"/>
                </a:solidFill>
                <a:latin typeface="Segoe UI"/>
              </a:defRPr>
            </a:pPr>
            <a:r>
              <a:t>SLIDE 07  •  4:15 – 4:40</a:t>
            </a:r>
          </a:p>
        </p:txBody>
      </p:sp>
      <p:sp>
        <p:nvSpPr>
          <p:cNvPr id="7" name="TextBox 6"/>
          <p:cNvSpPr txBox="1"/>
          <p:nvPr/>
        </p:nvSpPr>
        <p:spPr>
          <a:xfrm>
            <a:off x="640080" y="594360"/>
            <a:ext cx="10789920" cy="502920"/>
          </a:xfrm>
          <a:prstGeom prst="rect">
            <a:avLst/>
          </a:prstGeom>
          <a:noFill/>
        </p:spPr>
        <p:txBody>
          <a:bodyPr wrap="square" anchor="t" lIns="45720" rIns="45720" tIns="27432" bIns="27432">
            <a:spAutoFit/>
          </a:bodyPr>
          <a:lstStyle/>
          <a:p>
            <a:pPr algn="l">
              <a:defRPr sz="2800" b="1" i="0">
                <a:solidFill>
                  <a:srgbClr val="0F172A"/>
                </a:solidFill>
                <a:latin typeface="Segoe UI"/>
              </a:defRPr>
            </a:pPr>
            <a:r>
              <a:t>31-Day Buying Pattern Matrix &amp; Gallon Exclusivity Guard</a:t>
            </a:r>
          </a:p>
        </p:txBody>
      </p:sp>
      <p:sp>
        <p:nvSpPr>
          <p:cNvPr id="8" name="TextBox 7"/>
          <p:cNvSpPr txBox="1"/>
          <p:nvPr/>
        </p:nvSpPr>
        <p:spPr>
          <a:xfrm>
            <a:off x="640080" y="1115568"/>
            <a:ext cx="10789920" cy="365760"/>
          </a:xfrm>
          <a:prstGeom prst="rect">
            <a:avLst/>
          </a:prstGeom>
          <a:noFill/>
        </p:spPr>
        <p:txBody>
          <a:bodyPr wrap="square" anchor="t" lIns="45720" rIns="45720" tIns="27432" bIns="27432">
            <a:spAutoFit/>
          </a:bodyPr>
          <a:lstStyle/>
          <a:p>
            <a:pPr algn="l">
              <a:defRPr sz="1350" b="0" i="0">
                <a:solidFill>
                  <a:srgbClr val="64748B"/>
                </a:solidFill>
                <a:latin typeface="Segoe UI"/>
              </a:defRPr>
            </a:pPr>
            <a:r>
              <a:t>Protects LG Nature's Water from behind-the-back competitor refills by tracking daily buying cells and 1–2 week inactivity.</a:t>
            </a:r>
          </a:p>
        </p:txBody>
      </p:sp>
      <p:sp>
        <p:nvSpPr>
          <p:cNvPr id="9" name="Rounded Rectangle 8"/>
          <p:cNvSpPr/>
          <p:nvPr/>
        </p:nvSpPr>
        <p:spPr>
          <a:xfrm>
            <a:off x="640080" y="1691640"/>
            <a:ext cx="10908792" cy="2971800"/>
          </a:xfrm>
          <a:prstGeom prst="roundRect">
            <a:avLst>
              <a:gd name="adj" fmla="val 4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91640"/>
            <a:ext cx="10908792" cy="438912"/>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7772400" cy="438912"/>
          </a:xfrm>
          <a:prstGeom prst="rect">
            <a:avLst/>
          </a:prstGeom>
          <a:noFill/>
        </p:spPr>
        <p:txBody>
          <a:bodyPr wrap="square" anchor="ctr" lIns="45720" rIns="45720" tIns="27432" bIns="27432">
            <a:spAutoFit/>
          </a:bodyPr>
          <a:lstStyle/>
          <a:p>
            <a:pPr algn="l">
              <a:defRPr sz="1150" b="1" i="0">
                <a:solidFill>
                  <a:srgbClr val="FFFFFF"/>
                </a:solidFill>
                <a:latin typeface="Segoe UI"/>
              </a:defRPr>
            </a:pPr>
            <a:r>
              <a:t>AQUALEDGER LIVE MATRIX: BARANGAY CUSTOMER BUYING PATTERNS &amp; EXCLUSIVITY MONITOR</a:t>
            </a:r>
          </a:p>
        </p:txBody>
      </p:sp>
      <p:sp>
        <p:nvSpPr>
          <p:cNvPr id="12" name="TextBox 11"/>
          <p:cNvSpPr txBox="1"/>
          <p:nvPr/>
        </p:nvSpPr>
        <p:spPr>
          <a:xfrm>
            <a:off x="8686800" y="1691640"/>
            <a:ext cx="2651760" cy="438912"/>
          </a:xfrm>
          <a:prstGeom prst="rect">
            <a:avLst/>
          </a:prstGeom>
          <a:noFill/>
        </p:spPr>
        <p:txBody>
          <a:bodyPr wrap="square" anchor="ctr" lIns="45720" rIns="45720" tIns="27432" bIns="27432">
            <a:spAutoFit/>
          </a:bodyPr>
          <a:lstStyle/>
          <a:p>
            <a:pPr algn="r">
              <a:defRPr sz="1000" b="1" i="0">
                <a:solidFill>
                  <a:srgbClr val="FBBF24"/>
                </a:solidFill>
                <a:latin typeface="Segoe UI"/>
              </a:defRPr>
            </a:pPr>
            <a:r>
              <a:t>AUTO-FLAG: ≥ 7 DAYS INACTIVE</a:t>
            </a:r>
          </a:p>
        </p:txBody>
      </p:sp>
      <p:sp>
        <p:nvSpPr>
          <p:cNvPr id="13" name="Rectangle 12"/>
          <p:cNvSpPr/>
          <p:nvPr/>
        </p:nvSpPr>
        <p:spPr>
          <a:xfrm>
            <a:off x="822960" y="2240280"/>
            <a:ext cx="10543032" cy="3474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286000"/>
            <a:ext cx="1920240" cy="27432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Customer &amp; Barangay</a:t>
            </a:r>
          </a:p>
        </p:txBody>
      </p:sp>
      <p:sp>
        <p:nvSpPr>
          <p:cNvPr id="15" name="TextBox 14"/>
          <p:cNvSpPr txBox="1"/>
          <p:nvPr/>
        </p:nvSpPr>
        <p:spPr>
          <a:xfrm>
            <a:off x="2880360" y="2286000"/>
            <a:ext cx="1097280" cy="27432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Lent Gallons</a:t>
            </a:r>
          </a:p>
        </p:txBody>
      </p:sp>
      <p:sp>
        <p:nvSpPr>
          <p:cNvPr id="16" name="TextBox 15"/>
          <p:cNvSpPr txBox="1"/>
          <p:nvPr/>
        </p:nvSpPr>
        <p:spPr>
          <a:xfrm>
            <a:off x="4023360" y="2286000"/>
            <a:ext cx="3474720" cy="27432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2-Week Buying Pattern (Days 1–14)</a:t>
            </a:r>
          </a:p>
        </p:txBody>
      </p:sp>
      <p:sp>
        <p:nvSpPr>
          <p:cNvPr id="17" name="TextBox 16"/>
          <p:cNvSpPr txBox="1"/>
          <p:nvPr/>
        </p:nvSpPr>
        <p:spPr>
          <a:xfrm>
            <a:off x="7589520" y="2286000"/>
            <a:ext cx="1371600" cy="27432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Total Cost (Auto)</a:t>
            </a:r>
          </a:p>
        </p:txBody>
      </p:sp>
      <p:sp>
        <p:nvSpPr>
          <p:cNvPr id="18" name="TextBox 17"/>
          <p:cNvSpPr txBox="1"/>
          <p:nvPr/>
        </p:nvSpPr>
        <p:spPr>
          <a:xfrm>
            <a:off x="9052560" y="2286000"/>
            <a:ext cx="2194560" cy="27432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Exclusivity Status</a:t>
            </a:r>
          </a:p>
        </p:txBody>
      </p:sp>
      <p:sp>
        <p:nvSpPr>
          <p:cNvPr id="19" name="Rectangle 18"/>
          <p:cNvSpPr/>
          <p:nvPr/>
        </p:nvSpPr>
        <p:spPr>
          <a:xfrm>
            <a:off x="822960" y="2651760"/>
            <a:ext cx="10543032" cy="548640"/>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779776"/>
            <a:ext cx="1920240" cy="32004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Reyes Family (Brgy. Culis)</a:t>
            </a:r>
          </a:p>
        </p:txBody>
      </p:sp>
      <p:sp>
        <p:nvSpPr>
          <p:cNvPr id="21" name="TextBox 20"/>
          <p:cNvSpPr txBox="1"/>
          <p:nvPr/>
        </p:nvSpPr>
        <p:spPr>
          <a:xfrm>
            <a:off x="2880360" y="2779776"/>
            <a:ext cx="1097280" cy="320040"/>
          </a:xfrm>
          <a:prstGeom prst="rect">
            <a:avLst/>
          </a:prstGeom>
          <a:noFill/>
        </p:spPr>
        <p:txBody>
          <a:bodyPr wrap="square" anchor="t" lIns="45720" rIns="45720" tIns="27432" bIns="27432">
            <a:spAutoFit/>
          </a:bodyPr>
          <a:lstStyle/>
          <a:p>
            <a:pPr algn="l">
              <a:defRPr sz="1000" b="1" i="0">
                <a:solidFill>
                  <a:srgbClr val="0284C7"/>
                </a:solidFill>
                <a:latin typeface="Segoe UI"/>
              </a:defRPr>
            </a:pPr>
            <a:r>
              <a:t>6 Lent Gals</a:t>
            </a:r>
          </a:p>
        </p:txBody>
      </p:sp>
      <p:sp>
        <p:nvSpPr>
          <p:cNvPr id="22" name="TextBox 21"/>
          <p:cNvSpPr txBox="1"/>
          <p:nvPr/>
        </p:nvSpPr>
        <p:spPr>
          <a:xfrm>
            <a:off x="4023360" y="2779776"/>
            <a:ext cx="3474720" cy="320040"/>
          </a:xfrm>
          <a:prstGeom prst="rect">
            <a:avLst/>
          </a:prstGeom>
          <a:noFill/>
        </p:spPr>
        <p:txBody>
          <a:bodyPr wrap="square" anchor="t" lIns="45720" rIns="45720" tIns="27432" bIns="27432">
            <a:spAutoFit/>
          </a:bodyPr>
          <a:lstStyle/>
          <a:p>
            <a:pPr algn="l">
              <a:defRPr sz="950" b="1" i="0">
                <a:solidFill>
                  <a:srgbClr val="334155"/>
                </a:solidFill>
                <a:latin typeface="Segoe UI"/>
              </a:defRPr>
            </a:pPr>
            <a:r>
              <a:t>5g | 0 | 5g | 0 | 6g | 0 | 5g | 0 | 5g | 0 | 6g</a:t>
            </a:r>
          </a:p>
        </p:txBody>
      </p:sp>
      <p:sp>
        <p:nvSpPr>
          <p:cNvPr id="23" name="TextBox 22"/>
          <p:cNvSpPr txBox="1"/>
          <p:nvPr/>
        </p:nvSpPr>
        <p:spPr>
          <a:xfrm>
            <a:off x="7589520" y="2779776"/>
            <a:ext cx="1371600" cy="320040"/>
          </a:xfrm>
          <a:prstGeom prst="rect">
            <a:avLst/>
          </a:prstGeom>
          <a:noFill/>
        </p:spPr>
        <p:txBody>
          <a:bodyPr wrap="square" anchor="t" lIns="45720" rIns="45720" tIns="27432" bIns="27432">
            <a:spAutoFit/>
          </a:bodyPr>
          <a:lstStyle/>
          <a:p>
            <a:pPr algn="l">
              <a:defRPr sz="1050" b="1" i="0">
                <a:solidFill>
                  <a:srgbClr val="047857"/>
                </a:solidFill>
                <a:latin typeface="Segoe UI"/>
              </a:defRPr>
            </a:pPr>
            <a:r>
              <a:t>₱960.00</a:t>
            </a:r>
          </a:p>
        </p:txBody>
      </p:sp>
      <p:sp>
        <p:nvSpPr>
          <p:cNvPr id="24" name="Rounded Rectangle 23"/>
          <p:cNvSpPr/>
          <p:nvPr/>
        </p:nvSpPr>
        <p:spPr>
          <a:xfrm>
            <a:off x="9006840" y="2743200"/>
            <a:ext cx="2240280" cy="365760"/>
          </a:xfrm>
          <a:prstGeom prst="roundRect">
            <a:avLst>
              <a:gd name="adj" fmla="val 4000"/>
            </a:avLst>
          </a:prstGeom>
          <a:solidFill>
            <a:srgbClr val="D1FAE5"/>
          </a:solidFill>
          <a:ln w="127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2743200"/>
            <a:ext cx="2240280" cy="365760"/>
          </a:xfrm>
          <a:prstGeom prst="rect">
            <a:avLst/>
          </a:prstGeom>
          <a:noFill/>
        </p:spPr>
        <p:txBody>
          <a:bodyPr wrap="square" anchor="ctr" lIns="45720" rIns="45720" tIns="27432" bIns="27432">
            <a:spAutoFit/>
          </a:bodyPr>
          <a:lstStyle/>
          <a:p>
            <a:pPr algn="ctr">
              <a:defRPr sz="900" b="1" i="0">
                <a:solidFill>
                  <a:srgbClr val="047857"/>
                </a:solidFill>
                <a:latin typeface="Segoe UI"/>
              </a:defRPr>
            </a:pPr>
            <a:r>
              <a:t>LOYAL • ACTIVE PATTERN</a:t>
            </a:r>
          </a:p>
        </p:txBody>
      </p:sp>
      <p:sp>
        <p:nvSpPr>
          <p:cNvPr id="26" name="Rectangle 25"/>
          <p:cNvSpPr/>
          <p:nvPr/>
        </p:nvSpPr>
        <p:spPr>
          <a:xfrm>
            <a:off x="822960" y="3273552"/>
            <a:ext cx="10543032" cy="548640"/>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401568"/>
            <a:ext cx="1920240" cy="32004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Garcia Store (Brgy. San Pedro)</a:t>
            </a:r>
          </a:p>
        </p:txBody>
      </p:sp>
      <p:sp>
        <p:nvSpPr>
          <p:cNvPr id="28" name="TextBox 27"/>
          <p:cNvSpPr txBox="1"/>
          <p:nvPr/>
        </p:nvSpPr>
        <p:spPr>
          <a:xfrm>
            <a:off x="2880360" y="3401568"/>
            <a:ext cx="1097280" cy="320040"/>
          </a:xfrm>
          <a:prstGeom prst="rect">
            <a:avLst/>
          </a:prstGeom>
          <a:noFill/>
        </p:spPr>
        <p:txBody>
          <a:bodyPr wrap="square" anchor="t" lIns="45720" rIns="45720" tIns="27432" bIns="27432">
            <a:spAutoFit/>
          </a:bodyPr>
          <a:lstStyle/>
          <a:p>
            <a:pPr algn="l">
              <a:defRPr sz="1000" b="1" i="0">
                <a:solidFill>
                  <a:srgbClr val="0284C7"/>
                </a:solidFill>
                <a:latin typeface="Segoe UI"/>
              </a:defRPr>
            </a:pPr>
            <a:r>
              <a:t>10 Lent Gals</a:t>
            </a:r>
          </a:p>
        </p:txBody>
      </p:sp>
      <p:sp>
        <p:nvSpPr>
          <p:cNvPr id="29" name="TextBox 28"/>
          <p:cNvSpPr txBox="1"/>
          <p:nvPr/>
        </p:nvSpPr>
        <p:spPr>
          <a:xfrm>
            <a:off x="4023360" y="3401568"/>
            <a:ext cx="3474720" cy="320040"/>
          </a:xfrm>
          <a:prstGeom prst="rect">
            <a:avLst/>
          </a:prstGeom>
          <a:noFill/>
        </p:spPr>
        <p:txBody>
          <a:bodyPr wrap="square" anchor="t" lIns="45720" rIns="45720" tIns="27432" bIns="27432">
            <a:spAutoFit/>
          </a:bodyPr>
          <a:lstStyle/>
          <a:p>
            <a:pPr algn="l">
              <a:defRPr sz="950" b="1" i="0">
                <a:solidFill>
                  <a:srgbClr val="334155"/>
                </a:solidFill>
                <a:latin typeface="Segoe UI"/>
              </a:defRPr>
            </a:pPr>
            <a:r>
              <a:t>8g | 0 | 0 | 0 | 0 | 0 | 0 | 0 | 0 | 0 | 0 (10d gap)</a:t>
            </a:r>
          </a:p>
        </p:txBody>
      </p:sp>
      <p:sp>
        <p:nvSpPr>
          <p:cNvPr id="30" name="TextBox 29"/>
          <p:cNvSpPr txBox="1"/>
          <p:nvPr/>
        </p:nvSpPr>
        <p:spPr>
          <a:xfrm>
            <a:off x="7589520" y="3401568"/>
            <a:ext cx="1371600" cy="320040"/>
          </a:xfrm>
          <a:prstGeom prst="rect">
            <a:avLst/>
          </a:prstGeom>
          <a:noFill/>
        </p:spPr>
        <p:txBody>
          <a:bodyPr wrap="square" anchor="t" lIns="45720" rIns="45720" tIns="27432" bIns="27432">
            <a:spAutoFit/>
          </a:bodyPr>
          <a:lstStyle/>
          <a:p>
            <a:pPr algn="l">
              <a:defRPr sz="1050" b="1" i="0">
                <a:solidFill>
                  <a:srgbClr val="047857"/>
                </a:solidFill>
                <a:latin typeface="Segoe UI"/>
              </a:defRPr>
            </a:pPr>
            <a:r>
              <a:t>₱240.00</a:t>
            </a:r>
          </a:p>
        </p:txBody>
      </p:sp>
      <p:sp>
        <p:nvSpPr>
          <p:cNvPr id="31" name="Rounded Rectangle 30"/>
          <p:cNvSpPr/>
          <p:nvPr/>
        </p:nvSpPr>
        <p:spPr>
          <a:xfrm>
            <a:off x="9006840" y="3364992"/>
            <a:ext cx="2240280" cy="365760"/>
          </a:xfrm>
          <a:prstGeom prst="roundRect">
            <a:avLst>
              <a:gd name="adj" fmla="val 4000"/>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06840" y="3364992"/>
            <a:ext cx="2240280" cy="365760"/>
          </a:xfrm>
          <a:prstGeom prst="rect">
            <a:avLst/>
          </a:prstGeom>
          <a:noFill/>
        </p:spPr>
        <p:txBody>
          <a:bodyPr wrap="square" anchor="ctr" lIns="45720" rIns="45720" tIns="27432" bIns="27432">
            <a:spAutoFit/>
          </a:bodyPr>
          <a:lstStyle/>
          <a:p>
            <a:pPr algn="ctr">
              <a:defRPr sz="900" b="1" i="0">
                <a:solidFill>
                  <a:srgbClr val="D97706"/>
                </a:solidFill>
                <a:latin typeface="Segoe UI"/>
              </a:defRPr>
            </a:pPr>
            <a:r>
              <a:t>SUSPICIOUS (10 DAYS IDLE)</a:t>
            </a:r>
          </a:p>
        </p:txBody>
      </p:sp>
      <p:sp>
        <p:nvSpPr>
          <p:cNvPr id="33" name="Rectangle 32"/>
          <p:cNvSpPr/>
          <p:nvPr/>
        </p:nvSpPr>
        <p:spPr>
          <a:xfrm>
            <a:off x="822960" y="3895344"/>
            <a:ext cx="10543032" cy="548640"/>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023359"/>
            <a:ext cx="1920240" cy="320040"/>
          </a:xfrm>
          <a:prstGeom prst="rect">
            <a:avLst/>
          </a:prstGeom>
          <a:noFill/>
        </p:spPr>
        <p:txBody>
          <a:bodyPr wrap="square" anchor="t" lIns="45720" rIns="45720" tIns="27432" bIns="27432">
            <a:spAutoFit/>
          </a:bodyPr>
          <a:lstStyle/>
          <a:p>
            <a:pPr algn="l">
              <a:defRPr sz="1000" b="1" i="0">
                <a:solidFill>
                  <a:srgbClr val="0F172A"/>
                </a:solidFill>
                <a:latin typeface="Segoe UI"/>
              </a:defRPr>
            </a:pPr>
            <a:r>
              <a:t>Torres Eatery (Brgy. Palihan)</a:t>
            </a:r>
          </a:p>
        </p:txBody>
      </p:sp>
      <p:sp>
        <p:nvSpPr>
          <p:cNvPr id="35" name="TextBox 34"/>
          <p:cNvSpPr txBox="1"/>
          <p:nvPr/>
        </p:nvSpPr>
        <p:spPr>
          <a:xfrm>
            <a:off x="2880360" y="4023359"/>
            <a:ext cx="1097280" cy="320040"/>
          </a:xfrm>
          <a:prstGeom prst="rect">
            <a:avLst/>
          </a:prstGeom>
          <a:noFill/>
        </p:spPr>
        <p:txBody>
          <a:bodyPr wrap="square" anchor="t" lIns="45720" rIns="45720" tIns="27432" bIns="27432">
            <a:spAutoFit/>
          </a:bodyPr>
          <a:lstStyle/>
          <a:p>
            <a:pPr algn="l">
              <a:defRPr sz="1000" b="1" i="0">
                <a:solidFill>
                  <a:srgbClr val="0284C7"/>
                </a:solidFill>
                <a:latin typeface="Segoe UI"/>
              </a:defRPr>
            </a:pPr>
            <a:r>
              <a:t>8 Lent Gals</a:t>
            </a:r>
          </a:p>
        </p:txBody>
      </p:sp>
      <p:sp>
        <p:nvSpPr>
          <p:cNvPr id="36" name="TextBox 35"/>
          <p:cNvSpPr txBox="1"/>
          <p:nvPr/>
        </p:nvSpPr>
        <p:spPr>
          <a:xfrm>
            <a:off x="4023360" y="4023359"/>
            <a:ext cx="3474720" cy="320040"/>
          </a:xfrm>
          <a:prstGeom prst="rect">
            <a:avLst/>
          </a:prstGeom>
          <a:noFill/>
        </p:spPr>
        <p:txBody>
          <a:bodyPr wrap="square" anchor="t" lIns="45720" rIns="45720" tIns="27432" bIns="27432">
            <a:spAutoFit/>
          </a:bodyPr>
          <a:lstStyle/>
          <a:p>
            <a:pPr algn="l">
              <a:defRPr sz="950" b="1" i="0">
                <a:solidFill>
                  <a:srgbClr val="334155"/>
                </a:solidFill>
                <a:latin typeface="Segoe UI"/>
              </a:defRPr>
            </a:pPr>
            <a:r>
              <a:t>0 | 0 | 0 | 0 | 0 | 0 | 0 | 0 | 0 | 0 | 0 (14d gap)</a:t>
            </a:r>
          </a:p>
        </p:txBody>
      </p:sp>
      <p:sp>
        <p:nvSpPr>
          <p:cNvPr id="37" name="TextBox 36"/>
          <p:cNvSpPr txBox="1"/>
          <p:nvPr/>
        </p:nvSpPr>
        <p:spPr>
          <a:xfrm>
            <a:off x="7589520" y="4023359"/>
            <a:ext cx="1371600" cy="320040"/>
          </a:xfrm>
          <a:prstGeom prst="rect">
            <a:avLst/>
          </a:prstGeom>
          <a:noFill/>
        </p:spPr>
        <p:txBody>
          <a:bodyPr wrap="square" anchor="t" lIns="45720" rIns="45720" tIns="27432" bIns="27432">
            <a:spAutoFit/>
          </a:bodyPr>
          <a:lstStyle/>
          <a:p>
            <a:pPr algn="l">
              <a:defRPr sz="1050" b="1" i="0">
                <a:solidFill>
                  <a:srgbClr val="047857"/>
                </a:solidFill>
                <a:latin typeface="Segoe UI"/>
              </a:defRPr>
            </a:pPr>
            <a:r>
              <a:t>₱0.00</a:t>
            </a:r>
          </a:p>
        </p:txBody>
      </p:sp>
      <p:sp>
        <p:nvSpPr>
          <p:cNvPr id="38" name="Rounded Rectangle 37"/>
          <p:cNvSpPr/>
          <p:nvPr/>
        </p:nvSpPr>
        <p:spPr>
          <a:xfrm>
            <a:off x="9006840" y="3986783"/>
            <a:ext cx="2240280" cy="365760"/>
          </a:xfrm>
          <a:prstGeom prst="roundRect">
            <a:avLst>
              <a:gd name="adj" fmla="val 4000"/>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06840" y="3986783"/>
            <a:ext cx="2240280" cy="365760"/>
          </a:xfrm>
          <a:prstGeom prst="rect">
            <a:avLst/>
          </a:prstGeom>
          <a:noFill/>
        </p:spPr>
        <p:txBody>
          <a:bodyPr wrap="square" anchor="ctr" lIns="45720" rIns="45720" tIns="27432" bIns="27432">
            <a:spAutoFit/>
          </a:bodyPr>
          <a:lstStyle/>
          <a:p>
            <a:pPr algn="ctr">
              <a:defRPr sz="900" b="1" i="0">
                <a:solidFill>
                  <a:srgbClr val="DC2626"/>
                </a:solidFill>
                <a:latin typeface="Segoe UI"/>
              </a:defRPr>
            </a:pPr>
            <a:r>
              <a:t>BREACH ALERT • AUDIT GALLONS</a:t>
            </a:r>
          </a:p>
        </p:txBody>
      </p:sp>
      <p:sp>
        <p:nvSpPr>
          <p:cNvPr id="40" name="Rounded Rectangle 39"/>
          <p:cNvSpPr/>
          <p:nvPr/>
        </p:nvSpPr>
        <p:spPr>
          <a:xfrm>
            <a:off x="640080" y="4846320"/>
            <a:ext cx="3410712" cy="1325880"/>
          </a:xfrm>
          <a:prstGeom prst="roundRect">
            <a:avLst>
              <a:gd name="adj" fmla="val 4000"/>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59" y="4956048"/>
            <a:ext cx="3044952" cy="292608"/>
          </a:xfrm>
          <a:prstGeom prst="rect">
            <a:avLst/>
          </a:prstGeom>
          <a:noFill/>
        </p:spPr>
        <p:txBody>
          <a:bodyPr wrap="square" anchor="t" lIns="45720" rIns="45720" tIns="27432" bIns="27432">
            <a:spAutoFit/>
          </a:bodyPr>
          <a:lstStyle/>
          <a:p>
            <a:pPr algn="l">
              <a:defRPr sz="1200" b="1" i="0">
                <a:solidFill>
                  <a:srgbClr val="0B192C"/>
                </a:solidFill>
                <a:latin typeface="Segoe UI"/>
              </a:defRPr>
            </a:pPr>
            <a:r>
              <a:t>1. Tracks Lent Gallon Liability</a:t>
            </a:r>
          </a:p>
        </p:txBody>
      </p:sp>
      <p:sp>
        <p:nvSpPr>
          <p:cNvPr id="42" name="TextBox 41"/>
          <p:cNvSpPr txBox="1"/>
          <p:nvPr/>
        </p:nvSpPr>
        <p:spPr>
          <a:xfrm>
            <a:off x="822959" y="5285232"/>
            <a:ext cx="3044952" cy="777240"/>
          </a:xfrm>
          <a:prstGeom prst="rect">
            <a:avLst/>
          </a:prstGeom>
          <a:noFill/>
        </p:spPr>
        <p:txBody>
          <a:bodyPr wrap="square" anchor="t" lIns="45720" rIns="45720" tIns="27432" bIns="27432">
            <a:spAutoFit/>
          </a:bodyPr>
          <a:lstStyle/>
          <a:p>
            <a:pPr algn="l">
              <a:defRPr sz="1050" b="0" i="0">
                <a:solidFill>
                  <a:srgbClr val="334155"/>
                </a:solidFill>
                <a:latin typeface="Segoe UI"/>
              </a:defRPr>
            </a:pPr>
            <a:r>
              <a:t>Logs exact number of LG Nature's Water containers lent to every exclusive customer.</a:t>
            </a:r>
          </a:p>
        </p:txBody>
      </p:sp>
      <p:sp>
        <p:nvSpPr>
          <p:cNvPr id="43" name="Rounded Rectangle 42"/>
          <p:cNvSpPr/>
          <p:nvPr/>
        </p:nvSpPr>
        <p:spPr>
          <a:xfrm>
            <a:off x="4389120" y="4846320"/>
            <a:ext cx="3410712" cy="1325880"/>
          </a:xfrm>
          <a:prstGeom prst="roundRect">
            <a:avLst>
              <a:gd name="adj" fmla="val 4000"/>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0" y="4956048"/>
            <a:ext cx="3044952" cy="292608"/>
          </a:xfrm>
          <a:prstGeom prst="rect">
            <a:avLst/>
          </a:prstGeom>
          <a:noFill/>
        </p:spPr>
        <p:txBody>
          <a:bodyPr wrap="square" anchor="t" lIns="45720" rIns="45720" tIns="27432" bIns="27432">
            <a:spAutoFit/>
          </a:bodyPr>
          <a:lstStyle/>
          <a:p>
            <a:pPr algn="l">
              <a:defRPr sz="1200" b="1" i="0">
                <a:solidFill>
                  <a:srgbClr val="0B192C"/>
                </a:solidFill>
                <a:latin typeface="Segoe UI"/>
              </a:defRPr>
            </a:pPr>
            <a:r>
              <a:t>2. Spots 7–14 Day Buying Gaps</a:t>
            </a:r>
          </a:p>
        </p:txBody>
      </p:sp>
      <p:sp>
        <p:nvSpPr>
          <p:cNvPr id="45" name="TextBox 44"/>
          <p:cNvSpPr txBox="1"/>
          <p:nvPr/>
        </p:nvSpPr>
        <p:spPr>
          <a:xfrm>
            <a:off x="4572000" y="5285232"/>
            <a:ext cx="3044952" cy="777240"/>
          </a:xfrm>
          <a:prstGeom prst="rect">
            <a:avLst/>
          </a:prstGeom>
          <a:noFill/>
        </p:spPr>
        <p:txBody>
          <a:bodyPr wrap="square" anchor="t" lIns="45720" rIns="45720" tIns="27432" bIns="27432">
            <a:spAutoFit/>
          </a:bodyPr>
          <a:lstStyle/>
          <a:p>
            <a:pPr algn="l">
              <a:defRPr sz="1050" b="0" i="0">
                <a:solidFill>
                  <a:srgbClr val="334155"/>
                </a:solidFill>
                <a:latin typeface="Segoe UI"/>
              </a:defRPr>
            </a:pPr>
            <a:r>
              <a:t>Highlights rows where versatile buying patterns turn into a 1–2 week refill silence.</a:t>
            </a:r>
          </a:p>
        </p:txBody>
      </p:sp>
      <p:sp>
        <p:nvSpPr>
          <p:cNvPr id="46" name="Rounded Rectangle 45"/>
          <p:cNvSpPr/>
          <p:nvPr/>
        </p:nvSpPr>
        <p:spPr>
          <a:xfrm>
            <a:off x="8138159" y="4846320"/>
            <a:ext cx="3410712" cy="1325880"/>
          </a:xfrm>
          <a:prstGeom prst="roundRect">
            <a:avLst>
              <a:gd name="adj" fmla="val 4000"/>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21039" y="4956048"/>
            <a:ext cx="3044952" cy="292608"/>
          </a:xfrm>
          <a:prstGeom prst="rect">
            <a:avLst/>
          </a:prstGeom>
          <a:noFill/>
        </p:spPr>
        <p:txBody>
          <a:bodyPr wrap="square" anchor="t" lIns="45720" rIns="45720" tIns="27432" bIns="27432">
            <a:spAutoFit/>
          </a:bodyPr>
          <a:lstStyle/>
          <a:p>
            <a:pPr algn="l">
              <a:defRPr sz="1200" b="1" i="0">
                <a:solidFill>
                  <a:srgbClr val="0B192C"/>
                </a:solidFill>
                <a:latin typeface="Segoe UI"/>
              </a:defRPr>
            </a:pPr>
            <a:r>
              <a:t>3. Triggers Container Recovery</a:t>
            </a:r>
          </a:p>
        </p:txBody>
      </p:sp>
      <p:sp>
        <p:nvSpPr>
          <p:cNvPr id="48" name="TextBox 47"/>
          <p:cNvSpPr txBox="1"/>
          <p:nvPr/>
        </p:nvSpPr>
        <p:spPr>
          <a:xfrm>
            <a:off x="8321039" y="5285232"/>
            <a:ext cx="3044952" cy="777240"/>
          </a:xfrm>
          <a:prstGeom prst="rect">
            <a:avLst/>
          </a:prstGeom>
          <a:noFill/>
        </p:spPr>
        <p:txBody>
          <a:bodyPr wrap="square" anchor="t" lIns="45720" rIns="45720" tIns="27432" bIns="27432">
            <a:spAutoFit/>
          </a:bodyPr>
          <a:lstStyle/>
          <a:p>
            <a:pPr algn="l">
              <a:defRPr sz="1050" b="0" i="0">
                <a:solidFill>
                  <a:srgbClr val="334155"/>
                </a:solidFill>
                <a:latin typeface="Segoe UI"/>
              </a:defRPr>
            </a:pPr>
            <a:r>
              <a:t>Dispatches rider to check on the customer or pull back LG's lent gallons immediately.</a:t>
            </a:r>
          </a:p>
        </p:txBody>
      </p:sp>
      <p:sp>
        <p:nvSpPr>
          <p:cNvPr id="49" name="TextBox 48"/>
          <p:cNvSpPr txBox="1"/>
          <p:nvPr/>
        </p:nvSpPr>
        <p:spPr>
          <a:xfrm>
            <a:off x="640080" y="6446520"/>
            <a:ext cx="5943600" cy="274320"/>
          </a:xfrm>
          <a:prstGeom prst="rect">
            <a:avLst/>
          </a:prstGeom>
          <a:noFill/>
        </p:spPr>
        <p:txBody>
          <a:bodyPr wrap="square" anchor="t" lIns="45720" rIns="45720" tIns="27432" bIns="27432">
            <a:spAutoFit/>
          </a:bodyPr>
          <a:lstStyle/>
          <a:p>
            <a:pPr algn="l">
              <a:defRPr sz="950" b="0" i="0">
                <a:solidFill>
                  <a:srgbClr val="64748B"/>
                </a:solidFill>
                <a:latin typeface="Segoe UI"/>
              </a:defRPr>
            </a:pPr>
            <a:r>
              <a:t>Team MKB (Merge, Knowledge and Build)  •  AquaLedger for LG Nature's Water</a:t>
            </a:r>
          </a:p>
        </p:txBody>
      </p:sp>
      <p:sp>
        <p:nvSpPr>
          <p:cNvPr id="50" name="TextBox 49"/>
          <p:cNvSpPr txBox="1"/>
          <p:nvPr/>
        </p:nvSpPr>
        <p:spPr>
          <a:xfrm>
            <a:off x="6858000" y="6446520"/>
            <a:ext cx="4663440" cy="274320"/>
          </a:xfrm>
          <a:prstGeom prst="rect">
            <a:avLst/>
          </a:prstGeom>
          <a:noFill/>
        </p:spPr>
        <p:txBody>
          <a:bodyPr wrap="square" anchor="t" lIns="45720" rIns="45720" tIns="27432" bIns="27432">
            <a:spAutoFit/>
          </a:bodyPr>
          <a:lstStyle/>
          <a:p>
            <a:pPr algn="r">
              <a:defRPr sz="950" b="0" i="0">
                <a:solidFill>
                  <a:srgbClr val="64748B"/>
                </a:solidFill>
                <a:latin typeface="Segoe UI"/>
              </a:defRPr>
            </a:pPr>
            <a:r>
              <a:t>5-Minute Systems Analysis &amp; Solution Pitch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7315200" cy="320040"/>
          </a:xfrm>
          <a:prstGeom prst="rect">
            <a:avLst/>
          </a:prstGeom>
          <a:noFill/>
        </p:spPr>
        <p:txBody>
          <a:bodyPr wrap="square" anchor="t" lIns="45720" rIns="45720" tIns="27432" bIns="27432">
            <a:spAutoFit/>
          </a:bodyPr>
          <a:lstStyle/>
          <a:p>
            <a:pPr algn="l">
              <a:defRPr sz="1100" b="1" i="0">
                <a:solidFill>
                  <a:srgbClr val="FBBF24"/>
                </a:solidFill>
                <a:latin typeface="Segoe UI"/>
              </a:defRPr>
            </a:pPr>
            <a:r>
              <a:t>CONCLUSION &amp; OPERATIONAL IMPACT</a:t>
            </a:r>
          </a:p>
        </p:txBody>
      </p:sp>
      <p:sp>
        <p:nvSpPr>
          <p:cNvPr id="5" name="Rounded Rectangle 4"/>
          <p:cNvSpPr/>
          <p:nvPr/>
        </p:nvSpPr>
        <p:spPr>
          <a:xfrm>
            <a:off x="9784080" y="292608"/>
            <a:ext cx="1764792" cy="329184"/>
          </a:xfrm>
          <a:prstGeom prst="roundRect">
            <a:avLst>
              <a:gd name="adj" fmla="val 4000"/>
            </a:avLst>
          </a:prstGeom>
          <a:solidFill>
            <a:srgbClr val="132743"/>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292608"/>
            <a:ext cx="1764792" cy="329184"/>
          </a:xfrm>
          <a:prstGeom prst="rect">
            <a:avLst/>
          </a:prstGeom>
          <a:noFill/>
        </p:spPr>
        <p:txBody>
          <a:bodyPr wrap="square" anchor="ctr" lIns="45720" rIns="45720" tIns="27432" bIns="27432">
            <a:spAutoFit/>
          </a:bodyPr>
          <a:lstStyle/>
          <a:p>
            <a:pPr algn="ctr">
              <a:defRPr sz="950" b="1" i="0">
                <a:solidFill>
                  <a:srgbClr val="FBBF24"/>
                </a:solidFill>
                <a:latin typeface="Segoe UI"/>
              </a:defRPr>
            </a:pPr>
            <a:r>
              <a:t>SLIDE 08  •  4:40 – 5:00</a:t>
            </a:r>
          </a:p>
        </p:txBody>
      </p:sp>
      <p:sp>
        <p:nvSpPr>
          <p:cNvPr id="7" name="TextBox 6"/>
          <p:cNvSpPr txBox="1"/>
          <p:nvPr/>
        </p:nvSpPr>
        <p:spPr>
          <a:xfrm>
            <a:off x="640080" y="621792"/>
            <a:ext cx="10789920" cy="502920"/>
          </a:xfrm>
          <a:prstGeom prst="rect">
            <a:avLst/>
          </a:prstGeom>
          <a:noFill/>
        </p:spPr>
        <p:txBody>
          <a:bodyPr wrap="square" anchor="t" lIns="45720" rIns="45720" tIns="27432" bIns="27432">
            <a:spAutoFit/>
          </a:bodyPr>
          <a:lstStyle/>
          <a:p>
            <a:pPr algn="l">
              <a:defRPr sz="2800" b="1" i="0">
                <a:solidFill>
                  <a:srgbClr val="FFFFFF"/>
                </a:solidFill>
                <a:latin typeface="Segoe UI"/>
              </a:defRPr>
            </a:pPr>
            <a:r>
              <a:t>Conclusion: Transforming LG Nature's Water with AquaLedger</a:t>
            </a:r>
          </a:p>
        </p:txBody>
      </p:sp>
      <p:sp>
        <p:nvSpPr>
          <p:cNvPr id="8" name="Rounded Rectangle 7"/>
          <p:cNvSpPr/>
          <p:nvPr/>
        </p:nvSpPr>
        <p:spPr>
          <a:xfrm>
            <a:off x="640080" y="1371600"/>
            <a:ext cx="3410712" cy="2514600"/>
          </a:xfrm>
          <a:prstGeom prst="roundRect">
            <a:avLst>
              <a:gd name="adj" fmla="val 4000"/>
            </a:avLst>
          </a:prstGeom>
          <a:solidFill>
            <a:srgbClr val="132743"/>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554480"/>
            <a:ext cx="3044952" cy="320040"/>
          </a:xfrm>
          <a:prstGeom prst="rect">
            <a:avLst/>
          </a:prstGeom>
          <a:noFill/>
        </p:spPr>
        <p:txBody>
          <a:bodyPr wrap="square" anchor="t" lIns="45720" rIns="45720" tIns="27432" bIns="27432">
            <a:spAutoFit/>
          </a:bodyPr>
          <a:lstStyle/>
          <a:p>
            <a:pPr algn="l">
              <a:defRPr sz="1300" b="1" i="0">
                <a:solidFill>
                  <a:srgbClr val="38BDF8"/>
                </a:solidFill>
                <a:latin typeface="Segoe UI"/>
              </a:defRPr>
            </a:pPr>
            <a:r>
              <a:t>100% ROUTE COMPLIANCE</a:t>
            </a:r>
          </a:p>
        </p:txBody>
      </p:sp>
      <p:sp>
        <p:nvSpPr>
          <p:cNvPr id="10" name="TextBox 9"/>
          <p:cNvSpPr txBox="1"/>
          <p:nvPr/>
        </p:nvSpPr>
        <p:spPr>
          <a:xfrm>
            <a:off x="822959" y="1920240"/>
            <a:ext cx="3044952" cy="365760"/>
          </a:xfrm>
          <a:prstGeom prst="rect">
            <a:avLst/>
          </a:prstGeom>
          <a:noFill/>
        </p:spPr>
        <p:txBody>
          <a:bodyPr wrap="square" anchor="t" lIns="45720" rIns="45720" tIns="27432" bIns="27432">
            <a:spAutoFit/>
          </a:bodyPr>
          <a:lstStyle/>
          <a:p>
            <a:pPr algn="l">
              <a:defRPr sz="1700" b="1" i="0">
                <a:solidFill>
                  <a:srgbClr val="FFFFFF"/>
                </a:solidFill>
                <a:latin typeface="Segoe UI"/>
              </a:defRPr>
            </a:pPr>
            <a:r>
              <a:t>Zero Unchecked Barangays</a:t>
            </a:r>
          </a:p>
        </p:txBody>
      </p:sp>
      <p:sp>
        <p:nvSpPr>
          <p:cNvPr id="11" name="TextBox 10"/>
          <p:cNvSpPr txBox="1"/>
          <p:nvPr/>
        </p:nvSpPr>
        <p:spPr>
          <a:xfrm>
            <a:off x="822959" y="2377440"/>
            <a:ext cx="3044952" cy="1280160"/>
          </a:xfrm>
          <a:prstGeom prst="rect">
            <a:avLst/>
          </a:prstGeom>
          <a:noFill/>
        </p:spPr>
        <p:txBody>
          <a:bodyPr wrap="square" anchor="t" lIns="45720" rIns="45720" tIns="27432" bIns="27432">
            <a:spAutoFit/>
          </a:bodyPr>
          <a:lstStyle/>
          <a:p>
            <a:pPr algn="l">
              <a:defRPr sz="1150" b="0" i="0">
                <a:solidFill>
                  <a:srgbClr val="CBD5E1"/>
                </a:solidFill>
                <a:latin typeface="Segoe UI"/>
              </a:defRPr>
            </a:pPr>
            <a:r>
              <a:t>Riders follow verified Barangay checklists with operator sync—preventing missed traverses and saving repeat-delivery fuel.</a:t>
            </a:r>
          </a:p>
        </p:txBody>
      </p:sp>
      <p:sp>
        <p:nvSpPr>
          <p:cNvPr id="12" name="Rounded Rectangle 11"/>
          <p:cNvSpPr/>
          <p:nvPr/>
        </p:nvSpPr>
        <p:spPr>
          <a:xfrm>
            <a:off x="4389120" y="1371600"/>
            <a:ext cx="3410712" cy="2514600"/>
          </a:xfrm>
          <a:prstGeom prst="roundRect">
            <a:avLst>
              <a:gd name="adj" fmla="val 4000"/>
            </a:avLst>
          </a:prstGeom>
          <a:solidFill>
            <a:srgbClr val="132743"/>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554480"/>
            <a:ext cx="3044952" cy="320040"/>
          </a:xfrm>
          <a:prstGeom prst="rect">
            <a:avLst/>
          </a:prstGeom>
          <a:noFill/>
        </p:spPr>
        <p:txBody>
          <a:bodyPr wrap="square" anchor="t" lIns="45720" rIns="45720" tIns="27432" bIns="27432">
            <a:spAutoFit/>
          </a:bodyPr>
          <a:lstStyle/>
          <a:p>
            <a:pPr algn="l">
              <a:defRPr sz="1300" b="1" i="0">
                <a:solidFill>
                  <a:srgbClr val="FBBF24"/>
                </a:solidFill>
                <a:latin typeface="Segoe UI"/>
              </a:defRPr>
            </a:pPr>
            <a:r>
              <a:t>2 HOURS SAVED DAILY</a:t>
            </a:r>
          </a:p>
        </p:txBody>
      </p:sp>
      <p:sp>
        <p:nvSpPr>
          <p:cNvPr id="14" name="TextBox 13"/>
          <p:cNvSpPr txBox="1"/>
          <p:nvPr/>
        </p:nvSpPr>
        <p:spPr>
          <a:xfrm>
            <a:off x="4572000" y="1920240"/>
            <a:ext cx="3044952" cy="365760"/>
          </a:xfrm>
          <a:prstGeom prst="rect">
            <a:avLst/>
          </a:prstGeom>
          <a:noFill/>
        </p:spPr>
        <p:txBody>
          <a:bodyPr wrap="square" anchor="t" lIns="45720" rIns="45720" tIns="27432" bIns="27432">
            <a:spAutoFit/>
          </a:bodyPr>
          <a:lstStyle/>
          <a:p>
            <a:pPr algn="l">
              <a:defRPr sz="1700" b="1" i="0">
                <a:solidFill>
                  <a:srgbClr val="FFFFFF"/>
                </a:solidFill>
                <a:latin typeface="Segoe UI"/>
              </a:defRPr>
            </a:pPr>
            <a:r>
              <a:t>Automated Row-by-Row Audit</a:t>
            </a:r>
          </a:p>
        </p:txBody>
      </p:sp>
      <p:sp>
        <p:nvSpPr>
          <p:cNvPr id="15" name="TextBox 14"/>
          <p:cNvSpPr txBox="1"/>
          <p:nvPr/>
        </p:nvSpPr>
        <p:spPr>
          <a:xfrm>
            <a:off x="4572000" y="2377440"/>
            <a:ext cx="3044952" cy="1280160"/>
          </a:xfrm>
          <a:prstGeom prst="rect">
            <a:avLst/>
          </a:prstGeom>
          <a:noFill/>
        </p:spPr>
        <p:txBody>
          <a:bodyPr wrap="square" anchor="t" lIns="45720" rIns="45720" tIns="27432" bIns="27432">
            <a:spAutoFit/>
          </a:bodyPr>
          <a:lstStyle/>
          <a:p>
            <a:pPr algn="l">
              <a:defRPr sz="1150" b="0" i="0">
                <a:solidFill>
                  <a:srgbClr val="CBD5E1"/>
                </a:solidFill>
                <a:latin typeface="Segoe UI"/>
              </a:defRPr>
            </a:pPr>
            <a:r>
              <a:t>Replaces manual per-customer row inspection and pickup math with instant POS pricing and a 1-Tap End-of-Day Audit.</a:t>
            </a:r>
          </a:p>
        </p:txBody>
      </p:sp>
      <p:sp>
        <p:nvSpPr>
          <p:cNvPr id="16" name="Rounded Rectangle 15"/>
          <p:cNvSpPr/>
          <p:nvPr/>
        </p:nvSpPr>
        <p:spPr>
          <a:xfrm>
            <a:off x="8138159" y="1371600"/>
            <a:ext cx="3410712" cy="2514600"/>
          </a:xfrm>
          <a:prstGeom prst="roundRect">
            <a:avLst>
              <a:gd name="adj" fmla="val 4000"/>
            </a:avLst>
          </a:prstGeom>
          <a:solidFill>
            <a:srgbClr val="132743"/>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39" y="1554480"/>
            <a:ext cx="3044952" cy="320040"/>
          </a:xfrm>
          <a:prstGeom prst="rect">
            <a:avLst/>
          </a:prstGeom>
          <a:noFill/>
        </p:spPr>
        <p:txBody>
          <a:bodyPr wrap="square" anchor="t" lIns="45720" rIns="45720" tIns="27432" bIns="27432">
            <a:spAutoFit/>
          </a:bodyPr>
          <a:lstStyle/>
          <a:p>
            <a:pPr algn="l">
              <a:defRPr sz="1300" b="1" i="0">
                <a:solidFill>
                  <a:srgbClr val="14B8A6"/>
                </a:solidFill>
                <a:latin typeface="Segoe UI"/>
              </a:defRPr>
            </a:pPr>
            <a:r>
              <a:t>PROTECTED GALLON ASSETS</a:t>
            </a:r>
          </a:p>
        </p:txBody>
      </p:sp>
      <p:sp>
        <p:nvSpPr>
          <p:cNvPr id="18" name="TextBox 17"/>
          <p:cNvSpPr txBox="1"/>
          <p:nvPr/>
        </p:nvSpPr>
        <p:spPr>
          <a:xfrm>
            <a:off x="8321039" y="1920240"/>
            <a:ext cx="3044952" cy="365760"/>
          </a:xfrm>
          <a:prstGeom prst="rect">
            <a:avLst/>
          </a:prstGeom>
          <a:noFill/>
        </p:spPr>
        <p:txBody>
          <a:bodyPr wrap="square" anchor="t" lIns="45720" rIns="45720" tIns="27432" bIns="27432">
            <a:spAutoFit/>
          </a:bodyPr>
          <a:lstStyle/>
          <a:p>
            <a:pPr algn="l">
              <a:defRPr sz="1700" b="1" i="0">
                <a:solidFill>
                  <a:srgbClr val="FFFFFF"/>
                </a:solidFill>
                <a:latin typeface="Segoe UI"/>
              </a:defRPr>
            </a:pPr>
            <a:r>
              <a:t>1–2 Week Gap Detection</a:t>
            </a:r>
          </a:p>
        </p:txBody>
      </p:sp>
      <p:sp>
        <p:nvSpPr>
          <p:cNvPr id="19" name="TextBox 18"/>
          <p:cNvSpPr txBox="1"/>
          <p:nvPr/>
        </p:nvSpPr>
        <p:spPr>
          <a:xfrm>
            <a:off x="8321039" y="2377440"/>
            <a:ext cx="3044952" cy="1280160"/>
          </a:xfrm>
          <a:prstGeom prst="rect">
            <a:avLst/>
          </a:prstGeom>
          <a:noFill/>
        </p:spPr>
        <p:txBody>
          <a:bodyPr wrap="square" anchor="t" lIns="45720" rIns="45720" tIns="27432" bIns="27432">
            <a:spAutoFit/>
          </a:bodyPr>
          <a:lstStyle/>
          <a:p>
            <a:pPr algn="l">
              <a:defRPr sz="1150" b="0" i="0">
                <a:solidFill>
                  <a:srgbClr val="CBD5E1"/>
                </a:solidFill>
                <a:latin typeface="Segoe UI"/>
              </a:defRPr>
            </a:pPr>
            <a:r>
              <a:t>Monitors versatile buying patterns across Days 1–31 so lent LG gallons are never used behind LG's back.</a:t>
            </a:r>
          </a:p>
        </p:txBody>
      </p:sp>
      <p:sp>
        <p:nvSpPr>
          <p:cNvPr id="20" name="Rounded Rectangle 19"/>
          <p:cNvSpPr/>
          <p:nvPr/>
        </p:nvSpPr>
        <p:spPr>
          <a:xfrm>
            <a:off x="640080" y="4160520"/>
            <a:ext cx="10908792" cy="1965960"/>
          </a:xfrm>
          <a:prstGeom prst="roundRect">
            <a:avLst>
              <a:gd name="adj" fmla="val 4000"/>
            </a:avLst>
          </a:prstGeom>
          <a:solidFill>
            <a:srgbClr val="132743"/>
          </a:solidFill>
          <a:ln w="317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89120" y="3977639"/>
            <a:ext cx="3410712" cy="384048"/>
          </a:xfrm>
          <a:prstGeom prst="roundRect">
            <a:avLst>
              <a:gd name="adj" fmla="val 4000"/>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3977639"/>
            <a:ext cx="3410712" cy="384048"/>
          </a:xfrm>
          <a:prstGeom prst="rect">
            <a:avLst/>
          </a:prstGeom>
          <a:noFill/>
        </p:spPr>
        <p:txBody>
          <a:bodyPr wrap="square" anchor="ctr" lIns="45720" rIns="45720" tIns="27432" bIns="27432">
            <a:spAutoFit/>
          </a:bodyPr>
          <a:lstStyle/>
          <a:p>
            <a:pPr algn="ctr">
              <a:defRPr sz="1100" b="1" i="0">
                <a:solidFill>
                  <a:srgbClr val="0B192C"/>
                </a:solidFill>
                <a:latin typeface="Segoe UI"/>
              </a:defRPr>
            </a:pPr>
            <a:r>
              <a:t>TEAM MKB OFFICIAL TAGLINE</a:t>
            </a:r>
          </a:p>
        </p:txBody>
      </p:sp>
      <p:sp>
        <p:nvSpPr>
          <p:cNvPr id="23" name="TextBox 22"/>
          <p:cNvSpPr txBox="1"/>
          <p:nvPr/>
        </p:nvSpPr>
        <p:spPr>
          <a:xfrm>
            <a:off x="1005840" y="4498848"/>
            <a:ext cx="10177272" cy="1005840"/>
          </a:xfrm>
          <a:prstGeom prst="rect">
            <a:avLst/>
          </a:prstGeom>
          <a:noFill/>
        </p:spPr>
        <p:txBody>
          <a:bodyPr wrap="square" anchor="ctr" lIns="45720" rIns="45720" tIns="27432" bIns="27432">
            <a:spAutoFit/>
          </a:bodyPr>
          <a:lstStyle/>
          <a:p>
            <a:pPr algn="ctr">
              <a:defRPr sz="2600" b="1" i="1">
                <a:solidFill>
                  <a:srgbClr val="FFFFFF"/>
                </a:solidFill>
                <a:latin typeface="Segoe UI"/>
              </a:defRPr>
            </a:pPr>
            <a:r>
              <a:t>“We, the Team MKB, will Merge and Evaluate</a:t>
            </a:r>
            <a:br/>
            <a:r>
              <a:t>by Our Knowledge and Build Solution.”</a:t>
            </a:r>
          </a:p>
        </p:txBody>
      </p:sp>
      <p:sp>
        <p:nvSpPr>
          <p:cNvPr id="24" name="TextBox 23"/>
          <p:cNvSpPr txBox="1"/>
          <p:nvPr/>
        </p:nvSpPr>
        <p:spPr>
          <a:xfrm>
            <a:off x="1005840" y="5596128"/>
            <a:ext cx="10177272" cy="365760"/>
          </a:xfrm>
          <a:prstGeom prst="rect">
            <a:avLst/>
          </a:prstGeom>
          <a:noFill/>
        </p:spPr>
        <p:txBody>
          <a:bodyPr wrap="square" anchor="t" lIns="45720" rIns="45720" tIns="27432" bIns="27432">
            <a:spAutoFit/>
          </a:bodyPr>
          <a:lstStyle/>
          <a:p>
            <a:pPr algn="ctr">
              <a:defRPr sz="1300" b="1" i="0">
                <a:solidFill>
                  <a:srgbClr val="38BDF8"/>
                </a:solidFill>
                <a:latin typeface="Segoe UI"/>
              </a:defRPr>
            </a:pPr>
            <a:r>
              <a:t>Team MKB (Merge, Knowledge and Build)  •  AquaLedger System  •  Thank You!</a:t>
            </a:r>
          </a:p>
        </p:txBody>
      </p:sp>
      <p:sp>
        <p:nvSpPr>
          <p:cNvPr id="25" name="TextBox 24"/>
          <p:cNvSpPr txBox="1"/>
          <p:nvPr/>
        </p:nvSpPr>
        <p:spPr>
          <a:xfrm>
            <a:off x="640080" y="6446520"/>
            <a:ext cx="5943600" cy="274320"/>
          </a:xfrm>
          <a:prstGeom prst="rect">
            <a:avLst/>
          </a:prstGeom>
          <a:noFill/>
        </p:spPr>
        <p:txBody>
          <a:bodyPr wrap="square" anchor="t" lIns="45720" rIns="45720" tIns="27432" bIns="27432">
            <a:spAutoFit/>
          </a:bodyPr>
          <a:lstStyle/>
          <a:p>
            <a:pPr algn="l">
              <a:defRPr sz="950" b="0" i="0">
                <a:solidFill>
                  <a:srgbClr val="94A3B8"/>
                </a:solidFill>
                <a:latin typeface="Segoe UI"/>
              </a:defRPr>
            </a:pPr>
            <a:r>
              <a:t>Team MKB (Merge, Knowledge and Build)  •  AquaLedger for LG Nature's Water</a:t>
            </a:r>
          </a:p>
        </p:txBody>
      </p:sp>
      <p:sp>
        <p:nvSpPr>
          <p:cNvPr id="26" name="TextBox 25"/>
          <p:cNvSpPr txBox="1"/>
          <p:nvPr/>
        </p:nvSpPr>
        <p:spPr>
          <a:xfrm>
            <a:off x="6858000" y="6446520"/>
            <a:ext cx="4663440" cy="274320"/>
          </a:xfrm>
          <a:prstGeom prst="rect">
            <a:avLst/>
          </a:prstGeom>
          <a:noFill/>
        </p:spPr>
        <p:txBody>
          <a:bodyPr wrap="square" anchor="t" lIns="45720" rIns="45720" tIns="27432" bIns="27432">
            <a:spAutoFit/>
          </a:bodyPr>
          <a:lstStyle/>
          <a:p>
            <a:pPr algn="r">
              <a:defRPr sz="950" b="0" i="0">
                <a:solidFill>
                  <a:srgbClr val="94A3B8"/>
                </a:solidFill>
                <a:latin typeface="Segoe UI"/>
              </a:defRPr>
            </a:pPr>
            <a:r>
              <a:t>5-Minute Systems Analysis &amp; Solution Pitch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