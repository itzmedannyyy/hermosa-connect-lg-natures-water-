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Planned Single Traversal (L)</c:v>
                </c:pt>
              </c:strCache>
            </c:strRef>
          </c:tx>
          <c:spPr>
            <a:solidFill>
              <a:srgbClr val="CBD5E1"/>
            </a:solidFill>
          </c:spPr>
          <c:invertIfNegative val="0"/>
          <c:dLbls>
            <c:delete val="1"/>
          </c:dLbls>
          <c:cat>
            <c:strRef>
              <c:f>Sheet1!$A$2:$A$5</c:f>
              <c:strCache>
                <c:ptCount val="4"/>
                <c:pt idx="0">
                  <c:v>Brgy. Culis</c:v>
                </c:pt>
                <c:pt idx="1">
                  <c:v>Brgy. San Pedro</c:v>
                </c:pt>
                <c:pt idx="2">
                  <c:v>Brgy. Palihan</c:v>
                </c:pt>
                <c:pt idx="3">
                  <c:v>Brgy. Daungan</c:v>
                </c:pt>
              </c:strCache>
            </c:strRef>
          </c:cat>
          <c:val>
            <c:numRef>
              <c:f>Sheet1!$B$2:$B$5</c:f>
              <c:numCache>
                <c:formatCode>General</c:formatCode>
                <c:ptCount val="4"/>
                <c:pt idx="0">
                  <c:v>3.2</c:v>
                </c:pt>
                <c:pt idx="1">
                  <c:v>4</c:v>
                </c:pt>
                <c:pt idx="2">
                  <c:v>3.5</c:v>
                </c:pt>
                <c:pt idx="3">
                  <c:v>4.5</c:v>
                </c:pt>
              </c:numCache>
            </c:numRef>
          </c:val>
        </c:ser>
        <c:ser>
          <c:idx val="1"/>
          <c:order val="1"/>
          <c:tx>
            <c:strRef>
              <c:f>Sheet1!$C$1</c:f>
              <c:strCache>
                <c:ptCount val="1"/>
                <c:pt idx="0">
                  <c:v>With Repeat Re-Delivery Trip (L)</c:v>
                </c:pt>
              </c:strCache>
            </c:strRef>
          </c:tx>
          <c:spPr>
            <a:solidFill>
              <a:srgbClr val="0284C7"/>
            </a:solidFill>
          </c:spPr>
          <c:invertIfNegative val="0"/>
          <c:dLbls>
            <c:delete val="1"/>
          </c:dLbls>
          <c:cat>
            <c:strRef>
              <c:f>Sheet1!$A$2:$A$5</c:f>
              <c:strCache>
                <c:ptCount val="4"/>
                <c:pt idx="0">
                  <c:v>Brgy. Culis</c:v>
                </c:pt>
                <c:pt idx="1">
                  <c:v>Brgy. San Pedro</c:v>
                </c:pt>
                <c:pt idx="2">
                  <c:v>Brgy. Palihan</c:v>
                </c:pt>
                <c:pt idx="3">
                  <c:v>Brgy. Daungan</c:v>
                </c:pt>
              </c:strCache>
            </c:strRef>
          </c:cat>
          <c:val>
            <c:numRef>
              <c:f>Sheet1!$C$2:$C$5</c:f>
              <c:numCache>
                <c:formatCode>General</c:formatCode>
                <c:ptCount val="4"/>
                <c:pt idx="0">
                  <c:v>6.4</c:v>
                </c:pt>
                <c:pt idx="1">
                  <c:v>7.8</c:v>
                </c:pt>
                <c:pt idx="2">
                  <c:v>6.8</c:v>
                </c:pt>
                <c:pt idx="3">
                  <c:v>8.6</c:v>
                </c:pt>
              </c:numCache>
            </c:numRef>
          </c:val>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9525" cap="flat" cmpd="sng" algn="ctr">
            <a:solidFill>
              <a:srgbClr val="E2E8F0"/>
            </a:solidFill>
            <a:prstDash val="solid"/>
            <a:round/>
          </a:ln>
        </c:spPr>
        <c:txPr>
          <a:bodyPr rot="-60000000" spcFirstLastPara="0" vertOverflow="ellipsis" vert="horz" wrap="square" anchor="ctr" anchorCtr="1"/>
          <a:lstStyle/>
          <a:p>
            <a:pPr>
              <a:defRPr lang="en-US" sz="1000" b="0" i="0" u="none" strike="noStrike" kern="1200" baseline="0">
                <a:solidFill>
                  <a:srgbClr val="334155"/>
                </a:solidFill>
                <a:latin typeface="Segoe UI" panose="020B0502040204020203"/>
                <a:ea typeface="+mn-ea"/>
                <a:cs typeface="+mn-cs"/>
              </a:defRPr>
            </a:pPr>
          </a:p>
        </c:txPr>
        <c:crossAx val="-2113994440"/>
        <c:crosses val="autoZero"/>
        <c:auto val="1"/>
        <c:lblAlgn val="ctr"/>
        <c:lblOffset val="100"/>
        <c:noMultiLvlLbl val="0"/>
      </c:catAx>
      <c:valAx>
        <c:axId val="-2113994440"/>
        <c:scaling>
          <c:orientation val="minMax"/>
        </c:scaling>
        <c:delete val="0"/>
        <c:axPos val="l"/>
        <c:majorGridlines>
          <c:spPr>
            <a:ln w="9525" cap="flat" cmpd="sng" algn="ctr">
              <a:solidFill>
                <a:srgbClr val="E2E8F0"/>
              </a:solidFill>
              <a:prstDash val="solid"/>
              <a:round/>
            </a:ln>
          </c:spPr>
        </c:majorGridlines>
        <c:numFmt formatCode="General" sourceLinked="1"/>
        <c:majorTickMark val="out"/>
        <c:minorTickMark val="none"/>
        <c:tickLblPos val="nextTo"/>
        <c:spPr>
          <a:ln w="9525" cap="flat" cmpd="sng" algn="ctr">
            <a:noFill/>
            <a:prstDash val="solid"/>
            <a:round/>
          </a:ln>
        </c:spPr>
        <c:txPr>
          <a:bodyPr rot="-60000000" spcFirstLastPara="0" vertOverflow="ellipsis" vert="horz" wrap="square" anchor="ctr" anchorCtr="1"/>
          <a:lstStyle/>
          <a:p>
            <a:pPr>
              <a:defRPr lang="en-US" sz="950" b="0" i="0" u="none" strike="noStrike" kern="1200" baseline="0">
                <a:solidFill>
                  <a:srgbClr val="64748B"/>
                </a:solidFill>
                <a:latin typeface="Segoe UI" panose="020B0502040204020203"/>
                <a:ea typeface="+mn-ea"/>
                <a:cs typeface="+mn-cs"/>
              </a:defRPr>
            </a:pPr>
          </a:p>
        </c:txPr>
        <c:crossAx val="-2068027336"/>
        <c:crosses val="autoZero"/>
        <c:crossBetween val="between"/>
      </c:valAx>
    </c:plotArea>
    <c:legend>
      <c:legendPos val="t"/>
      <c:layout/>
      <c:overlay val="0"/>
      <c:txPr>
        <a:bodyPr rot="0" spcFirstLastPara="0" vertOverflow="ellipsis" vert="horz" wrap="square" anchor="ctr" anchorCtr="1"/>
        <a:lstStyle/>
        <a:p>
          <a:pPr>
            <a:defRPr lang="en-US" sz="1000" b="0" i="0" u="none" strike="noStrike" kern="1200" baseline="0">
              <a:solidFill>
                <a:srgbClr val="334155"/>
              </a:solidFill>
              <a:latin typeface="Segoe UI" panose="020B0502040204020203"/>
              <a:ea typeface="+mn-ea"/>
              <a:cs typeface="+mn-cs"/>
            </a:defRPr>
          </a:pPr>
        </a:p>
      </c:txPr>
    </c:legend>
    <c:plotVisOnly val="1"/>
    <c:dispBlanksAs val="gap"/>
    <c:showDLblsOverMax val="0"/>
    <c:extLst>
      <c:ext uri="{0b15fc19-7d7d-44ad-8c2d-2c3a37ce22c3}">
        <chartProps xmlns="https://web.wps.cn/et/2018/main" chartId="{435812eb-284b-48e2-8b18-76c367f10cf2}"/>
      </c:ext>
    </c:extLst>
  </c:chart>
  <c:txPr>
    <a:bodyPr/>
    <a:lstStyle/>
    <a:p>
      <a:pPr>
        <a:defRPr lang="en-US"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Manual Row-by-Row Audit (Mins)</c:v>
                </c:pt>
              </c:strCache>
            </c:strRef>
          </c:tx>
          <c:spPr>
            <a:solidFill>
              <a:srgbClr val="0284C7"/>
            </a:solidFill>
          </c:spPr>
          <c:invertIfNegative val="0"/>
          <c:dLbls>
            <c:delete val="1"/>
          </c:dLbls>
          <c:cat>
            <c:strRef>
              <c:f>Sheet1!$A$2:$A$5</c:f>
              <c:strCache>
                <c:ptCount val="4"/>
                <c:pt idx="0">
                  <c:v>Count Gallons per Row</c:v>
                </c:pt>
                <c:pt idx="1">
                  <c:v>Multiply Cost per Customer</c:v>
                </c:pt>
                <c:pt idx="2">
                  <c:v>Reconcile Pickup &amp; Delivery Cash</c:v>
                </c:pt>
                <c:pt idx="3">
                  <c:v>Total Daily Audit Time</c:v>
                </c:pt>
              </c:strCache>
            </c:strRef>
          </c:cat>
          <c:val>
            <c:numRef>
              <c:f>Sheet1!$B$2:$B$5</c:f>
              <c:numCache>
                <c:formatCode>General</c:formatCode>
                <c:ptCount val="4"/>
                <c:pt idx="0">
                  <c:v>40</c:v>
                </c:pt>
                <c:pt idx="1">
                  <c:v>45</c:v>
                </c:pt>
                <c:pt idx="2">
                  <c:v>35</c:v>
                </c:pt>
                <c:pt idx="3">
                  <c:v>120</c:v>
                </c:pt>
              </c:numCache>
            </c:numRef>
          </c:val>
        </c:ser>
        <c:ser>
          <c:idx val="1"/>
          <c:order val="1"/>
          <c:tx>
            <c:strRef>
              <c:f>Sheet1!$C$1</c:f>
              <c:strCache>
                <c:ptCount val="1"/>
                <c:pt idx="0">
                  <c:v>AquaLedger Automated Audit (Mins)</c:v>
                </c:pt>
              </c:strCache>
            </c:strRef>
          </c:tx>
          <c:spPr>
            <a:solidFill>
              <a:srgbClr val="CBD5E1"/>
            </a:solidFill>
          </c:spPr>
          <c:invertIfNegative val="0"/>
          <c:dLbls>
            <c:delete val="1"/>
          </c:dLbls>
          <c:cat>
            <c:strRef>
              <c:f>Sheet1!$A$2:$A$5</c:f>
              <c:strCache>
                <c:ptCount val="4"/>
                <c:pt idx="0">
                  <c:v>Count Gallons per Row</c:v>
                </c:pt>
                <c:pt idx="1">
                  <c:v>Multiply Cost per Customer</c:v>
                </c:pt>
                <c:pt idx="2">
                  <c:v>Reconcile Pickup &amp; Delivery Cash</c:v>
                </c:pt>
                <c:pt idx="3">
                  <c:v>Total Daily Audit Time</c:v>
                </c:pt>
              </c:strCache>
            </c:strRef>
          </c:cat>
          <c:val>
            <c:numRef>
              <c:f>Sheet1!$C$2:$C$5</c:f>
              <c:numCache>
                <c:formatCode>General</c:formatCode>
                <c:ptCount val="4"/>
                <c:pt idx="0">
                  <c:v>1</c:v>
                </c:pt>
                <c:pt idx="1">
                  <c:v>1</c:v>
                </c:pt>
                <c:pt idx="2">
                  <c:v>3</c:v>
                </c:pt>
                <c:pt idx="3">
                  <c:v>5</c:v>
                </c:pt>
              </c:numCache>
            </c:numRef>
          </c:val>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majorTickMark val="out"/>
        <c:minorTickMark val="none"/>
        <c:tickLblPos val="nextTo"/>
        <c:spPr>
          <a:ln w="9525" cap="flat" cmpd="sng" algn="ctr">
            <a:solidFill>
              <a:srgbClr val="E2E8F0"/>
            </a:solidFill>
            <a:prstDash val="solid"/>
            <a:round/>
          </a:ln>
        </c:spPr>
        <c:txPr>
          <a:bodyPr rot="-60000000" spcFirstLastPara="0" vertOverflow="ellipsis" vert="horz" wrap="square" anchor="ctr" anchorCtr="1"/>
          <a:lstStyle/>
          <a:p>
            <a:pPr>
              <a:defRPr lang="en-US" sz="1000" b="0" i="0" u="none" strike="noStrike" kern="1200" baseline="0">
                <a:solidFill>
                  <a:srgbClr val="334155"/>
                </a:solidFill>
                <a:latin typeface="Segoe UI" panose="020B0502040204020203"/>
                <a:ea typeface="+mn-ea"/>
                <a:cs typeface="+mn-cs"/>
              </a:defRPr>
            </a:pPr>
          </a:p>
        </c:txPr>
        <c:crossAx val="-2113994440"/>
        <c:crosses val="autoZero"/>
        <c:auto val="1"/>
        <c:lblAlgn val="ctr"/>
        <c:lblOffset val="100"/>
        <c:noMultiLvlLbl val="0"/>
      </c:catAx>
      <c:valAx>
        <c:axId val="-2113994440"/>
        <c:scaling>
          <c:orientation val="minMax"/>
        </c:scaling>
        <c:delete val="0"/>
        <c:axPos val="b"/>
        <c:majorGridlines>
          <c:spPr>
            <a:ln w="9525" cap="flat" cmpd="sng" algn="ctr">
              <a:solidFill>
                <a:srgbClr val="E2E8F0"/>
              </a:solidFill>
              <a:prstDash val="solid"/>
              <a:round/>
            </a:ln>
          </c:spPr>
        </c:majorGridlines>
        <c:numFmt formatCode="General" sourceLinked="1"/>
        <c:majorTickMark val="out"/>
        <c:minorTickMark val="none"/>
        <c:tickLblPos val="nextTo"/>
        <c:spPr>
          <a:ln w="9525" cap="flat" cmpd="sng" algn="ctr">
            <a:noFill/>
            <a:prstDash val="solid"/>
            <a:round/>
          </a:ln>
        </c:spPr>
        <c:txPr>
          <a:bodyPr rot="-60000000" spcFirstLastPara="0" vertOverflow="ellipsis" vert="horz" wrap="square" anchor="ctr" anchorCtr="1"/>
          <a:lstStyle/>
          <a:p>
            <a:pPr>
              <a:defRPr lang="en-US" sz="950" b="0" i="0" u="none" strike="noStrike" kern="1200" baseline="0">
                <a:solidFill>
                  <a:srgbClr val="64748B"/>
                </a:solidFill>
                <a:latin typeface="Segoe UI" panose="020B0502040204020203"/>
                <a:ea typeface="+mn-ea"/>
                <a:cs typeface="+mn-cs"/>
              </a:defRPr>
            </a:pPr>
          </a:p>
        </c:txPr>
        <c:crossAx val="-2068027336"/>
        <c:crosses val="autoZero"/>
        <c:crossBetween val="between"/>
      </c:valAx>
    </c:plotArea>
    <c:legend>
      <c:legendPos val="t"/>
      <c:layout/>
      <c:overlay val="0"/>
      <c:txPr>
        <a:bodyPr rot="0" spcFirstLastPara="0" vertOverflow="ellipsis" vert="horz" wrap="square" anchor="ctr" anchorCtr="1"/>
        <a:lstStyle/>
        <a:p>
          <a:pPr>
            <a:defRPr lang="en-US" sz="1000" b="0" i="0" u="none" strike="noStrike" kern="1200" baseline="0">
              <a:solidFill>
                <a:srgbClr val="334155"/>
              </a:solidFill>
              <a:latin typeface="Segoe UI" panose="020B0502040204020203"/>
              <a:ea typeface="+mn-ea"/>
              <a:cs typeface="+mn-cs"/>
            </a:defRPr>
          </a:pPr>
        </a:p>
      </c:txPr>
    </c:legend>
    <c:plotVisOnly val="1"/>
    <c:dispBlanksAs val="gap"/>
    <c:showDLblsOverMax val="0"/>
    <c:extLst>
      <c:ext uri="{0b15fc19-7d7d-44ad-8c2d-2c3a37ce22c3}">
        <chartProps xmlns="https://web.wps.cn/et/2018/main" chartId="{db19dcf8-ebb0-4284-a6ff-fc4bc43d6c6e}"/>
      </c:ext>
    </c:extLst>
  </c:chart>
  <c:txPr>
    <a:bodyPr/>
    <a:lstStyle/>
    <a:p>
      <a:pPr>
        <a:defRPr lang="en-US" sz="1800"/>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Gallons Refilled with LG Nature's Water</c:v>
                </c:pt>
              </c:strCache>
            </c:strRef>
          </c:tx>
          <c:dLbls>
            <c:delete val="1"/>
          </c:dLbls>
          <c:cat>
            <c:strRef>
              <c:f>Sheet1!$A$2:$A$15</c:f>
              <c:strCache>
                <c:ptCount val="14"/>
                <c:pt idx="0">
                  <c:v>D1</c:v>
                </c:pt>
                <c:pt idx="1">
                  <c:v>D2</c:v>
                </c:pt>
                <c:pt idx="2">
                  <c:v>D3</c:v>
                </c:pt>
                <c:pt idx="3">
                  <c:v>D4</c:v>
                </c:pt>
                <c:pt idx="4">
                  <c:v>D5</c:v>
                </c:pt>
                <c:pt idx="5">
                  <c:v>D6</c:v>
                </c:pt>
                <c:pt idx="6">
                  <c:v>D7</c:v>
                </c:pt>
                <c:pt idx="7">
                  <c:v>D8</c:v>
                </c:pt>
                <c:pt idx="8">
                  <c:v>D9</c:v>
                </c:pt>
                <c:pt idx="9">
                  <c:v>D10</c:v>
                </c:pt>
                <c:pt idx="10">
                  <c:v>D11</c:v>
                </c:pt>
                <c:pt idx="11">
                  <c:v>D12</c:v>
                </c:pt>
                <c:pt idx="12">
                  <c:v>D13</c:v>
                </c:pt>
                <c:pt idx="13">
                  <c:v>D14</c:v>
                </c:pt>
              </c:strCache>
            </c:strRef>
          </c:cat>
          <c:val>
            <c:numRef>
              <c:f>Sheet1!$B$2:$B$15</c:f>
              <c:numCache>
                <c:formatCode>General</c:formatCode>
                <c:ptCount val="14"/>
                <c:pt idx="0">
                  <c:v>6</c:v>
                </c:pt>
                <c:pt idx="1">
                  <c:v>0</c:v>
                </c:pt>
                <c:pt idx="2">
                  <c:v>5</c:v>
                </c:pt>
                <c:pt idx="3">
                  <c:v>0</c:v>
                </c:pt>
                <c:pt idx="4">
                  <c:v>6</c:v>
                </c:pt>
                <c:pt idx="5">
                  <c:v>0</c:v>
                </c:pt>
                <c:pt idx="6">
                  <c:v>0</c:v>
                </c:pt>
                <c:pt idx="7">
                  <c:v>0</c:v>
                </c:pt>
                <c:pt idx="8">
                  <c:v>0</c:v>
                </c:pt>
                <c:pt idx="9">
                  <c:v>0</c:v>
                </c:pt>
                <c:pt idx="10">
                  <c:v>0</c:v>
                </c:pt>
                <c:pt idx="11">
                  <c:v>0</c:v>
                </c:pt>
                <c:pt idx="12">
                  <c:v>0</c:v>
                </c:pt>
                <c:pt idx="13">
                  <c:v>0</c:v>
                </c:pt>
              </c:numCache>
            </c:numRef>
          </c:val>
          <c:smooth val="0"/>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majorTickMark val="out"/>
        <c:minorTickMark val="none"/>
        <c:tickLblPos val="nextTo"/>
        <c:spPr>
          <a:ln w="9525" cap="flat" cmpd="sng" algn="ctr">
            <a:solidFill>
              <a:srgbClr val="E2E8F0"/>
            </a:solidFill>
            <a:prstDash val="solid"/>
            <a:round/>
          </a:ln>
        </c:spPr>
        <c:txPr>
          <a:bodyPr rot="-60000000" spcFirstLastPara="0" vertOverflow="ellipsis" vert="horz" wrap="square" anchor="ctr" anchorCtr="1"/>
          <a:lstStyle/>
          <a:p>
            <a:pPr>
              <a:defRPr lang="en-US" sz="1000" b="0" i="0" u="none" strike="noStrike" kern="1200" baseline="0">
                <a:solidFill>
                  <a:srgbClr val="334155"/>
                </a:solidFill>
                <a:latin typeface="Segoe UI" panose="020B0502040204020203"/>
                <a:ea typeface="+mn-ea"/>
                <a:cs typeface="+mn-cs"/>
              </a:defRPr>
            </a:pPr>
          </a:p>
        </c:txPr>
        <c:crossAx val="2140495176"/>
        <c:crosses val="autoZero"/>
        <c:auto val="1"/>
        <c:lblAlgn val="ctr"/>
        <c:lblOffset val="100"/>
        <c:noMultiLvlLbl val="0"/>
      </c:catAx>
      <c:valAx>
        <c:axId val="2140495176"/>
        <c:scaling>
          <c:orientation val="minMax"/>
        </c:scaling>
        <c:delete val="0"/>
        <c:axPos val="l"/>
        <c:majorGridlines>
          <c:spPr>
            <a:ln w="9525" cap="flat" cmpd="sng" algn="ctr">
              <a:solidFill>
                <a:srgbClr val="E2E8F0"/>
              </a:solidFill>
              <a:prstDash val="solid"/>
              <a:round/>
            </a:ln>
          </c:spPr>
        </c:majorGridlines>
        <c:numFmt formatCode="General" sourceLinked="1"/>
        <c:majorTickMark val="out"/>
        <c:minorTickMark val="none"/>
        <c:tickLblPos val="nextTo"/>
        <c:spPr>
          <a:ln w="9525" cap="flat" cmpd="sng" algn="ctr">
            <a:noFill/>
            <a:prstDash val="solid"/>
            <a:round/>
          </a:ln>
        </c:spPr>
        <c:txPr>
          <a:bodyPr rot="-60000000" spcFirstLastPara="0" vertOverflow="ellipsis" vert="horz" wrap="square" anchor="ctr" anchorCtr="1"/>
          <a:lstStyle/>
          <a:p>
            <a:pPr>
              <a:defRPr lang="en-US" sz="950" b="0" i="0" u="none" strike="noStrike" kern="1200" baseline="0">
                <a:solidFill>
                  <a:srgbClr val="64748B"/>
                </a:solidFill>
                <a:latin typeface="Segoe UI" panose="020B0502040204020203"/>
                <a:ea typeface="+mn-ea"/>
                <a:cs typeface="+mn-cs"/>
              </a:defRPr>
            </a:pPr>
          </a:p>
        </c:txPr>
        <c:crossAx val="2118791784"/>
        <c:crosses val="autoZero"/>
        <c:crossBetween val="between"/>
      </c:valAx>
    </c:plotArea>
    <c:plotVisOnly val="1"/>
    <c:dispBlanksAs val="gap"/>
    <c:showDLblsOverMax val="0"/>
    <c:extLst>
      <c:ext uri="{0b15fc19-7d7d-44ad-8c2d-2c3a37ce22c3}">
        <chartProps xmlns="https://web.wps.cn/et/2018/main" chartId="{9ff531b5-399f-413e-808a-e1a3abe7d7f4}"/>
      </c:ext>
    </c:extLst>
  </c:chart>
  <c:txPr>
    <a:bodyPr/>
    <a:lstStyle/>
    <a:p>
      <a:pPr>
        <a:defRPr lang="en-US" sz="1800"/>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Unmonitored in Paper Logs (%)</c:v>
                </c:pt>
              </c:strCache>
            </c:strRef>
          </c:tx>
          <c:spPr>
            <a:solidFill>
              <a:srgbClr val="CBD5E1"/>
            </a:solidFill>
          </c:spPr>
          <c:invertIfNegative val="0"/>
          <c:dLbls>
            <c:delete val="1"/>
          </c:dLbls>
          <c:cat>
            <c:strRef>
              <c:f>Sheet1!$A$2:$A$4</c:f>
              <c:strCache>
                <c:ptCount val="3"/>
                <c:pt idx="0">
                  <c:v>Active (Refilled in 1–6 Days)</c:v>
                </c:pt>
                <c:pt idx="1">
                  <c:v>Warning (Idle 7–10 Days)</c:v>
                </c:pt>
                <c:pt idx="2">
                  <c:v>Breach Risk (Idle 11–14+ Days)</c:v>
                </c:pt>
              </c:strCache>
            </c:strRef>
          </c:cat>
          <c:val>
            <c:numRef>
              <c:f>Sheet1!$B$2:$B$4</c:f>
              <c:numCache>
                <c:formatCode>General</c:formatCode>
                <c:ptCount val="3"/>
                <c:pt idx="0">
                  <c:v>0</c:v>
                </c:pt>
                <c:pt idx="1">
                  <c:v>0</c:v>
                </c:pt>
                <c:pt idx="2">
                  <c:v>0</c:v>
                </c:pt>
              </c:numCache>
            </c:numRef>
          </c:val>
        </c:ser>
        <c:ser>
          <c:idx val="1"/>
          <c:order val="1"/>
          <c:tx>
            <c:strRef>
              <c:f>Sheet1!$C$1</c:f>
              <c:strCache>
                <c:ptCount val="1"/>
                <c:pt idx="0">
                  <c:v>Tracked &amp; Flagged in AquaLedger (%)</c:v>
                </c:pt>
              </c:strCache>
            </c:strRef>
          </c:tx>
          <c:spPr>
            <a:solidFill>
              <a:srgbClr val="0284C7"/>
            </a:solidFill>
          </c:spPr>
          <c:invertIfNegative val="0"/>
          <c:dLbls>
            <c:delete val="1"/>
          </c:dLbls>
          <c:cat>
            <c:strRef>
              <c:f>Sheet1!$A$2:$A$4</c:f>
              <c:strCache>
                <c:ptCount val="3"/>
                <c:pt idx="0">
                  <c:v>Active (Refilled in 1–6 Days)</c:v>
                </c:pt>
                <c:pt idx="1">
                  <c:v>Warning (Idle 7–10 Days)</c:v>
                </c:pt>
                <c:pt idx="2">
                  <c:v>Breach Risk (Idle 11–14+ Days)</c:v>
                </c:pt>
              </c:strCache>
            </c:strRef>
          </c:cat>
          <c:val>
            <c:numRef>
              <c:f>Sheet1!$C$2:$C$4</c:f>
              <c:numCache>
                <c:formatCode>General</c:formatCode>
                <c:ptCount val="3"/>
                <c:pt idx="0">
                  <c:v>74</c:v>
                </c:pt>
                <c:pt idx="1">
                  <c:v>16</c:v>
                </c:pt>
                <c:pt idx="2">
                  <c:v>10</c:v>
                </c:pt>
              </c:numCache>
            </c:numRef>
          </c:val>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9525" cap="flat" cmpd="sng" algn="ctr">
            <a:solidFill>
              <a:srgbClr val="E2E8F0"/>
            </a:solidFill>
            <a:prstDash val="solid"/>
            <a:round/>
          </a:ln>
        </c:spPr>
        <c:txPr>
          <a:bodyPr rot="-60000000" spcFirstLastPara="0" vertOverflow="ellipsis" vert="horz" wrap="square" anchor="ctr" anchorCtr="1"/>
          <a:lstStyle/>
          <a:p>
            <a:pPr>
              <a:defRPr lang="en-US" sz="1000" b="0" i="0" u="none" strike="noStrike" kern="1200" baseline="0">
                <a:solidFill>
                  <a:srgbClr val="334155"/>
                </a:solidFill>
                <a:latin typeface="Segoe UI" panose="020B0502040204020203"/>
                <a:ea typeface="+mn-ea"/>
                <a:cs typeface="+mn-cs"/>
              </a:defRPr>
            </a:pPr>
          </a:p>
        </c:txPr>
        <c:crossAx val="-2113994440"/>
        <c:crosses val="autoZero"/>
        <c:auto val="1"/>
        <c:lblAlgn val="ctr"/>
        <c:lblOffset val="100"/>
        <c:noMultiLvlLbl val="0"/>
      </c:catAx>
      <c:valAx>
        <c:axId val="-2113994440"/>
        <c:scaling>
          <c:orientation val="minMax"/>
        </c:scaling>
        <c:delete val="0"/>
        <c:axPos val="l"/>
        <c:majorGridlines>
          <c:spPr>
            <a:ln w="9525" cap="flat" cmpd="sng" algn="ctr">
              <a:solidFill>
                <a:srgbClr val="E2E8F0"/>
              </a:solidFill>
              <a:prstDash val="solid"/>
              <a:round/>
            </a:ln>
          </c:spPr>
        </c:majorGridlines>
        <c:numFmt formatCode="General" sourceLinked="1"/>
        <c:majorTickMark val="out"/>
        <c:minorTickMark val="none"/>
        <c:tickLblPos val="nextTo"/>
        <c:spPr>
          <a:ln w="9525" cap="flat" cmpd="sng" algn="ctr">
            <a:noFill/>
            <a:prstDash val="solid"/>
            <a:round/>
          </a:ln>
        </c:spPr>
        <c:txPr>
          <a:bodyPr rot="-60000000" spcFirstLastPara="0" vertOverflow="ellipsis" vert="horz" wrap="square" anchor="ctr" anchorCtr="1"/>
          <a:lstStyle/>
          <a:p>
            <a:pPr>
              <a:defRPr lang="en-US" sz="950" b="0" i="0" u="none" strike="noStrike" kern="1200" baseline="0">
                <a:solidFill>
                  <a:srgbClr val="64748B"/>
                </a:solidFill>
                <a:latin typeface="Segoe UI" panose="020B0502040204020203"/>
                <a:ea typeface="+mn-ea"/>
                <a:cs typeface="+mn-cs"/>
              </a:defRPr>
            </a:pPr>
          </a:p>
        </c:txPr>
        <c:crossAx val="-2068027336"/>
        <c:crosses val="autoZero"/>
        <c:crossBetween val="between"/>
      </c:valAx>
    </c:plotArea>
    <c:legend>
      <c:legendPos val="t"/>
      <c:layout/>
      <c:overlay val="0"/>
      <c:txPr>
        <a:bodyPr rot="0" spcFirstLastPara="0" vertOverflow="ellipsis" vert="horz" wrap="square" anchor="ctr" anchorCtr="1"/>
        <a:lstStyle/>
        <a:p>
          <a:pPr>
            <a:defRPr lang="en-US" sz="1000" b="0" i="0" u="none" strike="noStrike" kern="1200" baseline="0">
              <a:solidFill>
                <a:srgbClr val="334155"/>
              </a:solidFill>
              <a:latin typeface="Segoe UI" panose="020B0502040204020203"/>
              <a:ea typeface="+mn-ea"/>
              <a:cs typeface="+mn-cs"/>
            </a:defRPr>
          </a:pPr>
        </a:p>
      </c:txPr>
    </c:legend>
    <c:plotVisOnly val="1"/>
    <c:dispBlanksAs val="gap"/>
    <c:showDLblsOverMax val="0"/>
    <c:extLst>
      <c:ext uri="{0b15fc19-7d7d-44ad-8c2d-2c3a37ce22c3}">
        <chartProps xmlns="https://web.wps.cn/et/2018/main" chartId="{eb5d090a-5581-4054-8b72-eb8357a6c2ca}"/>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[0:00 - 0:35 | Slide 1: Title Slide]</a:t>
            </a:r>
          </a:p>
          <a:p>
            <a:r>
              <a:t>Good day everyone. We are Team MKB — Merge, Knowledge, and Build.</a:t>
            </a:r>
          </a:p>
          <a:p>
            <a:r>
              <a:t>Today we are presenting our one-word system built from our operational analysis of LG Nature's Water: AquaLedger.</a:t>
            </a:r>
          </a:p>
          <a:p>
            <a:r>
              <a:t>AquaLedger addresses three costly problems we uncovered in daily station operations: unchecked Barangay delivery routes, two-hour manual customer row audits, and borrowed-gallon exclusivity leaks.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[0:35 - 1:25 | Slide 2: Main Problem 1 — Barangay Route Checklist &amp; Fuel Waste]</a:t>
            </a:r>
          </a:p>
          <a:p>
            <a:r>
              <a:t>Throughout our analysis of LG Nature's Water, our first main finding is on the delivery routes.</a:t>
            </a:r>
          </a:p>
          <a:p>
            <a:r>
              <a:t>Riders are assigned a route pattern that includes specific Barangays. Yet riders often forget—or cannot explain—why a Barangay on their checklist was left unchecked, requiring manual compliance and confirmation with the LG Operator.</a:t>
            </a:r>
          </a:p>
          <a:p>
            <a:r>
              <a:t>Worse, when a rider forgets to traverse that Barangay, customers call in to request delivery again. As the chart on the right shows, driving back to the same Barangay a second time nearly doubles fuel consumption across every route.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[1:25 - 2:15 | Slide 3: Main Problem 2 — Hard Manual Auditing (2 Hours of Work)]</a:t>
            </a:r>
          </a:p>
          <a:p>
            <a:r>
              <a:t>Our second main problem is the hard auditing process at the station counter.</a:t>
            </a:r>
          </a:p>
          <a:p>
            <a:r>
              <a:t>When pickup customers pay and delivery orders come in, the operator has to manually monitor the ledger row by row per customer to count how many gallons they got and calculate the total cost.</a:t>
            </a:r>
          </a:p>
          <a:p>
            <a:r>
              <a:t>We want to highlight the scale of this bottleneck: it takes 2 full hours—120 minutes—of manual work every single day just to audit customer rows and close the books.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[2:15 - 3:00 | Slide 4: Bonus Problem — Buying Patterns &amp; Lent Gallon Exclusivity]</a:t>
            </a:r>
          </a:p>
          <a:p>
            <a:r>
              <a:t>Our Bonus Problem focuses on customer buying patterns and container exclusivity.</a:t>
            </a:r>
          </a:p>
          <a:p>
            <a:r>
              <a:t>LG Nature's Water lends gallons to customers in exchange for their exclusive refill business. However, customer buying patterns are very versatile, and sometimes a customer goes a full week or two without buying.</a:t>
            </a:r>
          </a:p>
          <a:p>
            <a:r>
              <a:t>As the 14-day chart illustrates, when a customer holding 8 lent LG gallons drops to zero refills for 9 to 14 days straight, that is highly suspicious—they may be stabbing LG Nature's Water behind its back by refilling LG's lent containers at a competitor station.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[3:00 - 3:40 | Slide 5: Solution Overview — AquaLedger]</a:t>
            </a:r>
          </a:p>
          <a:p>
            <a:r>
              <a:t>To solve all three problems at the root, Team MKB built AquaLedger.</a:t>
            </a:r>
          </a:p>
          <a:p>
            <a:r>
              <a:t>First, our Barangay Dispatch and Checklist workflow ensures riders complete or account for every Barangay in their route pattern before returning—cutting out repeat-delivery fuel waste.</a:t>
            </a:r>
          </a:p>
          <a:p>
            <a:r>
              <a:t>Second, our Automated Customer Row Ledger calculates gallons and total costs per customer automatically as pickup and delivery payments happen—eliminating the 2-hour manual audit.</a:t>
            </a:r>
          </a:p>
          <a:p>
            <a:r>
              <a:t>Third, our 31-Day Exclusivity Monitor tracks daily buying patterns against lent gallons so 1-to-2-week gaps are caught immediately.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[3:40 - 4:15 | Slide 6: Solution Detail — Route Sign-Off &amp; Instant Row Auditing]</a:t>
            </a:r>
          </a:p>
          <a:p>
            <a:r>
              <a:t>Here is how the workflow operates in practice.</a:t>
            </a:r>
          </a:p>
          <a:p>
            <a:r>
              <a:t>On the left, riders view their deliveries grouped by Barangay. Before leaving a Barangay, every stop must be confirmed with a photo count and doorstep receipt—syncing live with the LG Operator so no Barangay is forgotten and no fuel is wasted on return trips.</a:t>
            </a:r>
          </a:p>
          <a:p>
            <a:r>
              <a:t>On the right, when pickup customers pay at the counter, the operator logs the order in one tap. AquaLedger automatically totals the gallons and peso amount for every customer row across all 31 days of the month—replacing 2 hours of manual row auditing with a single click.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[4:15 - 4:40 | Slide 7: Solution Detail — Lent Gallon Exclusivity Protection]</a:t>
            </a:r>
          </a:p>
          <a:p>
            <a:r>
              <a:t>To solve the Bonus Problem, AquaLedger links every customer's lent gallon balance directly to their 31-day buying pattern.</a:t>
            </a:r>
          </a:p>
          <a:p>
            <a:r>
              <a:t>In paper notebooks, 100% of idle accounts go unnoticed until containers are permanently lost. With AquaLedger, the system automatically segments customers into Active, 7-to-10-Day Warning, and 11-to-14-Day Breach Risk—allowing the operator to send a rider to verify or pull back LG Nature's Water's lent gallons immediately.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[4:40 - 5:00 | Slide 8: Conclusion &amp; Team MKB Tagline]</a:t>
            </a:r>
          </a:p>
          <a:p>
            <a:r>
              <a:t>In conclusion, AquaLedger directly solves the three problems uncovered in our analysis of LG Nature's Water:</a:t>
            </a:r>
          </a:p>
          <a:p>
            <a:r>
              <a:t>1. Verified Barangay checklists that eliminate repeat trips and save fuel,</a:t>
            </a:r>
          </a:p>
          <a:p>
            <a:r>
              <a:t>2. Automated customer row auditing that saves 2 full hours of manual work every day, and</a:t>
            </a:r>
          </a:p>
          <a:p>
            <a:r>
              <a:t>3. 31-day buying-pattern tracking that protects LG's lent gallons from competitor refills.</a:t>
            </a:r>
          </a:p>
          <a:p/>
          <a:p>
            <a:r>
              <a:t>We close with our commitment:</a:t>
            </a:r>
          </a:p>
          <a:p>
            <a:r>
              <a:t>"We, the Team MKB, will Merge and Evaluate by Our Knowledge and Build Solution."</a:t>
            </a:r>
          </a:p>
          <a:p>
            <a:r>
              <a:t>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chart" Target="../charts/char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chart" Target="../charts/char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417320"/>
            <a:ext cx="9601200" cy="365760"/>
          </a:xfrm>
          <a:prstGeom prst="rect">
            <a:avLst/>
          </a:prstGeom>
          <a:noFill/>
        </p:spPr>
        <p:txBody>
          <a:bodyPr wrap="square" lIns="0" tIns="0" rIns="0" bIns="0" anchor="t">
            <a:spAutoFit/>
          </a:bodyPr>
          <a:lstStyle/>
          <a:p>
            <a:pPr algn="l">
              <a:lnSpc>
                <a:spcPct val="125000"/>
              </a:lnSpc>
              <a:defRPr sz="1500" b="1" i="0">
                <a:solidFill>
                  <a:srgbClr val="0284C7"/>
                </a:solidFill>
                <a:latin typeface="Segoe UI" panose="020B0502040204020203"/>
              </a:defRPr>
            </a:pPr>
            <a:r>
              <a:t>LG Nature's Water — Operational Analysis &amp; System Pitch</a:t>
            </a:r>
          </a:p>
        </p:txBody>
      </p:sp>
      <p:sp>
        <p:nvSpPr>
          <p:cNvPr id="4" name="TextBox 3"/>
          <p:cNvSpPr txBox="1"/>
          <p:nvPr/>
        </p:nvSpPr>
        <p:spPr>
          <a:xfrm>
            <a:off x="987552" y="1874519"/>
            <a:ext cx="9601200" cy="1188720"/>
          </a:xfrm>
          <a:prstGeom prst="rect">
            <a:avLst/>
          </a:prstGeom>
          <a:noFill/>
        </p:spPr>
        <p:txBody>
          <a:bodyPr wrap="square" lIns="0" tIns="0" rIns="0" bIns="0" anchor="t">
            <a:spAutoFit/>
          </a:bodyPr>
          <a:lstStyle/>
          <a:p>
            <a:pPr algn="l">
              <a:lnSpc>
                <a:spcPct val="125000"/>
              </a:lnSpc>
              <a:defRPr sz="6400" b="1" i="0">
                <a:solidFill>
                  <a:srgbClr val="0F172A"/>
                </a:solidFill>
                <a:latin typeface="Segoe UI" panose="020B0502040204020203"/>
              </a:defRPr>
            </a:pPr>
            <a:r>
              <a:t>AquaLedger</a:t>
            </a:r>
          </a:p>
        </p:txBody>
      </p:sp>
      <p:sp>
        <p:nvSpPr>
          <p:cNvPr id="5" name="TextBox 4"/>
          <p:cNvSpPr txBox="1"/>
          <p:nvPr/>
        </p:nvSpPr>
        <p:spPr>
          <a:xfrm>
            <a:off x="1005840" y="3154680"/>
            <a:ext cx="8046720" cy="777240"/>
          </a:xfrm>
          <a:prstGeom prst="rect">
            <a:avLst/>
          </a:prstGeom>
          <a:noFill/>
        </p:spPr>
        <p:txBody>
          <a:bodyPr wrap="square" lIns="0" tIns="0" rIns="0" bIns="0" anchor="t">
            <a:spAutoFit/>
          </a:bodyPr>
          <a:lstStyle/>
          <a:p>
            <a:pPr algn="l">
              <a:lnSpc>
                <a:spcPct val="135000"/>
              </a:lnSpc>
              <a:defRPr sz="1800" b="0" i="0">
                <a:solidFill>
                  <a:srgbClr val="334155"/>
                </a:solidFill>
                <a:latin typeface="Segoe UI" panose="020B0502040204020203"/>
              </a:defRPr>
            </a:pPr>
            <a:r>
              <a:t>A unified system for Barangay route compliance, automated customer row auditing,</a:t>
            </a:r>
          </a:p>
          <a:p>
            <a:pPr algn="l">
              <a:lnSpc>
                <a:spcPct val="135000"/>
              </a:lnSpc>
              <a:defRPr sz="1800" b="0" i="0">
                <a:solidFill>
                  <a:srgbClr val="334155"/>
                </a:solidFill>
                <a:latin typeface="Segoe UI" panose="020B0502040204020203"/>
              </a:defRPr>
            </a:pPr>
            <a:r>
              <a:t>and borrowed-gallon exclusivity tracking.</a:t>
            </a:r>
          </a:p>
        </p:txBody>
      </p:sp>
      <p:sp>
        <p:nvSpPr>
          <p:cNvPr id="6" name="Rectangle 5"/>
          <p:cNvSpPr/>
          <p:nvPr/>
        </p:nvSpPr>
        <p:spPr>
          <a:xfrm>
            <a:off x="1005840" y="4297680"/>
            <a:ext cx="1014984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617720"/>
            <a:ext cx="7315200" cy="502920"/>
          </a:xfrm>
          <a:prstGeom prst="rect">
            <a:avLst/>
          </a:prstGeom>
          <a:noFill/>
        </p:spPr>
        <p:txBody>
          <a:bodyPr wrap="square" lIns="0" tIns="0" rIns="0" bIns="0" anchor="t">
            <a:spAutoFit/>
          </a:bodyPr>
          <a:lstStyle/>
          <a:p>
            <a:pPr algn="l">
              <a:lnSpc>
                <a:spcPct val="125000"/>
              </a:lnSpc>
              <a:defRPr sz="2800" b="1" i="0">
                <a:solidFill>
                  <a:srgbClr val="0F172A"/>
                </a:solidFill>
                <a:latin typeface="Segoe UI" panose="020B0502040204020203"/>
              </a:defRPr>
            </a:pPr>
            <a:r>
              <a:t>Team MKB</a:t>
            </a:r>
          </a:p>
        </p:txBody>
      </p:sp>
      <p:sp>
        <p:nvSpPr>
          <p:cNvPr id="8" name="TextBox 7"/>
          <p:cNvSpPr txBox="1"/>
          <p:nvPr/>
        </p:nvSpPr>
        <p:spPr>
          <a:xfrm>
            <a:off x="1005840" y="5166360"/>
            <a:ext cx="7315200" cy="411480"/>
          </a:xfrm>
          <a:prstGeom prst="rect">
            <a:avLst/>
          </a:prstGeom>
          <a:noFill/>
        </p:spPr>
        <p:txBody>
          <a:bodyPr wrap="square" lIns="0" tIns="0" rIns="0" bIns="0" anchor="t">
            <a:spAutoFit/>
          </a:bodyPr>
          <a:lstStyle/>
          <a:p>
            <a:pPr algn="l">
              <a:lnSpc>
                <a:spcPct val="125000"/>
              </a:lnSpc>
              <a:defRPr sz="1600" b="0" i="0">
                <a:solidFill>
                  <a:srgbClr val="64748B"/>
                </a:solidFill>
                <a:latin typeface="Segoe UI" panose="020B0502040204020203"/>
              </a:defRPr>
            </a:pPr>
            <a:r>
              <a:t>Merge, Knowledge and Build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lIns="0" tIns="0" rIns="0" bIns="0" anchor="t">
            <a:spAutoFit/>
          </a:bodyPr>
          <a:lstStyle/>
          <a:p>
            <a:pPr algn="l">
              <a:lnSpc>
                <a:spcPct val="115000"/>
              </a:lnSpc>
              <a:defRPr sz="2500" b="1" i="0">
                <a:solidFill>
                  <a:srgbClr val="0F172A"/>
                </a:solidFill>
                <a:latin typeface="Segoe UI" panose="020B0502040204020203"/>
              </a:defRPr>
            </a:pPr>
            <a:r>
              <a:t>Unchecked Barangay routes force repeat trips that double route fuel use.</a:t>
            </a:r>
          </a:p>
        </p:txBody>
      </p:sp>
      <p:sp>
        <p:nvSpPr>
          <p:cNvPr id="4" name="TextBox 3"/>
          <p:cNvSpPr txBox="1"/>
          <p:nvPr/>
        </p:nvSpPr>
        <p:spPr>
          <a:xfrm>
            <a:off x="822960" y="1207008"/>
            <a:ext cx="10515600" cy="411480"/>
          </a:xfrm>
          <a:prstGeom prst="rect">
            <a:avLst/>
          </a:prstGeom>
          <a:noFill/>
        </p:spPr>
        <p:txBody>
          <a:bodyPr wrap="square" lIns="0" tIns="0" rIns="0" bIns="0" anchor="t">
            <a:spAutoFit/>
          </a:bodyPr>
          <a:lstStyle/>
          <a:p>
            <a:pPr algn="l">
              <a:lnSpc>
                <a:spcPct val="120000"/>
              </a:lnSpc>
              <a:defRPr sz="1400" b="0" i="0">
                <a:solidFill>
                  <a:srgbClr val="64748B"/>
                </a:solidFill>
                <a:latin typeface="Segoe UI" panose="020B0502040204020203"/>
              </a:defRPr>
            </a:pPr>
            <a:r>
              <a:t>Main Problem 1: Riders leave scheduled Barangays unchecked on their route checklists, requiring operator verification and second trips.</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lIns="0" tIns="0" rIns="0" bIns="0" anchor="t">
            <a:spAutoFit/>
          </a:bodyPr>
          <a:lstStyle/>
          <a:p>
            <a:pPr algn="l">
              <a:lnSpc>
                <a:spcPct val="125000"/>
              </a:lnSpc>
              <a:defRPr sz="1000" b="0" i="0">
                <a:solidFill>
                  <a:srgbClr val="64748B"/>
                </a:solidFill>
                <a:latin typeface="Segoe UI" panose="020B0502040204020203"/>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lIns="0" tIns="0" rIns="0" bIns="0" anchor="t">
            <a:spAutoFit/>
          </a:bodyPr>
          <a:lstStyle/>
          <a:p>
            <a:pPr algn="r">
              <a:lnSpc>
                <a:spcPct val="125000"/>
              </a:lnSpc>
              <a:defRPr sz="1000" b="0" i="0">
                <a:solidFill>
                  <a:srgbClr val="64748B"/>
                </a:solidFill>
                <a:latin typeface="Segoe UI" panose="020B0502040204020203"/>
              </a:defRPr>
            </a:pPr>
            <a:r>
              <a:t>2</a:t>
            </a:r>
          </a:p>
        </p:txBody>
      </p:sp>
      <p:sp>
        <p:nvSpPr>
          <p:cNvPr id="9" name="TextBox 8"/>
          <p:cNvSpPr txBox="1"/>
          <p:nvPr/>
        </p:nvSpPr>
        <p:spPr>
          <a:xfrm>
            <a:off x="822960" y="205740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Riders cannot explain unchecked Barangay checklists</a:t>
            </a:r>
          </a:p>
        </p:txBody>
      </p:sp>
      <p:sp>
        <p:nvSpPr>
          <p:cNvPr id="10" name="TextBox 9"/>
          <p:cNvSpPr txBox="1"/>
          <p:nvPr/>
        </p:nvSpPr>
        <p:spPr>
          <a:xfrm>
            <a:off x="822960" y="240487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Riders follow a daily route pattern covering assigned Barangays, but frequently return with Barangays left unchecked and cannot explain why the route was skipped.</a:t>
            </a:r>
          </a:p>
        </p:txBody>
      </p:sp>
      <p:sp>
        <p:nvSpPr>
          <p:cNvPr id="11" name="TextBox 10"/>
          <p:cNvSpPr txBox="1"/>
          <p:nvPr/>
        </p:nvSpPr>
        <p:spPr>
          <a:xfrm>
            <a:off x="822960" y="338328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Manual compliance with the LG Operator slows dispatch</a:t>
            </a:r>
          </a:p>
        </p:txBody>
      </p:sp>
      <p:sp>
        <p:nvSpPr>
          <p:cNvPr id="12" name="TextBox 11"/>
          <p:cNvSpPr txBox="1"/>
          <p:nvPr/>
        </p:nvSpPr>
        <p:spPr>
          <a:xfrm>
            <a:off x="822960" y="373075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Because the paper checklist is incomplete, riders must manually report to the LG Operator after their shift to confirm which Barangays were actually traversed.</a:t>
            </a:r>
          </a:p>
        </p:txBody>
      </p:sp>
      <p:sp>
        <p:nvSpPr>
          <p:cNvPr id="13" name="TextBox 12"/>
          <p:cNvSpPr txBox="1"/>
          <p:nvPr/>
        </p:nvSpPr>
        <p:spPr>
          <a:xfrm>
            <a:off x="822960" y="470916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Forgotten traversals trigger re-delivery and extra fuel consumption</a:t>
            </a:r>
          </a:p>
        </p:txBody>
      </p:sp>
      <p:sp>
        <p:nvSpPr>
          <p:cNvPr id="14" name="TextBox 13"/>
          <p:cNvSpPr txBox="1"/>
          <p:nvPr/>
        </p:nvSpPr>
        <p:spPr>
          <a:xfrm>
            <a:off x="822960" y="505663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When a rider forgets to traverse a scheduled Barangay, customers call back requesting delivery again—forcing the truck or sidecar to drive back to the same area twice.</a:t>
            </a:r>
          </a:p>
        </p:txBody>
      </p:sp>
      <p:sp>
        <p:nvSpPr>
          <p:cNvPr id="15" name="TextBox 14"/>
          <p:cNvSpPr txBox="1"/>
          <p:nvPr/>
        </p:nvSpPr>
        <p:spPr>
          <a:xfrm>
            <a:off x="6217920" y="2011680"/>
            <a:ext cx="5120640" cy="320040"/>
          </a:xfrm>
          <a:prstGeom prst="rect">
            <a:avLst/>
          </a:prstGeom>
          <a:noFill/>
        </p:spPr>
        <p:txBody>
          <a:bodyPr wrap="square" lIns="0" tIns="0" rIns="0" bIns="0" anchor="t">
            <a:spAutoFit/>
          </a:bodyPr>
          <a:lstStyle/>
          <a:p>
            <a:pPr algn="l">
              <a:lnSpc>
                <a:spcPct val="125000"/>
              </a:lnSpc>
              <a:defRPr sz="1300" b="1" i="0">
                <a:solidFill>
                  <a:srgbClr val="0F172A"/>
                </a:solidFill>
                <a:latin typeface="Segoe UI" panose="020B0502040204020203"/>
              </a:defRPr>
            </a:pPr>
            <a:r>
              <a:t>Fuel Consumption by Route Pattern (Liters per Shift)</a:t>
            </a:r>
          </a:p>
        </p:txBody>
      </p:sp>
      <p:sp>
        <p:nvSpPr>
          <p:cNvPr id="16" name="TextBox 15"/>
          <p:cNvSpPr txBox="1"/>
          <p:nvPr/>
        </p:nvSpPr>
        <p:spPr>
          <a:xfrm>
            <a:off x="6217920" y="2286000"/>
            <a:ext cx="5120640" cy="274320"/>
          </a:xfrm>
          <a:prstGeom prst="rect">
            <a:avLst/>
          </a:prstGeom>
          <a:noFill/>
        </p:spPr>
        <p:txBody>
          <a:bodyPr wrap="square" lIns="0" tIns="0" rIns="0" bIns="0" anchor="t">
            <a:spAutoFit/>
          </a:bodyPr>
          <a:lstStyle/>
          <a:p>
            <a:pPr algn="l">
              <a:lnSpc>
                <a:spcPct val="125000"/>
              </a:lnSpc>
              <a:defRPr sz="1100" b="0" i="0">
                <a:solidFill>
                  <a:srgbClr val="64748B"/>
                </a:solidFill>
                <a:latin typeface="Segoe UI" panose="020B0502040204020203"/>
              </a:defRPr>
            </a:pPr>
            <a:r>
              <a:t>Planned single traversal vs. repeat trip after a forgotten Barangay stop</a:t>
            </a:r>
          </a:p>
        </p:txBody>
      </p:sp>
      <p:graphicFrame>
        <p:nvGraphicFramePr>
          <p:cNvPr id="17" name="Chart 16"/>
          <p:cNvGraphicFramePr>
            <a:graphicFrameLocks noGrp="1"/>
          </p:cNvGraphicFramePr>
          <p:nvPr/>
        </p:nvGraphicFramePr>
        <p:xfrm>
          <a:off x="6126480" y="2606040"/>
          <a:ext cx="5212080" cy="329184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lIns="0" tIns="0" rIns="0" bIns="0" anchor="t">
            <a:spAutoFit/>
          </a:bodyPr>
          <a:lstStyle/>
          <a:p>
            <a:pPr algn="l">
              <a:lnSpc>
                <a:spcPct val="115000"/>
              </a:lnSpc>
              <a:defRPr sz="2500" b="1" i="0">
                <a:solidFill>
                  <a:srgbClr val="0F172A"/>
                </a:solidFill>
                <a:latin typeface="Segoe UI" panose="020B0502040204020203"/>
              </a:defRPr>
            </a:pPr>
            <a:r>
              <a:t>Manual row-by-row customer auditing takes two full hours of work every day.</a:t>
            </a:r>
          </a:p>
        </p:txBody>
      </p:sp>
      <p:sp>
        <p:nvSpPr>
          <p:cNvPr id="4" name="TextBox 3"/>
          <p:cNvSpPr txBox="1"/>
          <p:nvPr/>
        </p:nvSpPr>
        <p:spPr>
          <a:xfrm>
            <a:off x="822960" y="1207008"/>
            <a:ext cx="10515600" cy="411480"/>
          </a:xfrm>
          <a:prstGeom prst="rect">
            <a:avLst/>
          </a:prstGeom>
          <a:noFill/>
        </p:spPr>
        <p:txBody>
          <a:bodyPr wrap="square" lIns="0" tIns="0" rIns="0" bIns="0" anchor="t">
            <a:spAutoFit/>
          </a:bodyPr>
          <a:lstStyle/>
          <a:p>
            <a:pPr algn="l">
              <a:lnSpc>
                <a:spcPct val="120000"/>
              </a:lnSpc>
              <a:defRPr sz="1400" b="0" i="0">
                <a:solidFill>
                  <a:srgbClr val="64748B"/>
                </a:solidFill>
                <a:latin typeface="Segoe UI" panose="020B0502040204020203"/>
              </a:defRPr>
            </a:pPr>
            <a:r>
              <a:t>Main Problem 2: Pickup and delivery payments require the operator to manually inspect each customer row to compute gallons and total cost.</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lIns="0" tIns="0" rIns="0" bIns="0" anchor="t">
            <a:spAutoFit/>
          </a:bodyPr>
          <a:lstStyle/>
          <a:p>
            <a:pPr algn="l">
              <a:lnSpc>
                <a:spcPct val="125000"/>
              </a:lnSpc>
              <a:defRPr sz="1000" b="0" i="0">
                <a:solidFill>
                  <a:srgbClr val="64748B"/>
                </a:solidFill>
                <a:latin typeface="Segoe UI" panose="020B0502040204020203"/>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lIns="0" tIns="0" rIns="0" bIns="0" anchor="t">
            <a:spAutoFit/>
          </a:bodyPr>
          <a:lstStyle/>
          <a:p>
            <a:pPr algn="r">
              <a:lnSpc>
                <a:spcPct val="125000"/>
              </a:lnSpc>
              <a:defRPr sz="1000" b="0" i="0">
                <a:solidFill>
                  <a:srgbClr val="64748B"/>
                </a:solidFill>
                <a:latin typeface="Segoe UI" panose="020B0502040204020203"/>
              </a:defRPr>
            </a:pPr>
            <a:r>
              <a:t>3</a:t>
            </a:r>
          </a:p>
        </p:txBody>
      </p:sp>
      <p:sp>
        <p:nvSpPr>
          <p:cNvPr id="9" name="TextBox 8"/>
          <p:cNvSpPr txBox="1"/>
          <p:nvPr/>
        </p:nvSpPr>
        <p:spPr>
          <a:xfrm>
            <a:off x="822960" y="205740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Every pickup and delivery customer is audited row by row</a:t>
            </a:r>
          </a:p>
        </p:txBody>
      </p:sp>
      <p:sp>
        <p:nvSpPr>
          <p:cNvPr id="10" name="TextBox 9"/>
          <p:cNvSpPr txBox="1"/>
          <p:nvPr/>
        </p:nvSpPr>
        <p:spPr>
          <a:xfrm>
            <a:off x="822960" y="240487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When pickup customers pay at the station and delivery sheets return, the LG Operator must visually monitor the ledger one customer row at a time.</a:t>
            </a:r>
          </a:p>
        </p:txBody>
      </p:sp>
      <p:sp>
        <p:nvSpPr>
          <p:cNvPr id="11" name="TextBox 10"/>
          <p:cNvSpPr txBox="1"/>
          <p:nvPr/>
        </p:nvSpPr>
        <p:spPr>
          <a:xfrm>
            <a:off x="822960" y="338328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Gallon counts and total costs are calculated by hand</a:t>
            </a:r>
          </a:p>
        </p:txBody>
      </p:sp>
      <p:sp>
        <p:nvSpPr>
          <p:cNvPr id="12" name="TextBox 11"/>
          <p:cNvSpPr txBox="1"/>
          <p:nvPr/>
        </p:nvSpPr>
        <p:spPr>
          <a:xfrm>
            <a:off x="822960" y="373075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For each row, the operator adds up how many containers that customer received and multiplies the unit price manually to verify the total cost collected.</a:t>
            </a:r>
          </a:p>
        </p:txBody>
      </p:sp>
      <p:sp>
        <p:nvSpPr>
          <p:cNvPr id="13" name="TextBox 12"/>
          <p:cNvSpPr txBox="1"/>
          <p:nvPr/>
        </p:nvSpPr>
        <p:spPr>
          <a:xfrm>
            <a:off x="822960" y="470916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Two hours of daily operator labor lost to reconciliation</a:t>
            </a:r>
          </a:p>
        </p:txBody>
      </p:sp>
      <p:sp>
        <p:nvSpPr>
          <p:cNvPr id="14" name="TextBox 13"/>
          <p:cNvSpPr txBox="1"/>
          <p:nvPr/>
        </p:nvSpPr>
        <p:spPr>
          <a:xfrm>
            <a:off x="822960" y="505663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Spending 120 minutes every day on manual row calculations consumes 60 hours every month and exposes daily cash closing to human math errors.</a:t>
            </a:r>
          </a:p>
        </p:txBody>
      </p:sp>
      <p:sp>
        <p:nvSpPr>
          <p:cNvPr id="15" name="TextBox 14"/>
          <p:cNvSpPr txBox="1"/>
          <p:nvPr/>
        </p:nvSpPr>
        <p:spPr>
          <a:xfrm>
            <a:off x="6217920" y="2011680"/>
            <a:ext cx="5120640" cy="320040"/>
          </a:xfrm>
          <a:prstGeom prst="rect">
            <a:avLst/>
          </a:prstGeom>
          <a:noFill/>
        </p:spPr>
        <p:txBody>
          <a:bodyPr wrap="square" lIns="0" tIns="0" rIns="0" bIns="0" anchor="t">
            <a:spAutoFit/>
          </a:bodyPr>
          <a:lstStyle/>
          <a:p>
            <a:pPr algn="l">
              <a:lnSpc>
                <a:spcPct val="125000"/>
              </a:lnSpc>
              <a:defRPr sz="1300" b="1" i="0">
                <a:solidFill>
                  <a:srgbClr val="0F172A"/>
                </a:solidFill>
                <a:latin typeface="Segoe UI" panose="020B0502040204020203"/>
              </a:defRPr>
            </a:pPr>
            <a:r>
              <a:t>Daily Operator Time Spent Auditing Customer Rows (Minutes)</a:t>
            </a:r>
          </a:p>
        </p:txBody>
      </p:sp>
      <p:sp>
        <p:nvSpPr>
          <p:cNvPr id="16" name="TextBox 15"/>
          <p:cNvSpPr txBox="1"/>
          <p:nvPr/>
        </p:nvSpPr>
        <p:spPr>
          <a:xfrm>
            <a:off x="6217920" y="2286000"/>
            <a:ext cx="5120640" cy="274320"/>
          </a:xfrm>
          <a:prstGeom prst="rect">
            <a:avLst/>
          </a:prstGeom>
          <a:noFill/>
        </p:spPr>
        <p:txBody>
          <a:bodyPr wrap="square" lIns="0" tIns="0" rIns="0" bIns="0" anchor="t">
            <a:spAutoFit/>
          </a:bodyPr>
          <a:lstStyle/>
          <a:p>
            <a:pPr algn="l">
              <a:lnSpc>
                <a:spcPct val="125000"/>
              </a:lnSpc>
              <a:defRPr sz="1100" b="0" i="0">
                <a:solidFill>
                  <a:srgbClr val="64748B"/>
                </a:solidFill>
                <a:latin typeface="Segoe UI" panose="020B0502040204020203"/>
              </a:defRPr>
            </a:pPr>
            <a:r>
              <a:t>120 minutes (2 hours) of manual row-by-row calculation vs. automated ledger</a:t>
            </a:r>
          </a:p>
        </p:txBody>
      </p:sp>
      <p:graphicFrame>
        <p:nvGraphicFramePr>
          <p:cNvPr id="17" name="Chart 16"/>
          <p:cNvGraphicFramePr>
            <a:graphicFrameLocks noGrp="1"/>
          </p:cNvGraphicFramePr>
          <p:nvPr/>
        </p:nvGraphicFramePr>
        <p:xfrm>
          <a:off x="6126480" y="2606040"/>
          <a:ext cx="5212080" cy="329184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lIns="0" tIns="0" rIns="0" bIns="0" anchor="t">
            <a:spAutoFit/>
          </a:bodyPr>
          <a:lstStyle/>
          <a:p>
            <a:pPr algn="l">
              <a:lnSpc>
                <a:spcPct val="115000"/>
              </a:lnSpc>
              <a:defRPr sz="2500" b="1" i="0">
                <a:solidFill>
                  <a:srgbClr val="0F172A"/>
                </a:solidFill>
                <a:latin typeface="Segoe UI" panose="020B0502040204020203"/>
              </a:defRPr>
            </a:pPr>
            <a:r>
              <a:t>One-to-two-week buying gaps expose lent gallons to competitor refills.</a:t>
            </a:r>
          </a:p>
        </p:txBody>
      </p:sp>
      <p:sp>
        <p:nvSpPr>
          <p:cNvPr id="4" name="TextBox 3"/>
          <p:cNvSpPr txBox="1"/>
          <p:nvPr/>
        </p:nvSpPr>
        <p:spPr>
          <a:xfrm>
            <a:off x="822960" y="1207008"/>
            <a:ext cx="10515600" cy="411480"/>
          </a:xfrm>
          <a:prstGeom prst="rect">
            <a:avLst/>
          </a:prstGeom>
          <a:noFill/>
        </p:spPr>
        <p:txBody>
          <a:bodyPr wrap="square" lIns="0" tIns="0" rIns="0" bIns="0" anchor="t">
            <a:spAutoFit/>
          </a:bodyPr>
          <a:lstStyle/>
          <a:p>
            <a:pPr algn="l">
              <a:lnSpc>
                <a:spcPct val="120000"/>
              </a:lnSpc>
              <a:defRPr sz="1400" b="0" i="0">
                <a:solidFill>
                  <a:srgbClr val="64748B"/>
                </a:solidFill>
                <a:latin typeface="Segoe UI" panose="020B0502040204020203"/>
              </a:defRPr>
            </a:pPr>
            <a:r>
              <a:t>Bonus Problem: LG Nature's Water lends gallons in exchange for customer exclusivity, making 7-to-14-day refill gaps highly suspicious.</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lIns="0" tIns="0" rIns="0" bIns="0" anchor="t">
            <a:spAutoFit/>
          </a:bodyPr>
          <a:lstStyle/>
          <a:p>
            <a:pPr algn="l">
              <a:lnSpc>
                <a:spcPct val="125000"/>
              </a:lnSpc>
              <a:defRPr sz="1000" b="0" i="0">
                <a:solidFill>
                  <a:srgbClr val="64748B"/>
                </a:solidFill>
                <a:latin typeface="Segoe UI" panose="020B0502040204020203"/>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lIns="0" tIns="0" rIns="0" bIns="0" anchor="t">
            <a:spAutoFit/>
          </a:bodyPr>
          <a:lstStyle/>
          <a:p>
            <a:pPr algn="r">
              <a:lnSpc>
                <a:spcPct val="125000"/>
              </a:lnSpc>
              <a:defRPr sz="1000" b="0" i="0">
                <a:solidFill>
                  <a:srgbClr val="64748B"/>
                </a:solidFill>
                <a:latin typeface="Segoe UI" panose="020B0502040204020203"/>
              </a:defRPr>
            </a:pPr>
            <a:r>
              <a:t>4</a:t>
            </a:r>
          </a:p>
        </p:txBody>
      </p:sp>
      <p:sp>
        <p:nvSpPr>
          <p:cNvPr id="9" name="TextBox 8"/>
          <p:cNvSpPr txBox="1"/>
          <p:nvPr/>
        </p:nvSpPr>
        <p:spPr>
          <a:xfrm>
            <a:off x="822960" y="205740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Gallons are lent in exchange for exclusive refills</a:t>
            </a:r>
          </a:p>
        </p:txBody>
      </p:sp>
      <p:sp>
        <p:nvSpPr>
          <p:cNvPr id="10" name="TextBox 9"/>
          <p:cNvSpPr txBox="1"/>
          <p:nvPr/>
        </p:nvSpPr>
        <p:spPr>
          <a:xfrm>
            <a:off x="822960" y="240487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LG Nature's Water lends 5-gallon containers to customers at no charge on the agreement that they refill exclusively with LG Nature's Water.</a:t>
            </a:r>
          </a:p>
        </p:txBody>
      </p:sp>
      <p:sp>
        <p:nvSpPr>
          <p:cNvPr id="11" name="TextBox 10"/>
          <p:cNvSpPr txBox="1"/>
          <p:nvPr/>
        </p:nvSpPr>
        <p:spPr>
          <a:xfrm>
            <a:off x="822960" y="338328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Versatile buying patterns mask 1-to-2-week inactivity</a:t>
            </a:r>
          </a:p>
        </p:txBody>
      </p:sp>
      <p:sp>
        <p:nvSpPr>
          <p:cNvPr id="12" name="TextBox 11"/>
          <p:cNvSpPr txBox="1"/>
          <p:nvPr/>
        </p:nvSpPr>
        <p:spPr>
          <a:xfrm>
            <a:off x="822960" y="373075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Because customer order quantities and days vary from week to week, manual logs fail to alert the operator when a customer stops ordering for 7 to 14 days.</a:t>
            </a:r>
          </a:p>
        </p:txBody>
      </p:sp>
      <p:sp>
        <p:nvSpPr>
          <p:cNvPr id="13" name="TextBox 12"/>
          <p:cNvSpPr txBox="1"/>
          <p:nvPr/>
        </p:nvSpPr>
        <p:spPr>
          <a:xfrm>
            <a:off x="822960" y="470916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Unexplained silence signals behind-the-back competitor refills</a:t>
            </a:r>
          </a:p>
        </p:txBody>
      </p:sp>
      <p:sp>
        <p:nvSpPr>
          <p:cNvPr id="14" name="TextBox 13"/>
          <p:cNvSpPr txBox="1"/>
          <p:nvPr/>
        </p:nvSpPr>
        <p:spPr>
          <a:xfrm>
            <a:off x="822960" y="505663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Households do not stop drinking water for two weeks. A 1-to-2-week refill gap while holding lent LG containers indicates the customer may be refilling at a competitor.</a:t>
            </a:r>
          </a:p>
        </p:txBody>
      </p:sp>
      <p:sp>
        <p:nvSpPr>
          <p:cNvPr id="15" name="TextBox 14"/>
          <p:cNvSpPr txBox="1"/>
          <p:nvPr/>
        </p:nvSpPr>
        <p:spPr>
          <a:xfrm>
            <a:off x="6217920" y="2011680"/>
            <a:ext cx="5120640" cy="320040"/>
          </a:xfrm>
          <a:prstGeom prst="rect">
            <a:avLst/>
          </a:prstGeom>
          <a:noFill/>
        </p:spPr>
        <p:txBody>
          <a:bodyPr wrap="square" lIns="0" tIns="0" rIns="0" bIns="0" anchor="t">
            <a:spAutoFit/>
          </a:bodyPr>
          <a:lstStyle/>
          <a:p>
            <a:pPr algn="l">
              <a:lnSpc>
                <a:spcPct val="125000"/>
              </a:lnSpc>
              <a:defRPr sz="1300" b="1" i="0">
                <a:solidFill>
                  <a:srgbClr val="0F172A"/>
                </a:solidFill>
                <a:latin typeface="Segoe UI" panose="020B0502040204020203"/>
              </a:defRPr>
            </a:pPr>
            <a:r>
              <a:t>Refill Pattern of a Customer Holding 8 Lent Gallons (Gallons/Day)</a:t>
            </a:r>
          </a:p>
        </p:txBody>
      </p:sp>
      <p:sp>
        <p:nvSpPr>
          <p:cNvPr id="16" name="TextBox 15"/>
          <p:cNvSpPr txBox="1"/>
          <p:nvPr/>
        </p:nvSpPr>
        <p:spPr>
          <a:xfrm>
            <a:off x="6217920" y="2286000"/>
            <a:ext cx="5120640" cy="274320"/>
          </a:xfrm>
          <a:prstGeom prst="rect">
            <a:avLst/>
          </a:prstGeom>
          <a:noFill/>
        </p:spPr>
        <p:txBody>
          <a:bodyPr wrap="square" lIns="0" tIns="0" rIns="0" bIns="0" anchor="t">
            <a:spAutoFit/>
          </a:bodyPr>
          <a:lstStyle/>
          <a:p>
            <a:pPr algn="l">
              <a:lnSpc>
                <a:spcPct val="125000"/>
              </a:lnSpc>
              <a:defRPr sz="1100" b="0" i="0">
                <a:solidFill>
                  <a:srgbClr val="64748B"/>
                </a:solidFill>
                <a:latin typeface="Segoe UI" panose="020B0502040204020203"/>
              </a:defRPr>
            </a:pPr>
            <a:r>
              <a:t>Days 6–14 show zero refills despite holding 8 borrowed LG containers</a:t>
            </a:r>
          </a:p>
        </p:txBody>
      </p:sp>
      <p:graphicFrame>
        <p:nvGraphicFramePr>
          <p:cNvPr id="17" name="Chart 16"/>
          <p:cNvGraphicFramePr>
            <a:graphicFrameLocks noGrp="1"/>
          </p:cNvGraphicFramePr>
          <p:nvPr/>
        </p:nvGraphicFramePr>
        <p:xfrm>
          <a:off x="6126480" y="2606040"/>
          <a:ext cx="5212080" cy="329184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lIns="0" tIns="0" rIns="0" bIns="0" anchor="t">
            <a:spAutoFit/>
          </a:bodyPr>
          <a:lstStyle/>
          <a:p>
            <a:pPr algn="l">
              <a:lnSpc>
                <a:spcPct val="115000"/>
              </a:lnSpc>
              <a:defRPr sz="2500" b="1" i="0">
                <a:solidFill>
                  <a:srgbClr val="0F172A"/>
                </a:solidFill>
                <a:latin typeface="Segoe UI" panose="020B0502040204020203"/>
              </a:defRPr>
            </a:pPr>
            <a:r>
              <a:t>AquaLedger resolves all three problems in one connected workflow.</a:t>
            </a:r>
          </a:p>
        </p:txBody>
      </p:sp>
      <p:sp>
        <p:nvSpPr>
          <p:cNvPr id="4" name="TextBox 3"/>
          <p:cNvSpPr txBox="1"/>
          <p:nvPr/>
        </p:nvSpPr>
        <p:spPr>
          <a:xfrm>
            <a:off x="822960" y="1207008"/>
            <a:ext cx="10515600" cy="411480"/>
          </a:xfrm>
          <a:prstGeom prst="rect">
            <a:avLst/>
          </a:prstGeom>
          <a:noFill/>
        </p:spPr>
        <p:txBody>
          <a:bodyPr wrap="square" lIns="0" tIns="0" rIns="0" bIns="0" anchor="t">
            <a:spAutoFit/>
          </a:bodyPr>
          <a:lstStyle/>
          <a:p>
            <a:pPr algn="l">
              <a:lnSpc>
                <a:spcPct val="120000"/>
              </a:lnSpc>
              <a:defRPr sz="1400" b="0" i="0">
                <a:solidFill>
                  <a:srgbClr val="64748B"/>
                </a:solidFill>
                <a:latin typeface="Segoe UI" panose="020B0502040204020203"/>
              </a:defRPr>
            </a:pPr>
            <a:r>
              <a:t>The Solution: A synchronized Rider Mobile App and Operator Web POS built specifically around LG Nature's Water's daily operations.</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lIns="0" tIns="0" rIns="0" bIns="0" anchor="t">
            <a:spAutoFit/>
          </a:bodyPr>
          <a:lstStyle/>
          <a:p>
            <a:pPr algn="l">
              <a:lnSpc>
                <a:spcPct val="125000"/>
              </a:lnSpc>
              <a:defRPr sz="1000" b="0" i="0">
                <a:solidFill>
                  <a:srgbClr val="64748B"/>
                </a:solidFill>
                <a:latin typeface="Segoe UI" panose="020B0502040204020203"/>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lIns="0" tIns="0" rIns="0" bIns="0" anchor="t">
            <a:spAutoFit/>
          </a:bodyPr>
          <a:lstStyle/>
          <a:p>
            <a:pPr algn="r">
              <a:lnSpc>
                <a:spcPct val="125000"/>
              </a:lnSpc>
              <a:defRPr sz="1000" b="0" i="0">
                <a:solidFill>
                  <a:srgbClr val="64748B"/>
                </a:solidFill>
                <a:latin typeface="Segoe UI" panose="020B0502040204020203"/>
              </a:defRPr>
            </a:pPr>
            <a:r>
              <a:t>5</a:t>
            </a:r>
          </a:p>
        </p:txBody>
      </p:sp>
      <p:sp>
        <p:nvSpPr>
          <p:cNvPr id="9" name="Rectangle 8"/>
          <p:cNvSpPr/>
          <p:nvPr/>
        </p:nvSpPr>
        <p:spPr>
          <a:xfrm>
            <a:off x="822960" y="2057400"/>
            <a:ext cx="3319272" cy="37947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136775"/>
            <a:ext cx="2807208" cy="365760"/>
          </a:xfrm>
          <a:prstGeom prst="rect">
            <a:avLst/>
          </a:prstGeom>
          <a:noFill/>
        </p:spPr>
        <p:txBody>
          <a:bodyPr wrap="square" lIns="0" tIns="0" rIns="0" bIns="0" anchor="t">
            <a:spAutoFit/>
          </a:bodyPr>
          <a:lstStyle/>
          <a:p>
            <a:pPr algn="l">
              <a:lnSpc>
                <a:spcPct val="125000"/>
              </a:lnSpc>
              <a:defRPr sz="1600" b="1" i="0">
                <a:solidFill>
                  <a:srgbClr val="0F172A"/>
                </a:solidFill>
                <a:latin typeface="Segoe UI" panose="020B0502040204020203"/>
              </a:defRPr>
            </a:pPr>
            <a:r>
              <a:t>1. Barangay Dispatch &amp; Checklist</a:t>
            </a:r>
          </a:p>
        </p:txBody>
      </p:sp>
      <p:sp>
        <p:nvSpPr>
          <p:cNvPr id="11" name="TextBox 10"/>
          <p:cNvSpPr txBox="1"/>
          <p:nvPr/>
        </p:nvSpPr>
        <p:spPr>
          <a:xfrm>
            <a:off x="1078992" y="2724912"/>
            <a:ext cx="2807208" cy="320040"/>
          </a:xfrm>
          <a:prstGeom prst="rect">
            <a:avLst/>
          </a:prstGeom>
          <a:noFill/>
        </p:spPr>
        <p:txBody>
          <a:bodyPr wrap="square" lIns="0" tIns="0" rIns="0" bIns="0" anchor="t">
            <a:spAutoFit/>
          </a:bodyPr>
          <a:lstStyle/>
          <a:p>
            <a:pPr algn="l">
              <a:lnSpc>
                <a:spcPct val="125000"/>
              </a:lnSpc>
              <a:defRPr sz="1250" b="1" i="0">
                <a:solidFill>
                  <a:srgbClr val="0284C7"/>
                </a:solidFill>
                <a:latin typeface="Segoe UI" panose="020B0502040204020203"/>
              </a:defRPr>
            </a:pPr>
            <a:r>
              <a:t>Eliminates unchecked routes &amp; fuel waste</a:t>
            </a:r>
          </a:p>
        </p:txBody>
      </p:sp>
      <p:sp>
        <p:nvSpPr>
          <p:cNvPr id="12" name="Rectangle 11"/>
          <p:cNvSpPr/>
          <p:nvPr/>
        </p:nvSpPr>
        <p:spPr>
          <a:xfrm>
            <a:off x="1078992" y="3154680"/>
            <a:ext cx="280720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3364992"/>
            <a:ext cx="2807208" cy="2194560"/>
          </a:xfrm>
          <a:prstGeom prst="rect">
            <a:avLst/>
          </a:prstGeom>
          <a:noFill/>
        </p:spPr>
        <p:txBody>
          <a:bodyPr wrap="square" lIns="0" tIns="0" rIns="0" bIns="0" anchor="t">
            <a:spAutoFit/>
          </a:bodyPr>
          <a:lstStyle/>
          <a:p>
            <a:pPr algn="l">
              <a:lnSpc>
                <a:spcPct val="135000"/>
              </a:lnSpc>
              <a:defRPr sz="1250" b="0" i="0">
                <a:solidFill>
                  <a:srgbClr val="334155"/>
                </a:solidFill>
                <a:latin typeface="Segoe UI" panose="020B0502040204020203"/>
              </a:defRPr>
            </a:pPr>
            <a:r>
              <a:t>Orders are grouped by Barangay and assigned vehicle (Foton truck or Sidecar).</a:t>
            </a:r>
          </a:p>
          <a:p>
            <a:pPr algn="l">
              <a:lnSpc>
                <a:spcPct val="135000"/>
              </a:lnSpc>
              <a:defRPr sz="1250" b="0" i="0">
                <a:solidFill>
                  <a:srgbClr val="334155"/>
                </a:solidFill>
                <a:latin typeface="Segoe UI" panose="020B0502040204020203"/>
              </a:defRPr>
            </a:pPr>
          </a:p>
          <a:p>
            <a:pPr algn="l">
              <a:lnSpc>
                <a:spcPct val="135000"/>
              </a:lnSpc>
              <a:defRPr sz="1250" b="0" i="0">
                <a:solidFill>
                  <a:srgbClr val="334155"/>
                </a:solidFill>
                <a:latin typeface="Segoe UI" panose="020B0502040204020203"/>
              </a:defRPr>
            </a:pPr>
            <a:r>
              <a:t>Riders must record a doorstep delivery receipt or log a verified exception reason before closing any Barangay in their pattern—preventing forgotten stops and second trips.</a:t>
            </a:r>
          </a:p>
        </p:txBody>
      </p:sp>
      <p:sp>
        <p:nvSpPr>
          <p:cNvPr id="14" name="Rectangle 13"/>
          <p:cNvSpPr/>
          <p:nvPr/>
        </p:nvSpPr>
        <p:spPr>
          <a:xfrm>
            <a:off x="4434840" y="2057400"/>
            <a:ext cx="3319272" cy="37947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90872" y="2136775"/>
            <a:ext cx="2807208" cy="365760"/>
          </a:xfrm>
          <a:prstGeom prst="rect">
            <a:avLst/>
          </a:prstGeom>
          <a:noFill/>
        </p:spPr>
        <p:txBody>
          <a:bodyPr wrap="square" lIns="0" tIns="0" rIns="0" bIns="0" anchor="t">
            <a:spAutoFit/>
          </a:bodyPr>
          <a:lstStyle/>
          <a:p>
            <a:pPr algn="l">
              <a:lnSpc>
                <a:spcPct val="125000"/>
              </a:lnSpc>
              <a:defRPr sz="1600" b="1" i="0">
                <a:solidFill>
                  <a:srgbClr val="0F172A"/>
                </a:solidFill>
                <a:latin typeface="Segoe UI" panose="020B0502040204020203"/>
              </a:defRPr>
            </a:pPr>
            <a:r>
              <a:t>2. Automated Customer Row Ledger</a:t>
            </a:r>
          </a:p>
        </p:txBody>
      </p:sp>
      <p:sp>
        <p:nvSpPr>
          <p:cNvPr id="16" name="TextBox 15"/>
          <p:cNvSpPr txBox="1"/>
          <p:nvPr/>
        </p:nvSpPr>
        <p:spPr>
          <a:xfrm>
            <a:off x="4690872" y="2724912"/>
            <a:ext cx="2807208" cy="320040"/>
          </a:xfrm>
          <a:prstGeom prst="rect">
            <a:avLst/>
          </a:prstGeom>
          <a:noFill/>
        </p:spPr>
        <p:txBody>
          <a:bodyPr wrap="square" lIns="0" tIns="0" rIns="0" bIns="0" anchor="t">
            <a:spAutoFit/>
          </a:bodyPr>
          <a:lstStyle/>
          <a:p>
            <a:pPr algn="l">
              <a:lnSpc>
                <a:spcPct val="125000"/>
              </a:lnSpc>
              <a:defRPr sz="1250" b="1" i="0">
                <a:solidFill>
                  <a:srgbClr val="0284C7"/>
                </a:solidFill>
                <a:latin typeface="Segoe UI" panose="020B0502040204020203"/>
              </a:defRPr>
            </a:pPr>
            <a:r>
              <a:t>Turns 2 hours of auditing into 5 seconds</a:t>
            </a:r>
          </a:p>
        </p:txBody>
      </p:sp>
      <p:sp>
        <p:nvSpPr>
          <p:cNvPr id="17" name="Rectangle 16"/>
          <p:cNvSpPr/>
          <p:nvPr/>
        </p:nvSpPr>
        <p:spPr>
          <a:xfrm>
            <a:off x="4690872" y="3154680"/>
            <a:ext cx="280720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90872" y="3364992"/>
            <a:ext cx="2807208" cy="2194560"/>
          </a:xfrm>
          <a:prstGeom prst="rect">
            <a:avLst/>
          </a:prstGeom>
          <a:noFill/>
        </p:spPr>
        <p:txBody>
          <a:bodyPr wrap="square" lIns="0" tIns="0" rIns="0" bIns="0" anchor="t">
            <a:spAutoFit/>
          </a:bodyPr>
          <a:lstStyle/>
          <a:p>
            <a:pPr algn="l">
              <a:lnSpc>
                <a:spcPct val="135000"/>
              </a:lnSpc>
              <a:defRPr sz="1250" b="0" i="0">
                <a:solidFill>
                  <a:srgbClr val="334155"/>
                </a:solidFill>
                <a:latin typeface="Segoe UI" panose="020B0502040204020203"/>
              </a:defRPr>
            </a:pPr>
            <a:r>
              <a:t>When pickup or delivery customers pay, the POS automatically multiplies verified gallons by preset prices.</a:t>
            </a:r>
          </a:p>
          <a:p>
            <a:pPr algn="l">
              <a:lnSpc>
                <a:spcPct val="135000"/>
              </a:lnSpc>
              <a:defRPr sz="1250" b="0" i="0">
                <a:solidFill>
                  <a:srgbClr val="334155"/>
                </a:solidFill>
                <a:latin typeface="Segoe UI" panose="020B0502040204020203"/>
              </a:defRPr>
            </a:pPr>
          </a:p>
          <a:p>
            <a:pPr algn="l">
              <a:lnSpc>
                <a:spcPct val="135000"/>
              </a:lnSpc>
              <a:defRPr sz="1250" b="0" i="0">
                <a:solidFill>
                  <a:srgbClr val="334155"/>
                </a:solidFill>
                <a:latin typeface="Segoe UI" panose="020B0502040204020203"/>
              </a:defRPr>
            </a:pPr>
            <a:r>
              <a:t>Every customer row in the monthly ledger updates its gallon count and peso total instantly—zero manual calculator work.</a:t>
            </a:r>
          </a:p>
        </p:txBody>
      </p:sp>
      <p:sp>
        <p:nvSpPr>
          <p:cNvPr id="19" name="Rectangle 18"/>
          <p:cNvSpPr/>
          <p:nvPr/>
        </p:nvSpPr>
        <p:spPr>
          <a:xfrm>
            <a:off x="8046720" y="2057400"/>
            <a:ext cx="3319272" cy="379476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2136775"/>
            <a:ext cx="2807208" cy="365760"/>
          </a:xfrm>
          <a:prstGeom prst="rect">
            <a:avLst/>
          </a:prstGeom>
          <a:noFill/>
        </p:spPr>
        <p:txBody>
          <a:bodyPr wrap="square" lIns="0" tIns="0" rIns="0" bIns="0" anchor="t">
            <a:spAutoFit/>
          </a:bodyPr>
          <a:lstStyle/>
          <a:p>
            <a:pPr algn="l">
              <a:lnSpc>
                <a:spcPct val="125000"/>
              </a:lnSpc>
              <a:defRPr sz="1600" b="1" i="0">
                <a:solidFill>
                  <a:srgbClr val="0F172A"/>
                </a:solidFill>
                <a:latin typeface="Segoe UI" panose="020B0502040204020203"/>
              </a:defRPr>
            </a:pPr>
            <a:r>
              <a:t>3. 31-Day Exclusivity Monitor</a:t>
            </a:r>
          </a:p>
        </p:txBody>
      </p:sp>
      <p:sp>
        <p:nvSpPr>
          <p:cNvPr id="21" name="TextBox 20"/>
          <p:cNvSpPr txBox="1"/>
          <p:nvPr/>
        </p:nvSpPr>
        <p:spPr>
          <a:xfrm>
            <a:off x="8302752" y="2724912"/>
            <a:ext cx="2807208" cy="320040"/>
          </a:xfrm>
          <a:prstGeom prst="rect">
            <a:avLst/>
          </a:prstGeom>
          <a:noFill/>
        </p:spPr>
        <p:txBody>
          <a:bodyPr wrap="square" lIns="0" tIns="0" rIns="0" bIns="0" anchor="t">
            <a:spAutoFit/>
          </a:bodyPr>
          <a:lstStyle/>
          <a:p>
            <a:pPr algn="l">
              <a:lnSpc>
                <a:spcPct val="125000"/>
              </a:lnSpc>
              <a:defRPr sz="1250" b="1" i="0">
                <a:solidFill>
                  <a:srgbClr val="0284C7"/>
                </a:solidFill>
                <a:latin typeface="Segoe UI" panose="020B0502040204020203"/>
              </a:defRPr>
            </a:pPr>
            <a:r>
              <a:t>Flags 1-to-2-week refill gaps automatically</a:t>
            </a:r>
          </a:p>
        </p:txBody>
      </p:sp>
      <p:sp>
        <p:nvSpPr>
          <p:cNvPr id="22" name="Rectangle 21"/>
          <p:cNvSpPr/>
          <p:nvPr/>
        </p:nvSpPr>
        <p:spPr>
          <a:xfrm>
            <a:off x="8302752" y="3154680"/>
            <a:ext cx="2807208"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02752" y="3364992"/>
            <a:ext cx="2807208" cy="2194560"/>
          </a:xfrm>
          <a:prstGeom prst="rect">
            <a:avLst/>
          </a:prstGeom>
          <a:noFill/>
        </p:spPr>
        <p:txBody>
          <a:bodyPr wrap="square" lIns="0" tIns="0" rIns="0" bIns="0" anchor="t">
            <a:spAutoFit/>
          </a:bodyPr>
          <a:lstStyle/>
          <a:p>
            <a:pPr algn="l">
              <a:lnSpc>
                <a:spcPct val="135000"/>
              </a:lnSpc>
              <a:defRPr sz="1250" b="0" i="0">
                <a:solidFill>
                  <a:srgbClr val="334155"/>
                </a:solidFill>
                <a:latin typeface="Segoe UI" panose="020B0502040204020203"/>
              </a:defRPr>
            </a:pPr>
            <a:r>
              <a:t>Tracks each customer's daily orders across Days 1 to 31 side-by-side with the number of lent LG gallons they hold.</a:t>
            </a:r>
          </a:p>
          <a:p>
            <a:pPr algn="l">
              <a:lnSpc>
                <a:spcPct val="135000"/>
              </a:lnSpc>
              <a:defRPr sz="1250" b="0" i="0">
                <a:solidFill>
                  <a:srgbClr val="334155"/>
                </a:solidFill>
                <a:latin typeface="Segoe UI" panose="020B0502040204020203"/>
              </a:defRPr>
            </a:pPr>
          </a:p>
          <a:p>
            <a:pPr algn="l">
              <a:lnSpc>
                <a:spcPct val="135000"/>
              </a:lnSpc>
              <a:defRPr sz="1250" b="0" i="0">
                <a:solidFill>
                  <a:srgbClr val="334155"/>
                </a:solidFill>
                <a:latin typeface="Segoe UI" panose="020B0502040204020203"/>
              </a:defRPr>
            </a:pPr>
            <a:r>
              <a:t>Any exclusive customer inactive for 7 to 14 days is automatically flagged for container audit or retrieval.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lIns="0" tIns="0" rIns="0" bIns="0" anchor="t">
            <a:spAutoFit/>
          </a:bodyPr>
          <a:lstStyle/>
          <a:p>
            <a:pPr algn="l">
              <a:lnSpc>
                <a:spcPct val="115000"/>
              </a:lnSpc>
              <a:defRPr sz="2500" b="1" i="0">
                <a:solidFill>
                  <a:srgbClr val="0F172A"/>
                </a:solidFill>
                <a:latin typeface="Segoe UI" panose="020B0502040204020203"/>
              </a:defRPr>
            </a:pPr>
            <a:r>
              <a:t>Digital route sign-off and live row calculations remove human guesswork.</a:t>
            </a:r>
          </a:p>
        </p:txBody>
      </p:sp>
      <p:sp>
        <p:nvSpPr>
          <p:cNvPr id="4" name="TextBox 3"/>
          <p:cNvSpPr txBox="1"/>
          <p:nvPr/>
        </p:nvSpPr>
        <p:spPr>
          <a:xfrm>
            <a:off x="822960" y="1207008"/>
            <a:ext cx="10515600" cy="411480"/>
          </a:xfrm>
          <a:prstGeom prst="rect">
            <a:avLst/>
          </a:prstGeom>
          <a:noFill/>
        </p:spPr>
        <p:txBody>
          <a:bodyPr wrap="square" lIns="0" tIns="0" rIns="0" bIns="0" anchor="t">
            <a:spAutoFit/>
          </a:bodyPr>
          <a:lstStyle/>
          <a:p>
            <a:pPr algn="l">
              <a:lnSpc>
                <a:spcPct val="120000"/>
              </a:lnSpc>
              <a:defRPr sz="1400" b="0" i="0">
                <a:solidFill>
                  <a:srgbClr val="64748B"/>
                </a:solidFill>
                <a:latin typeface="Segoe UI" panose="020B0502040204020203"/>
              </a:defRPr>
            </a:pPr>
            <a:r>
              <a:t>How AquaLedger operates in the field (Rider Mobile App) and at the station counter (Operator Web POS).</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lIns="0" tIns="0" rIns="0" bIns="0" anchor="t">
            <a:spAutoFit/>
          </a:bodyPr>
          <a:lstStyle/>
          <a:p>
            <a:pPr algn="l">
              <a:lnSpc>
                <a:spcPct val="125000"/>
              </a:lnSpc>
              <a:defRPr sz="1000" b="0" i="0">
                <a:solidFill>
                  <a:srgbClr val="64748B"/>
                </a:solidFill>
                <a:latin typeface="Segoe UI" panose="020B0502040204020203"/>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lIns="0" tIns="0" rIns="0" bIns="0" anchor="t">
            <a:spAutoFit/>
          </a:bodyPr>
          <a:lstStyle/>
          <a:p>
            <a:pPr algn="r">
              <a:lnSpc>
                <a:spcPct val="125000"/>
              </a:lnSpc>
              <a:defRPr sz="1000" b="0" i="0">
                <a:solidFill>
                  <a:srgbClr val="64748B"/>
                </a:solidFill>
                <a:latin typeface="Segoe UI" panose="020B0502040204020203"/>
              </a:defRPr>
            </a:pPr>
            <a:r>
              <a:t>6</a:t>
            </a:r>
          </a:p>
        </p:txBody>
      </p:sp>
      <p:sp>
        <p:nvSpPr>
          <p:cNvPr id="9" name="TextBox 8"/>
          <p:cNvSpPr txBox="1"/>
          <p:nvPr/>
        </p:nvSpPr>
        <p:spPr>
          <a:xfrm>
            <a:off x="822960" y="2057400"/>
            <a:ext cx="4937760" cy="365760"/>
          </a:xfrm>
          <a:prstGeom prst="rect">
            <a:avLst/>
          </a:prstGeom>
          <a:noFill/>
        </p:spPr>
        <p:txBody>
          <a:bodyPr wrap="square" lIns="0" tIns="0" rIns="0" bIns="0" anchor="t">
            <a:spAutoFit/>
          </a:bodyPr>
          <a:lstStyle/>
          <a:p>
            <a:pPr algn="l">
              <a:lnSpc>
                <a:spcPct val="125000"/>
              </a:lnSpc>
              <a:defRPr sz="1700" b="1" i="0">
                <a:solidFill>
                  <a:srgbClr val="0F172A"/>
                </a:solidFill>
                <a:latin typeface="Segoe UI" panose="020B0502040204020203"/>
              </a:defRPr>
            </a:pPr>
            <a:r>
              <a:t>Field Dispatch: Barangay Route Sign-Off</a:t>
            </a:r>
          </a:p>
        </p:txBody>
      </p:sp>
      <p:sp>
        <p:nvSpPr>
          <p:cNvPr id="10" name="TextBox 9"/>
          <p:cNvSpPr txBox="1"/>
          <p:nvPr/>
        </p:nvSpPr>
        <p:spPr>
          <a:xfrm>
            <a:off x="822960" y="2450592"/>
            <a:ext cx="4937760" cy="320040"/>
          </a:xfrm>
          <a:prstGeom prst="rect">
            <a:avLst/>
          </a:prstGeom>
          <a:noFill/>
        </p:spPr>
        <p:txBody>
          <a:bodyPr wrap="square" lIns="0" tIns="0" rIns="0" bIns="0" anchor="t">
            <a:spAutoFit/>
          </a:bodyPr>
          <a:lstStyle/>
          <a:p>
            <a:pPr algn="l">
              <a:lnSpc>
                <a:spcPct val="125000"/>
              </a:lnSpc>
              <a:defRPr sz="1250" b="1" i="0">
                <a:solidFill>
                  <a:srgbClr val="0284C7"/>
                </a:solidFill>
                <a:latin typeface="Segoe UI" panose="020B0502040204020203"/>
              </a:defRPr>
            </a:pPr>
            <a:r>
              <a:t>Solves Problem 1 (Unchecked checklists and repeat-trip fuel waste)</a:t>
            </a:r>
          </a:p>
        </p:txBody>
      </p:sp>
      <p:sp>
        <p:nvSpPr>
          <p:cNvPr id="11" name="TextBox 10"/>
          <p:cNvSpPr txBox="1"/>
          <p:nvPr/>
        </p:nvSpPr>
        <p:spPr>
          <a:xfrm>
            <a:off x="822960" y="2971800"/>
            <a:ext cx="365760" cy="365760"/>
          </a:xfrm>
          <a:prstGeom prst="rect">
            <a:avLst/>
          </a:prstGeom>
          <a:noFill/>
        </p:spPr>
        <p:txBody>
          <a:bodyPr wrap="square" lIns="0" tIns="0" rIns="0" bIns="0" anchor="t">
            <a:spAutoFit/>
          </a:bodyPr>
          <a:lstStyle/>
          <a:p>
            <a:pPr algn="l">
              <a:lnSpc>
                <a:spcPct val="125000"/>
              </a:lnSpc>
              <a:defRPr sz="1400" b="1" i="0">
                <a:solidFill>
                  <a:srgbClr val="0284C7"/>
                </a:solidFill>
                <a:latin typeface="Segoe UI" panose="020B0502040204020203"/>
              </a:defRPr>
            </a:pPr>
            <a:r>
              <a:t>1.</a:t>
            </a:r>
          </a:p>
        </p:txBody>
      </p:sp>
      <p:sp>
        <p:nvSpPr>
          <p:cNvPr id="12" name="TextBox 11"/>
          <p:cNvSpPr txBox="1"/>
          <p:nvPr/>
        </p:nvSpPr>
        <p:spPr>
          <a:xfrm>
            <a:off x="1188720" y="2971800"/>
            <a:ext cx="4572000" cy="777240"/>
          </a:xfrm>
          <a:prstGeom prst="rect">
            <a:avLst/>
          </a:prstGeom>
          <a:noFill/>
        </p:spPr>
        <p:txBody>
          <a:bodyPr wrap="square" lIns="0" tIns="0" rIns="0" bIns="0" anchor="t">
            <a:spAutoFit/>
          </a:bodyPr>
          <a:lstStyle/>
          <a:p>
            <a:pPr algn="l">
              <a:lnSpc>
                <a:spcPct val="130000"/>
              </a:lnSpc>
              <a:defRPr sz="1300" b="0" i="0">
                <a:solidFill>
                  <a:srgbClr val="334155"/>
                </a:solidFill>
                <a:latin typeface="Segoe UI" panose="020B0502040204020203"/>
              </a:defRPr>
            </a:pPr>
            <a:r>
              <a:t>Barangay-sorted queue shows all pending stops in the rider's active Barangay before moving to the next zone.</a:t>
            </a:r>
          </a:p>
        </p:txBody>
      </p:sp>
      <p:sp>
        <p:nvSpPr>
          <p:cNvPr id="13" name="TextBox 12"/>
          <p:cNvSpPr txBox="1"/>
          <p:nvPr/>
        </p:nvSpPr>
        <p:spPr>
          <a:xfrm>
            <a:off x="822960" y="3931920"/>
            <a:ext cx="365760" cy="365760"/>
          </a:xfrm>
          <a:prstGeom prst="rect">
            <a:avLst/>
          </a:prstGeom>
          <a:noFill/>
        </p:spPr>
        <p:txBody>
          <a:bodyPr wrap="square" lIns="0" tIns="0" rIns="0" bIns="0" anchor="t">
            <a:spAutoFit/>
          </a:bodyPr>
          <a:lstStyle/>
          <a:p>
            <a:pPr algn="l">
              <a:lnSpc>
                <a:spcPct val="125000"/>
              </a:lnSpc>
              <a:defRPr sz="1400" b="1" i="0">
                <a:solidFill>
                  <a:srgbClr val="0284C7"/>
                </a:solidFill>
                <a:latin typeface="Segoe UI" panose="020B0502040204020203"/>
              </a:defRPr>
            </a:pPr>
            <a:r>
              <a:t>2.</a:t>
            </a:r>
          </a:p>
        </p:txBody>
      </p:sp>
      <p:sp>
        <p:nvSpPr>
          <p:cNvPr id="14" name="TextBox 13"/>
          <p:cNvSpPr txBox="1"/>
          <p:nvPr/>
        </p:nvSpPr>
        <p:spPr>
          <a:xfrm>
            <a:off x="1188720" y="3931920"/>
            <a:ext cx="4572000" cy="777240"/>
          </a:xfrm>
          <a:prstGeom prst="rect">
            <a:avLst/>
          </a:prstGeom>
          <a:noFill/>
        </p:spPr>
        <p:txBody>
          <a:bodyPr wrap="square" lIns="0" tIns="0" rIns="0" bIns="0" anchor="t">
            <a:spAutoFit/>
          </a:bodyPr>
          <a:lstStyle/>
          <a:p>
            <a:pPr algn="l">
              <a:lnSpc>
                <a:spcPct val="130000"/>
              </a:lnSpc>
              <a:defRPr sz="1300" b="0" i="0">
                <a:solidFill>
                  <a:srgbClr val="334155"/>
                </a:solidFill>
                <a:latin typeface="Segoe UI" panose="020B0502040204020203"/>
              </a:defRPr>
            </a:pPr>
            <a:r>
              <a:t>AI camera scan counts gallons in one photo and locks the invoice (#INV) before dispatch.</a:t>
            </a:r>
          </a:p>
        </p:txBody>
      </p:sp>
      <p:sp>
        <p:nvSpPr>
          <p:cNvPr id="15" name="TextBox 14"/>
          <p:cNvSpPr txBox="1"/>
          <p:nvPr/>
        </p:nvSpPr>
        <p:spPr>
          <a:xfrm>
            <a:off x="822960" y="4892040"/>
            <a:ext cx="365760" cy="365760"/>
          </a:xfrm>
          <a:prstGeom prst="rect">
            <a:avLst/>
          </a:prstGeom>
          <a:noFill/>
        </p:spPr>
        <p:txBody>
          <a:bodyPr wrap="square" lIns="0" tIns="0" rIns="0" bIns="0" anchor="t">
            <a:spAutoFit/>
          </a:bodyPr>
          <a:lstStyle/>
          <a:p>
            <a:pPr algn="l">
              <a:lnSpc>
                <a:spcPct val="125000"/>
              </a:lnSpc>
              <a:defRPr sz="1400" b="1" i="0">
                <a:solidFill>
                  <a:srgbClr val="0284C7"/>
                </a:solidFill>
                <a:latin typeface="Segoe UI" panose="020B0502040204020203"/>
              </a:defRPr>
            </a:pPr>
            <a:r>
              <a:t>3.</a:t>
            </a:r>
          </a:p>
        </p:txBody>
      </p:sp>
      <p:sp>
        <p:nvSpPr>
          <p:cNvPr id="16" name="TextBox 15"/>
          <p:cNvSpPr txBox="1"/>
          <p:nvPr/>
        </p:nvSpPr>
        <p:spPr>
          <a:xfrm>
            <a:off x="1188720" y="4892040"/>
            <a:ext cx="4572000" cy="777240"/>
          </a:xfrm>
          <a:prstGeom prst="rect">
            <a:avLst/>
          </a:prstGeom>
          <a:noFill/>
        </p:spPr>
        <p:txBody>
          <a:bodyPr wrap="square" lIns="0" tIns="0" rIns="0" bIns="0" anchor="t">
            <a:spAutoFit/>
          </a:bodyPr>
          <a:lstStyle/>
          <a:p>
            <a:pPr algn="l">
              <a:lnSpc>
                <a:spcPct val="130000"/>
              </a:lnSpc>
              <a:defRPr sz="1300" b="0" i="0">
                <a:solidFill>
                  <a:srgbClr val="334155"/>
                </a:solidFill>
                <a:latin typeface="Segoe UI" panose="020B0502040204020203"/>
              </a:defRPr>
            </a:pPr>
            <a:r>
              <a:t>Doorstep confirmation converts the invoice into an Official Receipt (#OR) and checks off the Barangay stop live on the Operator's screen.</a:t>
            </a:r>
          </a:p>
        </p:txBody>
      </p:sp>
      <p:sp>
        <p:nvSpPr>
          <p:cNvPr id="17" name="Rectangle 16"/>
          <p:cNvSpPr/>
          <p:nvPr/>
        </p:nvSpPr>
        <p:spPr>
          <a:xfrm>
            <a:off x="6080760" y="2057400"/>
            <a:ext cx="13716"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057400"/>
            <a:ext cx="4937760" cy="365760"/>
          </a:xfrm>
          <a:prstGeom prst="rect">
            <a:avLst/>
          </a:prstGeom>
          <a:noFill/>
        </p:spPr>
        <p:txBody>
          <a:bodyPr wrap="square" lIns="0" tIns="0" rIns="0" bIns="0" anchor="t">
            <a:spAutoFit/>
          </a:bodyPr>
          <a:lstStyle/>
          <a:p>
            <a:pPr algn="l">
              <a:lnSpc>
                <a:spcPct val="125000"/>
              </a:lnSpc>
              <a:defRPr sz="1700" b="1" i="0">
                <a:solidFill>
                  <a:srgbClr val="0F172A"/>
                </a:solidFill>
                <a:latin typeface="Segoe UI" panose="020B0502040204020203"/>
              </a:defRPr>
            </a:pPr>
            <a:r>
              <a:t>Counter POS: Instant Per-Row Auditing</a:t>
            </a:r>
          </a:p>
        </p:txBody>
      </p:sp>
      <p:sp>
        <p:nvSpPr>
          <p:cNvPr id="19" name="TextBox 18"/>
          <p:cNvSpPr txBox="1"/>
          <p:nvPr/>
        </p:nvSpPr>
        <p:spPr>
          <a:xfrm>
            <a:off x="6446520" y="2450592"/>
            <a:ext cx="4937760" cy="320040"/>
          </a:xfrm>
          <a:prstGeom prst="rect">
            <a:avLst/>
          </a:prstGeom>
          <a:noFill/>
        </p:spPr>
        <p:txBody>
          <a:bodyPr wrap="square" lIns="0" tIns="0" rIns="0" bIns="0" anchor="t">
            <a:spAutoFit/>
          </a:bodyPr>
          <a:lstStyle/>
          <a:p>
            <a:pPr algn="l">
              <a:lnSpc>
                <a:spcPct val="125000"/>
              </a:lnSpc>
              <a:defRPr sz="1250" b="1" i="0">
                <a:solidFill>
                  <a:srgbClr val="0284C7"/>
                </a:solidFill>
                <a:latin typeface="Segoe UI" panose="020B0502040204020203"/>
              </a:defRPr>
            </a:pPr>
            <a:r>
              <a:t>Solves Problem 2 (Eliminates the 2-hour row-by-row manual calculation)</a:t>
            </a:r>
          </a:p>
        </p:txBody>
      </p:sp>
      <p:sp>
        <p:nvSpPr>
          <p:cNvPr id="20" name="TextBox 19"/>
          <p:cNvSpPr txBox="1"/>
          <p:nvPr/>
        </p:nvSpPr>
        <p:spPr>
          <a:xfrm>
            <a:off x="6446520" y="2971800"/>
            <a:ext cx="365760" cy="365760"/>
          </a:xfrm>
          <a:prstGeom prst="rect">
            <a:avLst/>
          </a:prstGeom>
          <a:noFill/>
        </p:spPr>
        <p:txBody>
          <a:bodyPr wrap="square" lIns="0" tIns="0" rIns="0" bIns="0" anchor="t">
            <a:spAutoFit/>
          </a:bodyPr>
          <a:lstStyle/>
          <a:p>
            <a:pPr algn="l">
              <a:lnSpc>
                <a:spcPct val="125000"/>
              </a:lnSpc>
              <a:defRPr sz="1400" b="1" i="0">
                <a:solidFill>
                  <a:srgbClr val="0284C7"/>
                </a:solidFill>
                <a:latin typeface="Segoe UI" panose="020B0502040204020203"/>
              </a:defRPr>
            </a:pPr>
            <a:r>
              <a:t>1.</a:t>
            </a:r>
          </a:p>
        </p:txBody>
      </p:sp>
      <p:sp>
        <p:nvSpPr>
          <p:cNvPr id="21" name="TextBox 20"/>
          <p:cNvSpPr txBox="1"/>
          <p:nvPr/>
        </p:nvSpPr>
        <p:spPr>
          <a:xfrm>
            <a:off x="6812280" y="2971800"/>
            <a:ext cx="4572000" cy="777240"/>
          </a:xfrm>
          <a:prstGeom prst="rect">
            <a:avLst/>
          </a:prstGeom>
          <a:noFill/>
        </p:spPr>
        <p:txBody>
          <a:bodyPr wrap="square" lIns="0" tIns="0" rIns="0" bIns="0" anchor="t">
            <a:spAutoFit/>
          </a:bodyPr>
          <a:lstStyle/>
          <a:p>
            <a:pPr algn="l">
              <a:lnSpc>
                <a:spcPct val="130000"/>
              </a:lnSpc>
              <a:defRPr sz="1300" b="0" i="0">
                <a:solidFill>
                  <a:srgbClr val="334155"/>
                </a:solidFill>
                <a:latin typeface="Segoe UI" panose="020B0502040204020203"/>
              </a:defRPr>
            </a:pPr>
            <a:r>
              <a:t>1-tap pickup register logs walk-in and pickup customer payments using saved container prices—no mental math or calculator needed.</a:t>
            </a:r>
          </a:p>
        </p:txBody>
      </p:sp>
      <p:sp>
        <p:nvSpPr>
          <p:cNvPr id="22" name="TextBox 21"/>
          <p:cNvSpPr txBox="1"/>
          <p:nvPr/>
        </p:nvSpPr>
        <p:spPr>
          <a:xfrm>
            <a:off x="6446520" y="3931920"/>
            <a:ext cx="365760" cy="365760"/>
          </a:xfrm>
          <a:prstGeom prst="rect">
            <a:avLst/>
          </a:prstGeom>
          <a:noFill/>
        </p:spPr>
        <p:txBody>
          <a:bodyPr wrap="square" lIns="0" tIns="0" rIns="0" bIns="0" anchor="t">
            <a:spAutoFit/>
          </a:bodyPr>
          <a:lstStyle/>
          <a:p>
            <a:pPr algn="l">
              <a:lnSpc>
                <a:spcPct val="125000"/>
              </a:lnSpc>
              <a:defRPr sz="1400" b="1" i="0">
                <a:solidFill>
                  <a:srgbClr val="0284C7"/>
                </a:solidFill>
                <a:latin typeface="Segoe UI" panose="020B0502040204020203"/>
              </a:defRPr>
            </a:pPr>
            <a:r>
              <a:t>2.</a:t>
            </a:r>
          </a:p>
        </p:txBody>
      </p:sp>
      <p:sp>
        <p:nvSpPr>
          <p:cNvPr id="23" name="TextBox 22"/>
          <p:cNvSpPr txBox="1"/>
          <p:nvPr/>
        </p:nvSpPr>
        <p:spPr>
          <a:xfrm>
            <a:off x="6812280" y="3931920"/>
            <a:ext cx="4572000" cy="777240"/>
          </a:xfrm>
          <a:prstGeom prst="rect">
            <a:avLst/>
          </a:prstGeom>
          <a:noFill/>
        </p:spPr>
        <p:txBody>
          <a:bodyPr wrap="square" lIns="0" tIns="0" rIns="0" bIns="0" anchor="t">
            <a:spAutoFit/>
          </a:bodyPr>
          <a:lstStyle/>
          <a:p>
            <a:pPr algn="l">
              <a:lnSpc>
                <a:spcPct val="130000"/>
              </a:lnSpc>
              <a:defRPr sz="1300" b="0" i="0">
                <a:solidFill>
                  <a:srgbClr val="334155"/>
                </a:solidFill>
                <a:latin typeface="Segoe UI" panose="020B0502040204020203"/>
              </a:defRPr>
            </a:pPr>
            <a:r>
              <a:t>Monthly customer matrix (Days 1–31) automatically sums each customer row's daily gallons and peso total in real time.</a:t>
            </a:r>
          </a:p>
        </p:txBody>
      </p:sp>
      <p:sp>
        <p:nvSpPr>
          <p:cNvPr id="24" name="TextBox 23"/>
          <p:cNvSpPr txBox="1"/>
          <p:nvPr/>
        </p:nvSpPr>
        <p:spPr>
          <a:xfrm>
            <a:off x="6446520" y="4892040"/>
            <a:ext cx="365760" cy="365760"/>
          </a:xfrm>
          <a:prstGeom prst="rect">
            <a:avLst/>
          </a:prstGeom>
          <a:noFill/>
        </p:spPr>
        <p:txBody>
          <a:bodyPr wrap="square" lIns="0" tIns="0" rIns="0" bIns="0" anchor="t">
            <a:spAutoFit/>
          </a:bodyPr>
          <a:lstStyle/>
          <a:p>
            <a:pPr algn="l">
              <a:lnSpc>
                <a:spcPct val="125000"/>
              </a:lnSpc>
              <a:defRPr sz="1400" b="1" i="0">
                <a:solidFill>
                  <a:srgbClr val="0284C7"/>
                </a:solidFill>
                <a:latin typeface="Segoe UI" panose="020B0502040204020203"/>
              </a:defRPr>
            </a:pPr>
            <a:r>
              <a:t>3.</a:t>
            </a:r>
          </a:p>
        </p:txBody>
      </p:sp>
      <p:sp>
        <p:nvSpPr>
          <p:cNvPr id="25" name="TextBox 24"/>
          <p:cNvSpPr txBox="1"/>
          <p:nvPr/>
        </p:nvSpPr>
        <p:spPr>
          <a:xfrm>
            <a:off x="6812280" y="4892040"/>
            <a:ext cx="4572000" cy="777240"/>
          </a:xfrm>
          <a:prstGeom prst="rect">
            <a:avLst/>
          </a:prstGeom>
          <a:noFill/>
        </p:spPr>
        <p:txBody>
          <a:bodyPr wrap="square" lIns="0" tIns="0" rIns="0" bIns="0" anchor="t">
            <a:spAutoFit/>
          </a:bodyPr>
          <a:lstStyle/>
          <a:p>
            <a:pPr algn="l">
              <a:lnSpc>
                <a:spcPct val="130000"/>
              </a:lnSpc>
              <a:defRPr sz="1300" b="0" i="0">
                <a:solidFill>
                  <a:srgbClr val="334155"/>
                </a:solidFill>
                <a:latin typeface="Segoe UI" panose="020B0502040204020203"/>
              </a:defRPr>
            </a:pPr>
            <a:r>
              <a:t>End-of-Day audit report reconciles cash, e-payments, unpaid balances, and net profit in one click.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lIns="0" tIns="0" rIns="0" bIns="0" anchor="t">
            <a:spAutoFit/>
          </a:bodyPr>
          <a:lstStyle/>
          <a:p>
            <a:pPr algn="l">
              <a:lnSpc>
                <a:spcPct val="115000"/>
              </a:lnSpc>
              <a:defRPr sz="2500" b="1" i="0">
                <a:solidFill>
                  <a:srgbClr val="0F172A"/>
                </a:solidFill>
                <a:latin typeface="Segoe UI" panose="020B0502040204020203"/>
              </a:defRPr>
            </a:pPr>
            <a:r>
              <a:t>Automated inactivity alerts recover lent gallons before they are lost.</a:t>
            </a:r>
          </a:p>
        </p:txBody>
      </p:sp>
      <p:sp>
        <p:nvSpPr>
          <p:cNvPr id="4" name="TextBox 3"/>
          <p:cNvSpPr txBox="1"/>
          <p:nvPr/>
        </p:nvSpPr>
        <p:spPr>
          <a:xfrm>
            <a:off x="822960" y="1207008"/>
            <a:ext cx="10515600" cy="411480"/>
          </a:xfrm>
          <a:prstGeom prst="rect">
            <a:avLst/>
          </a:prstGeom>
          <a:noFill/>
        </p:spPr>
        <p:txBody>
          <a:bodyPr wrap="square" lIns="0" tIns="0" rIns="0" bIns="0" anchor="t">
            <a:spAutoFit/>
          </a:bodyPr>
          <a:lstStyle/>
          <a:p>
            <a:pPr algn="l">
              <a:lnSpc>
                <a:spcPct val="120000"/>
              </a:lnSpc>
              <a:defRPr sz="1400" b="0" i="0">
                <a:solidFill>
                  <a:srgbClr val="64748B"/>
                </a:solidFill>
                <a:latin typeface="Segoe UI" panose="020B0502040204020203"/>
              </a:defRPr>
            </a:pPr>
            <a:r>
              <a:t>Solving the Bonus Problem: AquaLedger cross-checks lent container balances against 7-to-14-day buying gaps.</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lIns="0" tIns="0" rIns="0" bIns="0" anchor="t">
            <a:spAutoFit/>
          </a:bodyPr>
          <a:lstStyle/>
          <a:p>
            <a:pPr algn="l">
              <a:lnSpc>
                <a:spcPct val="125000"/>
              </a:lnSpc>
              <a:defRPr sz="1000" b="0" i="0">
                <a:solidFill>
                  <a:srgbClr val="64748B"/>
                </a:solidFill>
                <a:latin typeface="Segoe UI" panose="020B0502040204020203"/>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lIns="0" tIns="0" rIns="0" bIns="0" anchor="t">
            <a:spAutoFit/>
          </a:bodyPr>
          <a:lstStyle/>
          <a:p>
            <a:pPr algn="r">
              <a:lnSpc>
                <a:spcPct val="125000"/>
              </a:lnSpc>
              <a:defRPr sz="1000" b="0" i="0">
                <a:solidFill>
                  <a:srgbClr val="64748B"/>
                </a:solidFill>
                <a:latin typeface="Segoe UI" panose="020B0502040204020203"/>
              </a:defRPr>
            </a:pPr>
            <a:r>
              <a:t>7</a:t>
            </a:r>
          </a:p>
        </p:txBody>
      </p:sp>
      <p:sp>
        <p:nvSpPr>
          <p:cNvPr id="9" name="TextBox 8"/>
          <p:cNvSpPr txBox="1"/>
          <p:nvPr/>
        </p:nvSpPr>
        <p:spPr>
          <a:xfrm>
            <a:off x="822960" y="205740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Tracks lent containers per customer row</a:t>
            </a:r>
          </a:p>
        </p:txBody>
      </p:sp>
      <p:sp>
        <p:nvSpPr>
          <p:cNvPr id="10" name="TextBox 9"/>
          <p:cNvSpPr txBox="1"/>
          <p:nvPr/>
        </p:nvSpPr>
        <p:spPr>
          <a:xfrm>
            <a:off x="822960" y="240487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Every customer profile records the exact number of slim and round gallons lent by LG Nature's Water under the exclusivity agreement.</a:t>
            </a:r>
          </a:p>
        </p:txBody>
      </p:sp>
      <p:sp>
        <p:nvSpPr>
          <p:cNvPr id="11" name="TextBox 10"/>
          <p:cNvSpPr txBox="1"/>
          <p:nvPr/>
        </p:nvSpPr>
        <p:spPr>
          <a:xfrm>
            <a:off x="822960" y="338328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Detects 7-to-14-day refill silence automatically</a:t>
            </a:r>
          </a:p>
        </p:txBody>
      </p:sp>
      <p:sp>
        <p:nvSpPr>
          <p:cNvPr id="12" name="TextBox 11"/>
          <p:cNvSpPr txBox="1"/>
          <p:nvPr/>
        </p:nvSpPr>
        <p:spPr>
          <a:xfrm>
            <a:off x="822960" y="373075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As orders populate the 31-day matrix, AquaLedger measures the days elapsed since each customer's last refill and flags accounts idle for 1 to 2 weeks.</a:t>
            </a:r>
          </a:p>
        </p:txBody>
      </p:sp>
      <p:sp>
        <p:nvSpPr>
          <p:cNvPr id="13" name="TextBox 12"/>
          <p:cNvSpPr txBox="1"/>
          <p:nvPr/>
        </p:nvSpPr>
        <p:spPr>
          <a:xfrm>
            <a:off x="822960" y="4709160"/>
            <a:ext cx="4937760" cy="320040"/>
          </a:xfrm>
          <a:prstGeom prst="rect">
            <a:avLst/>
          </a:prstGeom>
          <a:noFill/>
        </p:spPr>
        <p:txBody>
          <a:bodyPr wrap="square" lIns="0" tIns="0" rIns="0" bIns="0" anchor="t">
            <a:spAutoFit/>
          </a:bodyPr>
          <a:lstStyle/>
          <a:p>
            <a:pPr algn="l">
              <a:lnSpc>
                <a:spcPct val="125000"/>
              </a:lnSpc>
              <a:defRPr sz="1500" b="1" i="0">
                <a:solidFill>
                  <a:srgbClr val="0F172A"/>
                </a:solidFill>
                <a:latin typeface="Segoe UI" panose="020B0502040204020203"/>
              </a:defRPr>
            </a:pPr>
            <a:r>
              <a:t>Prompts rider audit or gallon pull-out</a:t>
            </a:r>
          </a:p>
        </p:txBody>
      </p:sp>
      <p:sp>
        <p:nvSpPr>
          <p:cNvPr id="14" name="TextBox 13"/>
          <p:cNvSpPr txBox="1"/>
          <p:nvPr/>
        </p:nvSpPr>
        <p:spPr>
          <a:xfrm>
            <a:off x="822960" y="5056632"/>
            <a:ext cx="4937760" cy="822960"/>
          </a:xfrm>
          <a:prstGeom prst="rect">
            <a:avLst/>
          </a:prstGeom>
          <a:noFill/>
        </p:spPr>
        <p:txBody>
          <a:bodyPr wrap="square" lIns="0" tIns="0" rIns="0" bIns="0" anchor="t">
            <a:spAutoFit/>
          </a:bodyPr>
          <a:lstStyle/>
          <a:p>
            <a:pPr algn="l">
              <a:lnSpc>
                <a:spcPct val="130000"/>
              </a:lnSpc>
              <a:defRPr sz="1250" b="0" i="0">
                <a:solidFill>
                  <a:srgbClr val="334155"/>
                </a:solidFill>
                <a:latin typeface="Segoe UI" panose="020B0502040204020203"/>
              </a:defRPr>
            </a:pPr>
            <a:r>
              <a:t>When an exclusivity alert triggers, the operator assigns the rider on that Barangay route to check on the customer or retrieve LG's lent gallons.</a:t>
            </a:r>
          </a:p>
        </p:txBody>
      </p:sp>
      <p:sp>
        <p:nvSpPr>
          <p:cNvPr id="15" name="TextBox 14"/>
          <p:cNvSpPr txBox="1"/>
          <p:nvPr/>
        </p:nvSpPr>
        <p:spPr>
          <a:xfrm>
            <a:off x="6217920" y="2011680"/>
            <a:ext cx="5120640" cy="320040"/>
          </a:xfrm>
          <a:prstGeom prst="rect">
            <a:avLst/>
          </a:prstGeom>
          <a:noFill/>
        </p:spPr>
        <p:txBody>
          <a:bodyPr wrap="square" lIns="0" tIns="0" rIns="0" bIns="0" anchor="t">
            <a:spAutoFit/>
          </a:bodyPr>
          <a:lstStyle/>
          <a:p>
            <a:pPr algn="l">
              <a:lnSpc>
                <a:spcPct val="125000"/>
              </a:lnSpc>
              <a:defRPr sz="1300" b="1" i="0">
                <a:solidFill>
                  <a:srgbClr val="0F172A"/>
                </a:solidFill>
                <a:latin typeface="Segoe UI" panose="020B0502040204020203"/>
              </a:defRPr>
            </a:pPr>
            <a:r>
              <a:t>Lent Gallon Visibility by Customer Refill Gap (% of Fleet)</a:t>
            </a:r>
          </a:p>
        </p:txBody>
      </p:sp>
      <p:sp>
        <p:nvSpPr>
          <p:cNvPr id="16" name="TextBox 15"/>
          <p:cNvSpPr txBox="1"/>
          <p:nvPr/>
        </p:nvSpPr>
        <p:spPr>
          <a:xfrm>
            <a:off x="6217920" y="2286000"/>
            <a:ext cx="5120640" cy="274320"/>
          </a:xfrm>
          <a:prstGeom prst="rect">
            <a:avLst/>
          </a:prstGeom>
          <a:noFill/>
        </p:spPr>
        <p:txBody>
          <a:bodyPr wrap="square" lIns="0" tIns="0" rIns="0" bIns="0" anchor="t">
            <a:spAutoFit/>
          </a:bodyPr>
          <a:lstStyle/>
          <a:p>
            <a:pPr algn="l">
              <a:lnSpc>
                <a:spcPct val="125000"/>
              </a:lnSpc>
              <a:defRPr sz="1100" b="0" i="0">
                <a:solidFill>
                  <a:srgbClr val="64748B"/>
                </a:solidFill>
                <a:latin typeface="Segoe UI" panose="020B0502040204020203"/>
              </a:defRPr>
            </a:pPr>
            <a:r>
              <a:t>Identifies the 1–2 week idle accounts where competitor refilling occurs</a:t>
            </a:r>
          </a:p>
        </p:txBody>
      </p:sp>
      <p:graphicFrame>
        <p:nvGraphicFramePr>
          <p:cNvPr id="17" name="Chart 16"/>
          <p:cNvGraphicFramePr>
            <a:graphicFrameLocks noGrp="1"/>
          </p:cNvGraphicFramePr>
          <p:nvPr/>
        </p:nvGraphicFramePr>
        <p:xfrm>
          <a:off x="6126480" y="2606040"/>
          <a:ext cx="5212080" cy="329184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548640"/>
          </a:xfrm>
          <a:prstGeom prst="rect">
            <a:avLst/>
          </a:prstGeom>
          <a:noFill/>
        </p:spPr>
        <p:txBody>
          <a:bodyPr wrap="square" lIns="0" tIns="0" rIns="0" bIns="0" anchor="t">
            <a:spAutoFit/>
          </a:bodyPr>
          <a:lstStyle/>
          <a:p>
            <a:pPr algn="l">
              <a:lnSpc>
                <a:spcPct val="115000"/>
              </a:lnSpc>
              <a:defRPr sz="2500" b="1" i="0">
                <a:solidFill>
                  <a:srgbClr val="0F172A"/>
                </a:solidFill>
                <a:latin typeface="Segoe UI" panose="020B0502040204020203"/>
              </a:defRPr>
            </a:pPr>
            <a:r>
              <a:t>AquaLedger protects LG Nature's Water's fuel, operator time, and gallons.</a:t>
            </a:r>
          </a:p>
        </p:txBody>
      </p:sp>
      <p:sp>
        <p:nvSpPr>
          <p:cNvPr id="4" name="TextBox 3"/>
          <p:cNvSpPr txBox="1"/>
          <p:nvPr/>
        </p:nvSpPr>
        <p:spPr>
          <a:xfrm>
            <a:off x="822960" y="1207008"/>
            <a:ext cx="10515600" cy="411480"/>
          </a:xfrm>
          <a:prstGeom prst="rect">
            <a:avLst/>
          </a:prstGeom>
          <a:noFill/>
        </p:spPr>
        <p:txBody>
          <a:bodyPr wrap="square" lIns="0" tIns="0" rIns="0" bIns="0" anchor="t">
            <a:spAutoFit/>
          </a:bodyPr>
          <a:lstStyle/>
          <a:p>
            <a:pPr algn="l">
              <a:lnSpc>
                <a:spcPct val="120000"/>
              </a:lnSpc>
              <a:defRPr sz="1400" b="0" i="0">
                <a:solidFill>
                  <a:srgbClr val="64748B"/>
                </a:solidFill>
                <a:latin typeface="Segoe UI" panose="020B0502040204020203"/>
              </a:defRPr>
            </a:pPr>
            <a:r>
              <a:t>Conclusion: Every operational gap identified in our analysis is closed through one unified platform.</a:t>
            </a:r>
          </a:p>
        </p:txBody>
      </p:sp>
      <p:sp>
        <p:nvSpPr>
          <p:cNvPr id="5" name="Rectangle 4"/>
          <p:cNvSpPr/>
          <p:nvPr/>
        </p:nvSpPr>
        <p:spPr>
          <a:xfrm>
            <a:off x="822960" y="173736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172200"/>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309360"/>
            <a:ext cx="5486400" cy="274320"/>
          </a:xfrm>
          <a:prstGeom prst="rect">
            <a:avLst/>
          </a:prstGeom>
          <a:noFill/>
        </p:spPr>
        <p:txBody>
          <a:bodyPr wrap="square" lIns="0" tIns="0" rIns="0" bIns="0" anchor="t">
            <a:spAutoFit/>
          </a:bodyPr>
          <a:lstStyle/>
          <a:p>
            <a:pPr algn="l">
              <a:lnSpc>
                <a:spcPct val="125000"/>
              </a:lnSpc>
              <a:defRPr sz="1000" b="0" i="0">
                <a:solidFill>
                  <a:srgbClr val="64748B"/>
                </a:solidFill>
                <a:latin typeface="Segoe UI" panose="020B0502040204020203"/>
              </a:defRPr>
            </a:pPr>
            <a:r>
              <a:t>Team MKB (Merge, Knowledge and Build)  |  AquaLedger for LG Nature's Water</a:t>
            </a:r>
          </a:p>
        </p:txBody>
      </p:sp>
      <p:sp>
        <p:nvSpPr>
          <p:cNvPr id="8" name="TextBox 7"/>
          <p:cNvSpPr txBox="1"/>
          <p:nvPr/>
        </p:nvSpPr>
        <p:spPr>
          <a:xfrm>
            <a:off x="8622792" y="6309360"/>
            <a:ext cx="2743200" cy="274320"/>
          </a:xfrm>
          <a:prstGeom prst="rect">
            <a:avLst/>
          </a:prstGeom>
          <a:noFill/>
        </p:spPr>
        <p:txBody>
          <a:bodyPr wrap="square" lIns="0" tIns="0" rIns="0" bIns="0" anchor="t">
            <a:spAutoFit/>
          </a:bodyPr>
          <a:lstStyle/>
          <a:p>
            <a:pPr algn="r">
              <a:lnSpc>
                <a:spcPct val="125000"/>
              </a:lnSpc>
              <a:defRPr sz="1000" b="0" i="0">
                <a:solidFill>
                  <a:srgbClr val="64748B"/>
                </a:solidFill>
                <a:latin typeface="Segoe UI" panose="020B0502040204020203"/>
              </a:defRPr>
            </a:pPr>
            <a:r>
              <a:t>8</a:t>
            </a:r>
          </a:p>
        </p:txBody>
      </p:sp>
      <p:sp>
        <p:nvSpPr>
          <p:cNvPr id="9" name="TextBox 8"/>
          <p:cNvSpPr txBox="1"/>
          <p:nvPr/>
        </p:nvSpPr>
        <p:spPr>
          <a:xfrm>
            <a:off x="822960" y="2148840"/>
            <a:ext cx="3291840" cy="365760"/>
          </a:xfrm>
          <a:prstGeom prst="rect">
            <a:avLst/>
          </a:prstGeom>
          <a:noFill/>
        </p:spPr>
        <p:txBody>
          <a:bodyPr wrap="square" lIns="0" tIns="0" rIns="0" bIns="0" anchor="t">
            <a:spAutoFit/>
          </a:bodyPr>
          <a:lstStyle/>
          <a:p>
            <a:pPr algn="l">
              <a:lnSpc>
                <a:spcPct val="125000"/>
              </a:lnSpc>
              <a:defRPr sz="1700" b="1" i="0">
                <a:solidFill>
                  <a:srgbClr val="0F172A"/>
                </a:solidFill>
                <a:latin typeface="Segoe UI" panose="020B0502040204020203"/>
              </a:defRPr>
            </a:pPr>
            <a:r>
              <a:t>Verified Barangay Routes</a:t>
            </a:r>
          </a:p>
        </p:txBody>
      </p:sp>
      <p:sp>
        <p:nvSpPr>
          <p:cNvPr id="10" name="TextBox 9"/>
          <p:cNvSpPr txBox="1"/>
          <p:nvPr/>
        </p:nvSpPr>
        <p:spPr>
          <a:xfrm>
            <a:off x="822960" y="2578608"/>
            <a:ext cx="3291840" cy="1097280"/>
          </a:xfrm>
          <a:prstGeom prst="rect">
            <a:avLst/>
          </a:prstGeom>
          <a:noFill/>
        </p:spPr>
        <p:txBody>
          <a:bodyPr wrap="square" lIns="0" tIns="0" rIns="0" bIns="0" anchor="t">
            <a:spAutoFit/>
          </a:bodyPr>
          <a:lstStyle/>
          <a:p>
            <a:pPr algn="l">
              <a:lnSpc>
                <a:spcPct val="135000"/>
              </a:lnSpc>
              <a:defRPr sz="1300" b="0" i="0">
                <a:solidFill>
                  <a:srgbClr val="334155"/>
                </a:solidFill>
                <a:latin typeface="Segoe UI" panose="020B0502040204020203"/>
              </a:defRPr>
            </a:pPr>
            <a:r>
              <a:t>Zero unexplained checklist skips, streamlined operator compliance, and no repeat-delivery fuel waste.</a:t>
            </a:r>
          </a:p>
        </p:txBody>
      </p:sp>
      <p:sp>
        <p:nvSpPr>
          <p:cNvPr id="11" name="TextBox 10"/>
          <p:cNvSpPr txBox="1"/>
          <p:nvPr/>
        </p:nvSpPr>
        <p:spPr>
          <a:xfrm>
            <a:off x="4434840" y="2148840"/>
            <a:ext cx="3291840" cy="365760"/>
          </a:xfrm>
          <a:prstGeom prst="rect">
            <a:avLst/>
          </a:prstGeom>
          <a:noFill/>
        </p:spPr>
        <p:txBody>
          <a:bodyPr wrap="square" lIns="0" tIns="0" rIns="0" bIns="0" anchor="t">
            <a:spAutoFit/>
          </a:bodyPr>
          <a:lstStyle/>
          <a:p>
            <a:pPr algn="l">
              <a:lnSpc>
                <a:spcPct val="125000"/>
              </a:lnSpc>
              <a:defRPr sz="1700" b="1" i="0">
                <a:solidFill>
                  <a:srgbClr val="0F172A"/>
                </a:solidFill>
                <a:latin typeface="Segoe UI" panose="020B0502040204020203"/>
              </a:defRPr>
            </a:pPr>
            <a:r>
              <a:t>2 Hours Saved Every Day</a:t>
            </a:r>
          </a:p>
        </p:txBody>
      </p:sp>
      <p:sp>
        <p:nvSpPr>
          <p:cNvPr id="12" name="TextBox 11"/>
          <p:cNvSpPr txBox="1"/>
          <p:nvPr/>
        </p:nvSpPr>
        <p:spPr>
          <a:xfrm>
            <a:off x="4434840" y="2578608"/>
            <a:ext cx="3291840" cy="1097280"/>
          </a:xfrm>
          <a:prstGeom prst="rect">
            <a:avLst/>
          </a:prstGeom>
          <a:noFill/>
        </p:spPr>
        <p:txBody>
          <a:bodyPr wrap="square" lIns="0" tIns="0" rIns="0" bIns="0" anchor="t">
            <a:spAutoFit/>
          </a:bodyPr>
          <a:lstStyle/>
          <a:p>
            <a:pPr algn="l">
              <a:lnSpc>
                <a:spcPct val="135000"/>
              </a:lnSpc>
              <a:defRPr sz="1300" b="0" i="0">
                <a:solidFill>
                  <a:srgbClr val="334155"/>
                </a:solidFill>
                <a:latin typeface="Segoe UI" panose="020B0502040204020203"/>
              </a:defRPr>
            </a:pPr>
            <a:r>
              <a:t>Row-by-row pickup and delivery customer auditing reduced from 120 minutes of manual math to 5 minutes.</a:t>
            </a:r>
          </a:p>
        </p:txBody>
      </p:sp>
      <p:sp>
        <p:nvSpPr>
          <p:cNvPr id="13" name="TextBox 12"/>
          <p:cNvSpPr txBox="1"/>
          <p:nvPr/>
        </p:nvSpPr>
        <p:spPr>
          <a:xfrm>
            <a:off x="8046720" y="2148840"/>
            <a:ext cx="3291840" cy="365760"/>
          </a:xfrm>
          <a:prstGeom prst="rect">
            <a:avLst/>
          </a:prstGeom>
          <a:noFill/>
        </p:spPr>
        <p:txBody>
          <a:bodyPr wrap="square" lIns="0" tIns="0" rIns="0" bIns="0" anchor="t">
            <a:spAutoFit/>
          </a:bodyPr>
          <a:lstStyle/>
          <a:p>
            <a:pPr algn="l">
              <a:lnSpc>
                <a:spcPct val="125000"/>
              </a:lnSpc>
              <a:defRPr sz="1700" b="1" i="0">
                <a:solidFill>
                  <a:srgbClr val="0F172A"/>
                </a:solidFill>
                <a:latin typeface="Segoe UI" panose="020B0502040204020203"/>
              </a:defRPr>
            </a:pPr>
            <a:r>
              <a:t>Protected Exclusive Gallons</a:t>
            </a:r>
          </a:p>
        </p:txBody>
      </p:sp>
      <p:sp>
        <p:nvSpPr>
          <p:cNvPr id="14" name="TextBox 13"/>
          <p:cNvSpPr txBox="1"/>
          <p:nvPr/>
        </p:nvSpPr>
        <p:spPr>
          <a:xfrm>
            <a:off x="8046720" y="2578608"/>
            <a:ext cx="3291840" cy="1097280"/>
          </a:xfrm>
          <a:prstGeom prst="rect">
            <a:avLst/>
          </a:prstGeom>
          <a:noFill/>
        </p:spPr>
        <p:txBody>
          <a:bodyPr wrap="square" lIns="0" tIns="0" rIns="0" bIns="0" anchor="t">
            <a:spAutoFit/>
          </a:bodyPr>
          <a:lstStyle/>
          <a:p>
            <a:pPr algn="l">
              <a:lnSpc>
                <a:spcPct val="135000"/>
              </a:lnSpc>
              <a:defRPr sz="1300" b="0" i="0">
                <a:solidFill>
                  <a:srgbClr val="334155"/>
                </a:solidFill>
                <a:latin typeface="Segoe UI" panose="020B0502040204020203"/>
              </a:defRPr>
            </a:pPr>
            <a:r>
              <a:t>Automatic detection of 1-to-2-week buying gaps stops customers from refilling lent LG containers at competitors.</a:t>
            </a:r>
          </a:p>
        </p:txBody>
      </p:sp>
      <p:sp>
        <p:nvSpPr>
          <p:cNvPr id="15" name="Rectangle 14"/>
          <p:cNvSpPr/>
          <p:nvPr/>
        </p:nvSpPr>
        <p:spPr>
          <a:xfrm>
            <a:off x="822960" y="3977639"/>
            <a:ext cx="10543032"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251960"/>
            <a:ext cx="10543032" cy="16002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498848"/>
            <a:ext cx="9811512" cy="777240"/>
          </a:xfrm>
          <a:prstGeom prst="rect">
            <a:avLst/>
          </a:prstGeom>
          <a:noFill/>
        </p:spPr>
        <p:txBody>
          <a:bodyPr wrap="square" lIns="0" tIns="0" rIns="0" bIns="0" anchor="t">
            <a:spAutoFit/>
          </a:bodyPr>
          <a:lstStyle/>
          <a:p>
            <a:pPr algn="ctr">
              <a:lnSpc>
                <a:spcPct val="125000"/>
              </a:lnSpc>
              <a:defRPr sz="2200" b="1" i="0">
                <a:solidFill>
                  <a:srgbClr val="0F172A"/>
                </a:solidFill>
                <a:latin typeface="Segoe UI" panose="020B0502040204020203"/>
              </a:defRPr>
            </a:pPr>
            <a:r>
              <a:t>“We, the Team MKB, will Merge and Evaluate by Our Knowledge and Build Solution.”</a:t>
            </a:r>
          </a:p>
        </p:txBody>
      </p:sp>
      <p:sp>
        <p:nvSpPr>
          <p:cNvPr id="18" name="TextBox 17"/>
          <p:cNvSpPr txBox="1"/>
          <p:nvPr/>
        </p:nvSpPr>
        <p:spPr>
          <a:xfrm>
            <a:off x="1188720" y="5321808"/>
            <a:ext cx="9811512" cy="320040"/>
          </a:xfrm>
          <a:prstGeom prst="rect">
            <a:avLst/>
          </a:prstGeom>
          <a:noFill/>
        </p:spPr>
        <p:txBody>
          <a:bodyPr wrap="square" lIns="0" tIns="0" rIns="0" bIns="0" anchor="t">
            <a:spAutoFit/>
          </a:bodyPr>
          <a:lstStyle/>
          <a:p>
            <a:pPr algn="ctr">
              <a:lnSpc>
                <a:spcPct val="125000"/>
              </a:lnSpc>
              <a:defRPr sz="1300" b="1" i="0">
                <a:solidFill>
                  <a:srgbClr val="0284C7"/>
                </a:solidFill>
                <a:latin typeface="Segoe UI" panose="020B0502040204020203"/>
              </a:defRPr>
            </a:pPr>
            <a:r>
              <a:t>Team MKB — Merge, Knowledge and Build   |   AquaLedger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7385</Words>
  <Application>WPS Presentation</Application>
  <PresentationFormat>On-screen Show (4:3)</PresentationFormat>
  <Paragraphs>203</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SimSun</vt:lpstr>
      <vt:lpstr>Wingdings</vt:lpstr>
      <vt:lpstr>Arial</vt:lpstr>
      <vt:lpstr>Segoe UI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ThinkPad</cp:lastModifiedBy>
  <cp:revision>2</cp:revision>
  <dcterms:created xsi:type="dcterms:W3CDTF">2013-01-27T09:14:00Z</dcterms:created>
  <dcterms:modified xsi:type="dcterms:W3CDTF">2026-10-28T07:02:45Z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FAAAEBBA06844DDA9A3909DF262C7B0E_12</vt:lpwstr>
  </property>
</Properties>
</file>